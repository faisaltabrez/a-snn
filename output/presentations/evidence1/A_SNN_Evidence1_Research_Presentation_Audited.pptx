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2c8c1e0a6054903" /><Relationship Type="http://schemas.openxmlformats.org/officeDocument/2006/relationships/extended-properties" Target="/docProps/app.xml" Id="Ra29479a9053e46d6" /><Relationship Type="http://schemas.openxmlformats.org/officeDocument/2006/relationships/officeDocument" Target="/ppt/presentation.xml" Id="R1332691a9ae145e5" /></Relationships>
</file>

<file path=ppt/presentation.xml><?xml version="1.0" encoding="utf-8"?>
<p:presentation xmlns:p="http://schemas.openxmlformats.org/presentationml/2006/main">
  <p:sldMasterIdLst>
    <p:sldMasterId xmlns:r="http://schemas.openxmlformats.org/officeDocument/2006/relationships" id="2147483648" r:id="R1795572838dd49d9"/>
  </p:sldMasterIdLst>
  <p:notesMasterIdLst>
    <p:notesMasterId xmlns:r="http://schemas.openxmlformats.org/officeDocument/2006/relationships" r:id="Rbc03b6435e224d40"/>
  </p:notesMasterIdLst>
  <p:sldIdLst>
    <p:sldId xmlns:r="http://schemas.openxmlformats.org/officeDocument/2006/relationships" id="256" r:id="R465ea37f838f42e4"/>
    <p:sldId xmlns:r="http://schemas.openxmlformats.org/officeDocument/2006/relationships" id="257" r:id="Re95cf7c944a44721"/>
    <p:sldId xmlns:r="http://schemas.openxmlformats.org/officeDocument/2006/relationships" id="258" r:id="Ra3bfb91ef3fb429c"/>
    <p:sldId xmlns:r="http://schemas.openxmlformats.org/officeDocument/2006/relationships" id="259" r:id="R823a7a1a96754444"/>
    <p:sldId xmlns:r="http://schemas.openxmlformats.org/officeDocument/2006/relationships" id="260" r:id="R5101e7499f634042"/>
    <p:sldId xmlns:r="http://schemas.openxmlformats.org/officeDocument/2006/relationships" id="261" r:id="R7f9c8df7bb2c46a1"/>
    <p:sldId xmlns:r="http://schemas.openxmlformats.org/officeDocument/2006/relationships" id="262" r:id="R0228aafadbd94e9a"/>
    <p:sldId xmlns:r="http://schemas.openxmlformats.org/officeDocument/2006/relationships" id="263" r:id="R1c0ae976f5b24331"/>
    <p:sldId xmlns:r="http://schemas.openxmlformats.org/officeDocument/2006/relationships" id="264" r:id="R2178b47990cf46bc"/>
    <p:sldId xmlns:r="http://schemas.openxmlformats.org/officeDocument/2006/relationships" id="265" r:id="Rc28de8c010a34b08"/>
    <p:sldId xmlns:r="http://schemas.openxmlformats.org/officeDocument/2006/relationships" id="266" r:id="R2d55302e428845ae"/>
    <p:sldId xmlns:r="http://schemas.openxmlformats.org/officeDocument/2006/relationships" id="267" r:id="Rd6a35a3a2eea4f49"/>
    <p:sldId xmlns:r="http://schemas.openxmlformats.org/officeDocument/2006/relationships" id="268" r:id="R6a241174a2d44622"/>
    <p:sldId xmlns:r="http://schemas.openxmlformats.org/officeDocument/2006/relationships" id="269" r:id="R8583557c2bc44ce3"/>
    <p:sldId xmlns:r="http://schemas.openxmlformats.org/officeDocument/2006/relationships" id="270" r:id="R2aee8c7a91d64b6e"/>
    <p:sldId xmlns:r="http://schemas.openxmlformats.org/officeDocument/2006/relationships" id="271" r:id="Re3fc1aa4fed04afc"/>
    <p:sldId xmlns:r="http://schemas.openxmlformats.org/officeDocument/2006/relationships" id="272" r:id="R50f4cc64722642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a5c05ddc9a4245" /><Relationship Type="http://schemas.openxmlformats.org/officeDocument/2006/relationships/slideMaster" Target="/ppt/slideMasters/slideMaster1.xml" Id="R1795572838dd49d9" /><Relationship Type="http://schemas.openxmlformats.org/officeDocument/2006/relationships/notesMaster" Target="/ppt/notesMasters/notesMaster1.xml" Id="Rbc03b6435e224d40" /><Relationship Type="http://schemas.openxmlformats.org/officeDocument/2006/relationships/presProps" Target="/ppt/presProps.xml" Id="Refa07798274c4545" /><Relationship Type="http://schemas.openxmlformats.org/officeDocument/2006/relationships/tableStyles" Target="/ppt/tableStyles.xml" Id="Rfabc88386b434166" /><Relationship Type="http://schemas.openxmlformats.org/officeDocument/2006/relationships/slide" Target="/ppt/slides/slide1.xml" Id="R465ea37f838f42e4" /><Relationship Type="http://schemas.openxmlformats.org/officeDocument/2006/relationships/slide" Target="/ppt/slides/slide2.xml" Id="Re95cf7c944a44721" /><Relationship Type="http://schemas.openxmlformats.org/officeDocument/2006/relationships/slide" Target="/ppt/slides/slide3.xml" Id="Ra3bfb91ef3fb429c" /><Relationship Type="http://schemas.openxmlformats.org/officeDocument/2006/relationships/slide" Target="/ppt/slides/slide4.xml" Id="R823a7a1a96754444" /><Relationship Type="http://schemas.openxmlformats.org/officeDocument/2006/relationships/slide" Target="/ppt/slides/slide5.xml" Id="R5101e7499f634042" /><Relationship Type="http://schemas.openxmlformats.org/officeDocument/2006/relationships/slide" Target="/ppt/slides/slide6.xml" Id="R7f9c8df7bb2c46a1" /><Relationship Type="http://schemas.openxmlformats.org/officeDocument/2006/relationships/slide" Target="/ppt/slides/slide7.xml" Id="R0228aafadbd94e9a" /><Relationship Type="http://schemas.openxmlformats.org/officeDocument/2006/relationships/slide" Target="/ppt/slides/slide8.xml" Id="R1c0ae976f5b24331" /><Relationship Type="http://schemas.openxmlformats.org/officeDocument/2006/relationships/slide" Target="/ppt/slides/slide9.xml" Id="R2178b47990cf46bc" /><Relationship Type="http://schemas.openxmlformats.org/officeDocument/2006/relationships/slide" Target="/ppt/slides/slide10.xml" Id="Rc28de8c010a34b08" /><Relationship Type="http://schemas.openxmlformats.org/officeDocument/2006/relationships/slide" Target="/ppt/slides/slide11.xml" Id="R2d55302e428845ae" /><Relationship Type="http://schemas.openxmlformats.org/officeDocument/2006/relationships/slide" Target="/ppt/slides/slide12.xml" Id="Rd6a35a3a2eea4f49" /><Relationship Type="http://schemas.openxmlformats.org/officeDocument/2006/relationships/slide" Target="/ppt/slides/slide13.xml" Id="R6a241174a2d44622" /><Relationship Type="http://schemas.openxmlformats.org/officeDocument/2006/relationships/slide" Target="/ppt/slides/slide14.xml" Id="R8583557c2bc44ce3" /><Relationship Type="http://schemas.openxmlformats.org/officeDocument/2006/relationships/slide" Target="/ppt/slides/slide15.xml" Id="R2aee8c7a91d64b6e" /><Relationship Type="http://schemas.openxmlformats.org/officeDocument/2006/relationships/slide" Target="/ppt/slides/slide16.xml" Id="Re3fc1aa4fed04afc" /><Relationship Type="http://schemas.openxmlformats.org/officeDocument/2006/relationships/slide" Target="/ppt/slides/slide17.xml" Id="R50f4cc64722642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74b0bd030248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f23c8e79a1437d" /><Relationship Type="http://schemas.openxmlformats.org/officeDocument/2006/relationships/notesMaster" Target="/ppt/notesMasters/notesMaster1.xml" Id="R74e0649bf61e43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f0ef503c25455f" /><Relationship Type="http://schemas.openxmlformats.org/officeDocument/2006/relationships/notesMaster" Target="/ppt/notesMasters/notesMaster1.xml" Id="R7f607511051045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1c7a2bcb8d49c5" /><Relationship Type="http://schemas.openxmlformats.org/officeDocument/2006/relationships/notesMaster" Target="/ppt/notesMasters/notesMaster1.xml" Id="R55a964cfe1d547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35368b45fb4251" /><Relationship Type="http://schemas.openxmlformats.org/officeDocument/2006/relationships/notesMaster" Target="/ppt/notesMasters/notesMaster1.xml" Id="Rc407f71c4e674b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a3d74917424356" /><Relationship Type="http://schemas.openxmlformats.org/officeDocument/2006/relationships/notesMaster" Target="/ppt/notesMasters/notesMaster1.xml" Id="R81a8493c779d4d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d8830f9eb34a68" /><Relationship Type="http://schemas.openxmlformats.org/officeDocument/2006/relationships/notesMaster" Target="/ppt/notesMasters/notesMaster1.xml" Id="Rc2b9e85f3ca548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ab76c035c143a4" /><Relationship Type="http://schemas.openxmlformats.org/officeDocument/2006/relationships/notesMaster" Target="/ppt/notesMasters/notesMaster1.xml" Id="R2d648e01633947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c4e5b8c16b4a34" /><Relationship Type="http://schemas.openxmlformats.org/officeDocument/2006/relationships/notesMaster" Target="/ppt/notesMasters/notesMaster1.xml" Id="R8171e5409f224a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df5df0a0eb649b8" /><Relationship Type="http://schemas.openxmlformats.org/officeDocument/2006/relationships/notesMaster" Target="/ppt/notesMasters/notesMaster1.xml" Id="R20521924e56c416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43eb6e44a14b2a" /><Relationship Type="http://schemas.openxmlformats.org/officeDocument/2006/relationships/notesMaster" Target="/ppt/notesMasters/notesMaster1.xml" Id="Rc10455e8923d461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624e3bab08d410c" /><Relationship Type="http://schemas.openxmlformats.org/officeDocument/2006/relationships/notesMaster" Target="/ppt/notesMasters/notesMaster1.xml" Id="R1869ff66bc1248c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99a363901614a8f" /><Relationship Type="http://schemas.openxmlformats.org/officeDocument/2006/relationships/notesMaster" Target="/ppt/notesMasters/notesMaster1.xml" Id="R519d1f8cfe79470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a3108af850e4d20" /><Relationship Type="http://schemas.openxmlformats.org/officeDocument/2006/relationships/notesMaster" Target="/ppt/notesMasters/notesMaster1.xml" Id="R0bb5d58919504b4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f3dea9121c24b67" /><Relationship Type="http://schemas.openxmlformats.org/officeDocument/2006/relationships/notesMaster" Target="/ppt/notesMasters/notesMaster1.xml" Id="Rcd923841cf7a455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ea57111272341d2" /><Relationship Type="http://schemas.openxmlformats.org/officeDocument/2006/relationships/notesMaster" Target="/ppt/notesMasters/notesMaster1.xml" Id="R703e261b53914c9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3774c1e8a6f4a62" /><Relationship Type="http://schemas.openxmlformats.org/officeDocument/2006/relationships/notesMaster" Target="/ppt/notesMasters/notesMaster1.xml" Id="Rf7a634a1c7e9468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c1bb77e68834a6b" /><Relationship Type="http://schemas.openxmlformats.org/officeDocument/2006/relationships/notesMaster" Target="/ppt/notesMasters/notesMaster1.xml" Id="R16c13692992c4d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8–10 minutes for slides 1–13. Slides 14–17 are references and backup material. Open with: Our project asks whether spiking state actually helps an audio classifier, and whether that usefulness translates into competitive performance. We separate those questions in a paired audit. This presentation is a research draft, not a peer-reviewed publication. Do not imply institutional endorsement.</a:t>
            </a:r>
          </a:p>
          <a:p xmlns:a="http://schemas.openxmlformats.org/drawingml/2006/main">
            <a:r>
              <a:t/>
            </a:r>
          </a:p>
          <a:p xmlns:a="http://schemas.openxmlformats.org/drawingml/2006/main">
            <a:r>
              <a:t>Local sources: gen5/docs/EVIDENCE1_AUDIO_PREREGISTRATION.md, gen5/ammc_gen5/evidence1_audio.py, output/pdf/evidence1_paper_draft/verified_metrics.json and evidence_audit.json. Retained bundles: research_restart_results.zip and research_restart_replication_01.zip.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40 seconds. Explain that a hybrid model can perform well using its ordinary direct features. The audit separately tests state dependence, comparison with dense models, and compiler fidelity. Novelty is the bounded audit and its evidence, not a new LIF neuron or a first residual SNN.</a:t>
            </a:r>
          </a:p>
          <a:p xmlns:a="http://schemas.openxmlformats.org/drawingml/2006/main">
            <a:r>
              <a:t/>
            </a:r>
          </a:p>
          <a:p xmlns:a="http://schemas.openxmlformats.org/drawingml/2006/main">
            <a:r>
              <a:t>Local sources: gen5/docs/EVIDENCE1_AUDIO_PREREGISTRATION.md, gen5/ammc_gen5/evidence1_audio.py, output/pdf/evidence1_paper_draft/verified_metrics.json and evidence_audit.json. Retained bundles: research_restart_results.zip and research_restart_replication_01.zip.</a:t>
            </a:r>
          </a:p>
          <a:p xmlns:a="http://schemas.openxmlformats.org/drawingml/2006/main">
            <a:r>
              <a:t/>
            </a:r>
          </a:p>
          <a:p xmlns:a="http://schemas.openxmlformats.org/drawingml/2006/main">
            <a:r>
              <a:t>Audit qualification: earlier SHD/SSC official test outcomes informed architecture exploration. Current confidence intervals summarize training-seed variation on known benchmarks, not an untouched external holdout. Global shuffles mix classes as well as samples. Joint removal of spike traces and final membrane does not isolate spike-specific coding. Numerical values and all registered gates are unchanged. Source: gen5/docs/PROJECT_AUDIT_2026_10_14.md and gen5/docs/EVIDENCE1_HARDENING_2026_10_14.md.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55 seconds. Binary events feed a temporal Conv1D. One path applies ReLU and pooling. The second path uses learned leak and threshold, soft reset, spike traces and the analog final membrane. Both paths enter a shared linear readout. Pyramid levels 1, 2, 4, 8 give 15 windows per trace and 31C total readout features. Symmetric padding and whole-utterance pooling make this an offline hybrid model, not streaming-causal or an all-spike system.</a:t>
            </a:r>
          </a:p>
          <a:p xmlns:a="http://schemas.openxmlformats.org/drawingml/2006/main">
            <a:r>
              <a:t>Neftci, Mostafa and Zenke, Surrogate Gradient Learning in Spiking Neural Networks (2019). https://doi.org/10.1109/MSP.2019.2931595</a:t>
            </a:r>
          </a:p>
          <a:p xmlns:a="http://schemas.openxmlformats.org/drawingml/2006/main">
            <a:r>
              <a:t/>
            </a:r>
          </a:p>
          <a:p xmlns:a="http://schemas.openxmlformats.org/drawingml/2006/main">
            <a:r>
              <a:t>Local sources: gen5/docs/EVIDENCE1_AUDIO_PREREGISTRATION.md, gen5/ammc_gen5/evidence1_audio.py, output/pdf/evidence1_paper_draft/verified_metrics.json and evidence_audit.json. Retained bundles: research_restart_results.zip and research_restart_replication_01.zip.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50 seconds. Use all official samples. SHD has a stratified training holdout with split seed 2026, and SSC uses its official validation set. Both use binary occupancy across 64 bins and 700 channels, so duplicate events within the same bin/channel collapse. Train all arms for 15 epochs. Select the earliest checkpoint with maximum validation accuracy, never the final test. Common parameter and optimizer budgets do not make optimization difficulty or FLOPs equal.</a:t>
            </a:r>
          </a:p>
          <a:p xmlns:a="http://schemas.openxmlformats.org/drawingml/2006/main">
            <a:r>
              <a:t>Cramer et al., The Heidelberg spiking datasets for systematic evaluation of spiking neural networks. https://arxiv.org/abs/1910.07407 and https://zenkelab.org/resources/spiking-heidelberg-datasets-shd/</a:t>
            </a:r>
          </a:p>
          <a:p xmlns:a="http://schemas.openxmlformats.org/drawingml/2006/main">
            <a:r>
              <a:t>Loshchilov and Hutter, Decoupled Weight Decay Regularization (ICLR 2019). https://arxiv.org/abs/1711.05101</a:t>
            </a:r>
          </a:p>
          <a:p xmlns:a="http://schemas.openxmlformats.org/drawingml/2006/main">
            <a:r>
              <a:t/>
            </a:r>
          </a:p>
          <a:p xmlns:a="http://schemas.openxmlformats.org/drawingml/2006/main">
            <a:r>
              <a:t>Local sources: gen5/docs/EVIDENCE1_AUDIO_PREREGISTRATION.md, gen5/ammc_gen5/evidence1_audio.py, output/pdf/evidence1_paper_draft/verified_metrics.json and evidence_audit.json. Retained bundles: research_restart_results.zip and research_restart_replication_01.zip.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Explain each intervention on the selected trained residual model. Keep the direct features and readout weights fixed. Zeroing deletes both spike-state trace and final membrane. Shuffling globally pairs every sample with a different sample’s state, across minibatches when needed. Three derangements average within each training seed. These probes measure model dependence, not the capability of a retrained branch-deletion model.</a:t>
            </a:r>
          </a:p>
          <a:p xmlns:a="http://schemas.openxmlformats.org/drawingml/2006/main">
            <a:r>
              <a:t/>
            </a:r>
          </a:p>
          <a:p xmlns:a="http://schemas.openxmlformats.org/drawingml/2006/main">
            <a:r>
              <a:t>Local sources: gen5/docs/EVIDENCE1_AUDIO_PREREGISTRATION.md, gen5/ammc_gen5/evidence1_audio.py, output/pdf/evidence1_paper_draft/verified_metrics.json and evidence_audit.json. Retained bundles: research_restart_results.zip and research_restart_replication_01.zip.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55 seconds. Read the paired drops as absolute percentage points, not relative percentages. SHD loses 9.43 points with zero state and 4.04 with exchange. SSC loses 13.64 and 8.87. Every paired 95% interval has a positive lower bound, so the causal gate passes on both datasets. Interventions also disrupt learned feature compatibility, so the finding does not isolate timing-specific coding. Native bars show means. Exact paired confidence intervals appear on backup slide 16.</a:t>
            </a:r>
          </a:p>
          <a:p xmlns:a="http://schemas.openxmlformats.org/drawingml/2006/main">
            <a:r>
              <a:t/>
            </a:r>
          </a:p>
          <a:p xmlns:a="http://schemas.openxmlformats.org/drawingml/2006/main">
            <a:r>
              <a:t>Local sources: gen5/docs/EVIDENCE1_AUDIO_PREREGISTRATION.md, gen5/ammc_gen5/evidence1_audio.py, output/pdf/evidence1_paper_draft/verified_metrics.json and evidence_audit.json. Retained bundles: research_restart_results.zip and research_restart_replication_01.zip.</a:t>
            </a:r>
          </a:p>
          <a:p xmlns:a="http://schemas.openxmlformats.org/drawingml/2006/main">
            <a:r>
              <a:t/>
            </a:r>
          </a:p>
          <a:p xmlns:a="http://schemas.openxmlformats.org/drawingml/2006/main">
            <a:r>
              <a:t>Audit qualification: earlier SHD/SSC official test outcomes informed architecture exploration. Current confidence intervals summarize training-seed variation on known benchmarks, not an untouched external holdout. Global shuffles mix classes as well as samples. Joint removal of spike traces and final membrane does not isolate spike-specific coding. Numerical values and all registered gates are unchanged. Source: gen5/docs/PROJECT_AUDIT_2026_10_14.md and gen5/docs/EVIDENCE1_HARDENING_2026_10_14.md.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50 seconds. Native chart shows primary-run means across ten seeds. Residual LIF reaches 84.06% SHD and 56.48% SSC. SSC TCN reaches 58.44% and GRU 57.44%. Do not infer statistical decisions from the bars or overlapping marginal intervals. The next slide uses paired differences. SHD GRU is weak for this retained recipe, with no established explanation or general verdict on GRU performance.</a:t>
            </a:r>
          </a:p>
          <a:p xmlns:a="http://schemas.openxmlformats.org/drawingml/2006/main">
            <a:r>
              <a:t>Bai, Kolter and Koltun (2018), An Empirical Evaluation of Generic Convolutional and Recurrent Networks for Sequence Modeling. https://arxiv.org/abs/1803.01271</a:t>
            </a:r>
          </a:p>
          <a:p xmlns:a="http://schemas.openxmlformats.org/drawingml/2006/main">
            <a:r>
              <a:t>Cho et al. (2014), Learning Phrase Representations using RNN Encoder-Decoder for Statistical Machine Translation. https://aclanthology.org/D14-1179/</a:t>
            </a:r>
          </a:p>
          <a:p xmlns:a="http://schemas.openxmlformats.org/drawingml/2006/main">
            <a:r>
              <a:t/>
            </a:r>
          </a:p>
          <a:p xmlns:a="http://schemas.openxmlformats.org/drawingml/2006/main">
            <a:r>
              <a:t>Local sources: gen5/docs/EVIDENCE1_AUDIO_PREREGISTRATION.md, gen5/ammc_gen5/evidence1_audio.py, output/pdf/evidence1_paper_draft/verified_metrics.json and evidence_audit.json. Retained bundles: research_restart_results.zip and research_restart_replication_01.zip.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55 seconds. The preregistered rule requires the paired interval lower bound to exceed minus one absolute percentage point against every dense control on both datasets. In SSC, TCN is ahead and the entire difference interval falls below minus one. GRU also fails the lower-bound rule. SHD versus Conv1D fails the rule despite a positive mean, which does not prove inferiority. No test-derived change to the margin is allowed.</a:t>
            </a:r>
          </a:p>
          <a:p xmlns:a="http://schemas.openxmlformats.org/drawingml/2006/main">
            <a:r>
              <a:t/>
            </a:r>
          </a:p>
          <a:p xmlns:a="http://schemas.openxmlformats.org/drawingml/2006/main">
            <a:r>
              <a:t>Local sources: gen5/docs/EVIDENCE1_AUDIO_PREREGISTRATION.md, gen5/ammc_gen5/evidence1_audio.py, output/pdf/evidence1_paper_draft/verified_metrics.json and evidence_audit.json. Retained bundles: research_restart_results.zip and research_restart_replication_01.zip.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NVIDIA L4, batch 256. The plotted speedups compare compiled and eager inference of the same residual checkpoint after warmup, not residual versus a dense baseline. The benchmark excludes data loading and transfers. Validation covers all samples and tail shapes. Both runs preserve every class prediction but repeat the same two logit-tolerance failures. Thus the systems gate fails. All GRU compilation attempts are unsupported, though training and accuracy evaluation complete. Root cause of the residual fidelity failures remains unestablished.</a:t>
            </a:r>
          </a:p>
          <a:p xmlns:a="http://schemas.openxmlformats.org/drawingml/2006/main">
            <a:r>
              <a:t/>
            </a:r>
          </a:p>
          <a:p xmlns:a="http://schemas.openxmlformats.org/drawingml/2006/main">
            <a:r>
              <a:t>Local sources: gen5/docs/EVIDENCE1_AUDIO_PREREGISTRATION.md, gen5/ammc_gen5/evidence1_audio.py, output/pdf/evidence1_paper_draft/verified_metrics.json and evidence_audit.json. Retained bundles: research_restart_results.zip and research_restart_replication_01.zip.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35 seconds. Both bundles contain 80 completed model fits, four arms by two datasets by ten seeds. The second execution uses the same identifiers and split, so do not combine runs into twenty independent seeds. Causal deltas are identical and TCN accuracy differs slightly. Both report causal_audit_only. Human-reviewed lock and certified independent clean-clone repetition remain pending.</a:t>
            </a:r>
          </a:p>
          <a:p xmlns:a="http://schemas.openxmlformats.org/drawingml/2006/main">
            <a:r>
              <a:t/>
            </a:r>
          </a:p>
          <a:p xmlns:a="http://schemas.openxmlformats.org/drawingml/2006/main">
            <a:r>
              <a:t>Local sources: gen5/docs/EVIDENCE1_AUDIO_PREREGISTRATION.md, gen5/ammc_gen5/evidence1_audio.py, output/pdf/evidence1_paper_draft/verified_metrics.json and evidence_audit.json. Retained bundles: research_restart_results.zip and research_restart_replication_01.zip.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The full classifier uses sample-specific state. State shuffling can also disrupt branch coadaptation or move the model off its training distribution. The experiment does not isolate spike timing from rate or prove a biological mechanism. Dense baselines share a recipe without independent optimization. Parameter matching does not establish equal work. The system performs offline classification, with no measured energy, hardware-sparse, whole-fly or online-learning result.</a:t>
            </a:r>
          </a:p>
          <a:p xmlns:a="http://schemas.openxmlformats.org/drawingml/2006/main">
            <a:r>
              <a:t/>
            </a:r>
          </a:p>
          <a:p xmlns:a="http://schemas.openxmlformats.org/drawingml/2006/main">
            <a:r>
              <a:t>Local sources: gen5/docs/EVIDENCE1_AUDIO_PREREGISTRATION.md, gen5/ammc_gen5/evidence1_audio.py, output/pdf/evidence1_paper_draft/verified_metrics.json and evidence_audit.json. Retained bundles: research_restart_results.zip and research_restart_replication_01.zip.</a:t>
            </a:r>
          </a:p>
          <a:p xmlns:a="http://schemas.openxmlformats.org/drawingml/2006/main">
            <a:r>
              <a:t/>
            </a:r>
          </a:p>
          <a:p xmlns:a="http://schemas.openxmlformats.org/drawingml/2006/main">
            <a:r>
              <a:t>Audit qualification: earlier SHD/SSC official test outcomes informed architecture exploration. Current confidence intervals summarize training-seed variation on known benchmarks, not an untouched external holdout. Global shuffles mix classes as well as samples. Joint removal of spike traces and final membrane does not isolate spike-specific coding. Numerical values and all registered gates are unchanged. Source: gen5/docs/PROJECT_AUDIT_2026_10_14.md and gen5/docs/EVIDENCE1_HARDENING_2026_10_14.md.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40 seconds. First complete the evidence audit and reviewed decision record while keeping Evidence-1 active. Then diagnose compiler discrepancies using frozen checkpoints and validation only, without test-based tuning or a large retraining budget. After the lock, preregister timing-versus-rate controls and matched readout or training comparisons. Context routing and fly-connectome priors are deferred hypotheses, not results in this presentation.</a:t>
            </a:r>
          </a:p>
          <a:p xmlns:a="http://schemas.openxmlformats.org/drawingml/2006/main">
            <a:r>
              <a:t/>
            </a:r>
          </a:p>
          <a:p xmlns:a="http://schemas.openxmlformats.org/drawingml/2006/main">
            <a:r>
              <a:t>Local sources: gen5/docs/EVIDENCE1_AUDIO_PREREGISTRATION.md, gen5/ammc_gen5/evidence1_audio.py, output/pdf/evidence1_paper_draft/verified_metrics.json and evidence_audit.json. Retained bundles: research_restart_results.zip and research_restart_replication_01.zip.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30 seconds. Close with: Removing the state or attaching another sample’s state reduced accuracy. That establishes a useful internal state-dependence result. The model does not satisfy every accuracy comparison and compiled logits fail at two checkpoints. Our contribution is a reproducible, bounded audit that keeps these outcomes separate. Invite questions.</a:t>
            </a:r>
          </a:p>
          <a:p xmlns:a="http://schemas.openxmlformats.org/drawingml/2006/main">
            <a:r>
              <a:t/>
            </a:r>
          </a:p>
          <a:p xmlns:a="http://schemas.openxmlformats.org/drawingml/2006/main">
            <a:r>
              <a:t>Local sources: gen5/docs/EVIDENCE1_AUDIO_PREREGISTRATION.md, gen5/ammc_gen5/evidence1_audio.py, output/pdf/evidence1_paper_draft/verified_metrics.json and evidence_audit.json. Retained bundles: research_restart_results.zip and research_restart_replication_01.zip.</a:t>
            </a:r>
          </a:p>
          <a:p xmlns:a="http://schemas.openxmlformats.org/drawingml/2006/main">
            <a:r>
              <a:t/>
            </a:r>
          </a:p>
          <a:p xmlns:a="http://schemas.openxmlformats.org/drawingml/2006/main">
            <a:r>
              <a:t>Audit qualification: earlier SHD/SSC official test outcomes informed architecture exploration. Current confidence intervals summarize training-seed variation on known benchmarks, not an untouched external holdout. Global shuffles mix classes as well as samples. Joint removal of spike traces and final membrane does not isolate spike-specific coding. Numerical values and all registered gates are unchanged. Source: gen5/docs/PROJECT_AUDIT_2026_10_14.md and gen5/docs/EVIDENCE1_HARDENING_2026_10_14.md.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slide. Full primary-source links are in these notes and in the paper. The retained result bundles and preregistration provide the experimental evidence.</a:t>
            </a:r>
          </a:p>
          <a:p xmlns:a="http://schemas.openxmlformats.org/drawingml/2006/main">
            <a:r>
              <a:t>Cramer et al., The Heidelberg spiking datasets for systematic evaluation of spiking neural networks. https://arxiv.org/abs/1910.07407 and https://zenkelab.org/resources/spiking-heidelberg-datasets-shd/</a:t>
            </a:r>
          </a:p>
          <a:p xmlns:a="http://schemas.openxmlformats.org/drawingml/2006/main">
            <a:r>
              <a:t>Neftci, Mostafa and Zenke, Surrogate Gradient Learning in Spiking Neural Networks (2019). https://doi.org/10.1109/MSP.2019.2931595</a:t>
            </a:r>
          </a:p>
          <a:p xmlns:a="http://schemas.openxmlformats.org/drawingml/2006/main">
            <a:r>
              <a:t>Bai, Kolter and Koltun (2018), An Empirical Evaluation of Generic Convolutional and Recurrent Networks for Sequence Modeling. https://arxiv.org/abs/1803.01271</a:t>
            </a:r>
          </a:p>
          <a:p xmlns:a="http://schemas.openxmlformats.org/drawingml/2006/main">
            <a:r>
              <a:t>Cho et al. (2014), Learning Phrase Representations using RNN Encoder-Decoder for Statistical Machine Translation. https://aclanthology.org/D14-1179/</a:t>
            </a:r>
          </a:p>
          <a:p xmlns:a="http://schemas.openxmlformats.org/drawingml/2006/main">
            <a:r>
              <a:t>Loshchilov and Hutter, Decoupled Weight Decay Regularization (ICLR 2019). https://arxiv.org/abs/1711.05101</a:t>
            </a:r>
          </a:p>
          <a:p xmlns:a="http://schemas.openxmlformats.org/drawingml/2006/main">
            <a:r>
              <a:t/>
            </a:r>
          </a:p>
          <a:p xmlns:a="http://schemas.openxmlformats.org/drawingml/2006/main">
            <a:r>
              <a:t>Local sources: gen5/docs/EVIDENCE1_AUDIO_PREREGISTRATION.md, gen5/ammc_gen5/evidence1_audio.py, output/pdf/evidence1_paper_draft/verified_metrics.json and evidence_audit.json. Retained bundles: research_restart_results.zip and research_restart_replication_01.zip.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for protocol questions. Every model falls inside 95%–100% of the dense parameter ceiling 133,631. Training is eager and fixed-length, with no scheduler, early stopping or per-arm optimization. Validation determines the selected checkpoint. Each seed pairs the minibatch order, not identical initialization tensors across unlike architectures. Parameter equality alone does not imply equal FLOPs or optimization difficulty.</a:t>
            </a:r>
          </a:p>
          <a:p xmlns:a="http://schemas.openxmlformats.org/drawingml/2006/main">
            <a:r>
              <a:t/>
            </a:r>
          </a:p>
          <a:p xmlns:a="http://schemas.openxmlformats.org/drawingml/2006/main">
            <a:r>
              <a:t>Local sources: gen5/docs/EVIDENCE1_AUDIO_PREREGISTRATION.md, gen5/ammc_gen5/evidence1_audio.py, output/pdf/evidence1_paper_draft/verified_metrics.json and evidence_audit.json. Retained bundles: research_restart_results.zip and research_restart_replication_01.zip.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Paired Student-t 95% intervals across ten training seeds. Each seed first averages its three shuffled-state trials. These are absolute percentage-point differences in final-test accuracy. Positive lower bounds for all four effects satisfy the registered causal rule. The intervals are marginal, not a simultaneous familywise-confidence assertion.</a:t>
            </a:r>
          </a:p>
          <a:p xmlns:a="http://schemas.openxmlformats.org/drawingml/2006/main">
            <a:r>
              <a:t/>
            </a:r>
          </a:p>
          <a:p xmlns:a="http://schemas.openxmlformats.org/drawingml/2006/main">
            <a:r>
              <a:t>Local sources: gen5/docs/EVIDENCE1_AUDIO_PREREGISTRATION.md, gen5/ammc_gen5/evidence1_audio.py, output/pdf/evidence1_paper_draft/verified_metrics.json and evidence_audit.json. Retained bundles: research_restart_results.zip and research_restart_replication_01.zip.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Differences in percentage points with paired two-sided Student-t 95% intervals. A passing lower bound must exceed minus one percentage point. This is a noninferiority condition, not strict superiority or two-sided equivalence. SHD GRU has weak performance under the common recipe, and no established cause. No interval here justifies universal conclusions about spiking or dense architectures.</a:t>
            </a:r>
          </a:p>
          <a:p xmlns:a="http://schemas.openxmlformats.org/drawingml/2006/main">
            <a:r>
              <a:t/>
            </a:r>
          </a:p>
          <a:p xmlns:a="http://schemas.openxmlformats.org/drawingml/2006/main">
            <a:r>
              <a:t>Local sources: gen5/docs/EVIDENCE1_AUDIO_PREREGISTRATION.md, gen5/ammc_gen5/evidence1_audio.py, output/pdf/evidence1_paper_draft/verified_metrics.json and evidence_audit.json. Retained bundles: research_restart_results.zip and research_restart_replication_01.zip.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11b33fccee441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50faa9dfa72439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e27ad5e71c0450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dfb0c51321f40e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d9bff89b00a46b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6b643a0ab604e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1A02E3-4BF7-4A1A-9DDC-37B2A61E106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1E7A12-CBE4-4586-8F93-17ECBF45E58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990030F-31FE-44C9-8989-32125CCC439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CF2599-D9F3-49B1-A955-775678DE59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D42791F-F31D-4AB6-A730-00C0BD9CFB4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A98ACB6-232D-4486-880A-C7B2F36D47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E234D55-A9C5-4142-9D9E-D347909E0CF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B4EB4D4-6FBC-47AD-8E54-D4FA26BAA89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BE9431-A226-47CA-93CE-9C74348632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8DD6CF1-D1C4-4643-9B90-A92CFF4A363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6a5e62ad094679" /><Relationship Type="http://schemas.openxmlformats.org/officeDocument/2006/relationships/slideLayout" Target="/ppt/slideLayouts/slideLayout1.xml" Id="R619d83a7b44e4cb5" /><Relationship Type="http://schemas.openxmlformats.org/officeDocument/2006/relationships/slideLayout" Target="/ppt/slideLayouts/slideLayout2.xml" Id="R823e61feef104d4c" /><Relationship Type="http://schemas.openxmlformats.org/officeDocument/2006/relationships/slideLayout" Target="/ppt/slideLayouts/slideLayout3.xml" Id="Rf777e49cff94456e" /><Relationship Type="http://schemas.openxmlformats.org/officeDocument/2006/relationships/slideLayout" Target="/ppt/slideLayouts/slideLayout4.xml" Id="R5a4277e56cd8449f" /><Relationship Type="http://schemas.openxmlformats.org/officeDocument/2006/relationships/slideLayout" Target="/ppt/slideLayouts/slideLayout5.xml" Id="Rb430004ec37e401c" /><Relationship Type="http://schemas.openxmlformats.org/officeDocument/2006/relationships/slideLayout" Target="/ppt/slideLayouts/slideLayout6.xml" Id="R0133d03fd1354c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9d83a7b44e4cb5"/>
    <p:sldLayoutId xmlns:r="http://schemas.openxmlformats.org/officeDocument/2006/relationships" id="2147483650" r:id="R823e61feef104d4c"/>
    <p:sldLayoutId xmlns:r="http://schemas.openxmlformats.org/officeDocument/2006/relationships" id="2147483651" r:id="Rf777e49cff94456e"/>
    <p:sldLayoutId xmlns:r="http://schemas.openxmlformats.org/officeDocument/2006/relationships" id="2147483652" r:id="R5a4277e56cd8449f"/>
    <p:sldLayoutId xmlns:r="http://schemas.openxmlformats.org/officeDocument/2006/relationships" id="2147483653" r:id="Rb430004ec37e401c"/>
    <p:sldLayoutId xmlns:r="http://schemas.openxmlformats.org/officeDocument/2006/relationships" id="2147483654" r:id="R0133d03fd1354c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0f34da9d60144b1" /><Relationship Type="http://schemas.openxmlformats.org/officeDocument/2006/relationships/notesSlide" Target="/ppt/notesSlides/notesSlide1.xml" Id="R4959f986d20f49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b81a4e76e8249f5" /><Relationship Type="http://schemas.openxmlformats.org/officeDocument/2006/relationships/notesSlide" Target="/ppt/notesSlides/notesSlide2.xml" Id="R73bfd7053a2543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e53a45380704e92" /><Relationship Type="http://schemas.openxmlformats.org/officeDocument/2006/relationships/notesSlide" Target="/ppt/notesSlides/notesSlide3.xml" Id="R713cc892a2c94b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42dfe5b0d4e4193" /><Relationship Type="http://schemas.openxmlformats.org/officeDocument/2006/relationships/notesSlide" Target="/ppt/notesSlides/notesSlide4.xml" Id="Rd3cbe55dbd264c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ba8f1c160f84b58" /><Relationship Type="http://schemas.openxmlformats.org/officeDocument/2006/relationships/notesSlide" Target="/ppt/notesSlides/notesSlide5.xml" Id="Rab41de5d96204a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2b37354824f44e3" /><Relationship Type="http://schemas.openxmlformats.org/officeDocument/2006/relationships/chart" Target="/ppt/slides/charts/chart1.xml" Id="R095f24d131914859" /><Relationship Type="http://schemas.openxmlformats.org/officeDocument/2006/relationships/notesSlide" Target="/ppt/notesSlides/notesSlide6.xml" Id="Rcaf0accfc6cb4e1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c40404ae4d643e8" /><Relationship Type="http://schemas.openxmlformats.org/officeDocument/2006/relationships/chart" Target="/ppt/slides/charts/chart2.xml" Id="R2e336ad6a7d74759" /><Relationship Type="http://schemas.openxmlformats.org/officeDocument/2006/relationships/notesSlide" Target="/ppt/notesSlides/notesSlide7.xml" Id="R5c6e6c75481d415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8e9abae53884570" /><Relationship Type="http://schemas.openxmlformats.org/officeDocument/2006/relationships/notesSlide" Target="/ppt/notesSlides/notesSlide8.xml" Id="Rafbb9ad21b764f3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ceaf9aa4690439d" /><Relationship Type="http://schemas.openxmlformats.org/officeDocument/2006/relationships/chart" Target="/ppt/slides/charts/chart3.xml" Id="R3cd2d8dcd08840ff" /><Relationship Type="http://schemas.openxmlformats.org/officeDocument/2006/relationships/notesSlide" Target="/ppt/notesSlides/notesSlide9.xml" Id="R6909864af8ee485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a7f604145074961" /><Relationship Type="http://schemas.openxmlformats.org/officeDocument/2006/relationships/notesSlide" Target="/ppt/notesSlides/notesSlide10.xml" Id="Re2b01ff7278f4a2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c18fbb15e224da6" /><Relationship Type="http://schemas.openxmlformats.org/officeDocument/2006/relationships/notesSlide" Target="/ppt/notesSlides/notesSlide11.xml" Id="R25adf00746484ff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980514428884b78" /><Relationship Type="http://schemas.openxmlformats.org/officeDocument/2006/relationships/notesSlide" Target="/ppt/notesSlides/notesSlide12.xml" Id="R4fa5daf0bdf2441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f5d7bf404354374" /><Relationship Type="http://schemas.openxmlformats.org/officeDocument/2006/relationships/notesSlide" Target="/ppt/notesSlides/notesSlide13.xml" Id="R998ef4e856b3463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59cba3b286d40e4" /><Relationship Type="http://schemas.openxmlformats.org/officeDocument/2006/relationships/notesSlide" Target="/ppt/notesSlides/notesSlide14.xml" Id="Rc3377bbf3cec4e3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38f7802e1d74ae7" /><Relationship Type="http://schemas.openxmlformats.org/officeDocument/2006/relationships/notesSlide" Target="/ppt/notesSlides/notesSlide15.xml" Id="Ra8afe20d22c04c7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c5c3139b7224068" /><Relationship Type="http://schemas.openxmlformats.org/officeDocument/2006/relationships/notesSlide" Target="/ppt/notesSlides/notesSlide16.xml" Id="R92e923dfe48e46e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dfa7c5de318432f" /><Relationship Type="http://schemas.openxmlformats.org/officeDocument/2006/relationships/notesSlide" Target="/ppt/notesSlides/notesSlide17.xml" Id="R05ffb0b9167f40b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Full minus zero state</c:v>
          </c:tx>
          <c:spPr>
            <a:solidFill xmlns:a="http://schemas.openxmlformats.org/drawingml/2006/main">
              <a:srgbClr val="087C83"/>
            </a:solidFill>
          </c:spPr>
          <c:invertIfNegative val="0"/>
          <c:cat>
            <c:strRef>
              <c:f>'Chart Data'!$A$2:$A$3</c:f>
              <c:strCache>
                <c:ptCount val="2"/>
                <c:pt idx="0">
                  <c:v>SHD</c:v>
                </c:pt>
                <c:pt idx="1">
                  <c:v>SSC</c:v>
                </c:pt>
              </c:strCache>
            </c:strRef>
          </c:cat>
          <c:val>
            <c:numRef>
              <c:f>'Chart Data'!$B$2:$B$3</c:f>
              <c:numCache>
                <c:formatCode>0</c:formatCode>
                <c:ptCount val="2"/>
                <c:pt idx="0">
                  <c:v>9.43</c:v>
                </c:pt>
                <c:pt idx="1">
                  <c:v>13.64</c:v>
                </c:pt>
              </c:numCache>
            </c:numRef>
          </c:val>
        </c:ser>
        <c:ser>
          <c:idx val="1"/>
          <c:order val="1"/>
          <c:tx>
            <c:v>Full minus shuffled state</c:v>
          </c:tx>
          <c:spPr>
            <a:solidFill xmlns:a="http://schemas.openxmlformats.org/drawingml/2006/main">
              <a:srgbClr val="4373A0"/>
            </a:solidFill>
          </c:spPr>
          <c:invertIfNegative val="0"/>
          <c:cat>
            <c:strRef>
              <c:f>'Chart Data'!$C$2:$C$3</c:f>
              <c:strCache>
                <c:ptCount val="2"/>
                <c:pt idx="0">
                  <c:v>SHD</c:v>
                </c:pt>
                <c:pt idx="1">
                  <c:v>SSC</c:v>
                </c:pt>
              </c:strCache>
            </c:strRef>
          </c:cat>
          <c:val>
            <c:numRef>
              <c:f>'Chart Data'!$D$2:$D$3</c:f>
              <c:numCache>
                <c:formatCode>0</c:formatCode>
                <c:ptCount val="2"/>
                <c:pt idx="0">
                  <c:v>4.04</c:v>
                </c:pt>
                <c:pt idx="1">
                  <c:v>8.87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a:solidFill>
                    <a:srgbClr val="142D38"/>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2E4"/>
            </a:solidFill>
          </a:ln>
        </c:spPr>
        <c:txPr>
          <a:bodyPr xmlns:a="http://schemas.openxmlformats.org/drawingml/2006/main" anchorCtr="1"/>
          <a:lstStyle xmlns:a="http://schemas.openxmlformats.org/drawingml/2006/main"/>
          <a:p xmlns:a="http://schemas.openxmlformats.org/drawingml/2006/main">
            <a:pPr>
              <a:defRPr sz="1800">
                <a:solidFill>
                  <a:srgbClr val="142D38"/>
                </a:solidFill>
                <a:latin typeface="Arial"/>
                <a:ea typeface="Arial"/>
                <a:cs typeface="Arial"/>
              </a:defRPr>
            </a:pPr>
          </a:p>
        </c:txPr>
        <c:crossAx val="48672768"/>
      </c:catAx>
      <c:valAx>
        <c:axId val="48672768"/>
        <c:scaling>
          <c:orientation val="minMax"/>
          <c:max val="17"/>
          <c:min val="0"/>
        </c:scaling>
        <c:delete val="0"/>
        <c:axPos val="l"/>
        <c:majorGridlines>
          <c:spPr>
            <a:ln xmlns:a="http://schemas.openxmlformats.org/drawingml/2006/main" w="9525">
              <a:solidFill>
                <a:srgbClr val="D9E2E4"/>
              </a:solidFill>
            </a:ln>
          </c:spPr>
        </c:majorGridlines>
        <c:title>
          <c:tx>
            <c:rich>
              <a:bodyPr xmlns:a="http://schemas.openxmlformats.org/drawingml/2006/main"/>
              <a:lstStyle xmlns:a="http://schemas.openxmlformats.org/drawingml/2006/main"/>
              <a:p xmlns:a="http://schemas.openxmlformats.org/drawingml/2006/main">
                <a:r>
                  <a:rPr sz="1800">
                    <a:solidFill>
                      <a:srgbClr val="142D38"/>
                    </a:solidFill>
                    <a:latin typeface="Arial"/>
                    <a:ea typeface="Arial"/>
                    <a:cs typeface="Arial"/>
                  </a:rPr>
                  <a:t>Accuracy drop (percentage points)</a:t>
                </a:r>
              </a:p>
            </c:rich>
          </c:tx>
          <c:overlay val="0"/>
          <c:txPr>
            <a:bodyPr xmlns:a="http://schemas.openxmlformats.org/drawingml/2006/main" anchorCtr="1"/>
            <a:lstStyle xmlns:a="http://schemas.openxmlformats.org/drawingml/2006/main"/>
            <a:p xmlns:a="http://schemas.openxmlformats.org/drawingml/2006/main">
              <a:pPr>
                <a:defRPr sz="1800">
                  <a:solidFill>
                    <a:srgbClr val="142D38"/>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36672"/>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42D38"/>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Residual LIF</c:v>
          </c:tx>
          <c:spPr>
            <a:solidFill xmlns:a="http://schemas.openxmlformats.org/drawingml/2006/main">
              <a:srgbClr val="087C83"/>
            </a:solidFill>
          </c:spPr>
          <c:invertIfNegative val="0"/>
          <c:cat>
            <c:strRef>
              <c:f>'Chart Data'!$A$2:$A$3</c:f>
              <c:strCache>
                <c:ptCount val="2"/>
                <c:pt idx="0">
                  <c:v>SHD</c:v>
                </c:pt>
                <c:pt idx="1">
                  <c:v>SSC</c:v>
                </c:pt>
              </c:strCache>
            </c:strRef>
          </c:cat>
          <c:val>
            <c:numRef>
              <c:f>'Chart Data'!$B$2:$B$3</c:f>
              <c:numCache>
                <c:formatCode>0</c:formatCode>
                <c:ptCount val="2"/>
                <c:pt idx="0">
                  <c:v>84.06</c:v>
                </c:pt>
                <c:pt idx="1">
                  <c:v>56.48</c:v>
                </c:pt>
              </c:numCache>
            </c:numRef>
          </c:val>
        </c:ser>
        <c:ser>
          <c:idx val="1"/>
          <c:order val="1"/>
          <c:tx>
            <c:v>Conv1D</c:v>
          </c:tx>
          <c:spPr>
            <a:solidFill xmlns:a="http://schemas.openxmlformats.org/drawingml/2006/main">
              <a:srgbClr val="8298A0"/>
            </a:solidFill>
          </c:spPr>
          <c:invertIfNegative val="0"/>
          <c:cat>
            <c:strRef>
              <c:f>'Chart Data'!$C$2:$C$3</c:f>
              <c:strCache>
                <c:ptCount val="2"/>
                <c:pt idx="0">
                  <c:v>SHD</c:v>
                </c:pt>
                <c:pt idx="1">
                  <c:v>SSC</c:v>
                </c:pt>
              </c:strCache>
            </c:strRef>
          </c:cat>
          <c:val>
            <c:numRef>
              <c:f>'Chart Data'!$D$2:$D$3</c:f>
              <c:numCache>
                <c:formatCode>0</c:formatCode>
                <c:ptCount val="2"/>
                <c:pt idx="0">
                  <c:v>83.24</c:v>
                </c:pt>
                <c:pt idx="1">
                  <c:v>49.77</c:v>
                </c:pt>
              </c:numCache>
            </c:numRef>
          </c:val>
        </c:ser>
        <c:ser>
          <c:idx val="2"/>
          <c:order val="2"/>
          <c:tx>
            <c:v>TCN</c:v>
          </c:tx>
          <c:spPr>
            <a:solidFill xmlns:a="http://schemas.openxmlformats.org/drawingml/2006/main">
              <a:srgbClr val="4373A0"/>
            </a:solidFill>
          </c:spPr>
          <c:invertIfNegative val="0"/>
          <c:cat>
            <c:strRef>
              <c:f>'Chart Data'!$E$2:$E$3</c:f>
              <c:strCache>
                <c:ptCount val="2"/>
                <c:pt idx="0">
                  <c:v>SHD</c:v>
                </c:pt>
                <c:pt idx="1">
                  <c:v>SSC</c:v>
                </c:pt>
              </c:strCache>
            </c:strRef>
          </c:cat>
          <c:val>
            <c:numRef>
              <c:f>'Chart Data'!$F$2:$F$3</c:f>
              <c:numCache>
                <c:formatCode>0</c:formatCode>
                <c:ptCount val="2"/>
                <c:pt idx="0">
                  <c:v>83.13</c:v>
                </c:pt>
                <c:pt idx="1">
                  <c:v>58.44</c:v>
                </c:pt>
              </c:numCache>
            </c:numRef>
          </c:val>
        </c:ser>
        <c:ser>
          <c:idx val="3"/>
          <c:order val="3"/>
          <c:tx>
            <c:v>GRU</c:v>
          </c:tx>
          <c:spPr>
            <a:solidFill xmlns:a="http://schemas.openxmlformats.org/drawingml/2006/main">
              <a:srgbClr val="AB9075"/>
            </a:solidFill>
          </c:spPr>
          <c:invertIfNegative val="0"/>
          <c:cat>
            <c:strRef>
              <c:f>'Chart Data'!$G$2:$G$3</c:f>
              <c:strCache>
                <c:ptCount val="2"/>
                <c:pt idx="0">
                  <c:v>SHD</c:v>
                </c:pt>
                <c:pt idx="1">
                  <c:v>SSC</c:v>
                </c:pt>
              </c:strCache>
            </c:strRef>
          </c:cat>
          <c:val>
            <c:numRef>
              <c:f>'Chart Data'!$H$2:$H$3</c:f>
              <c:numCache>
                <c:formatCode>0</c:formatCode>
                <c:ptCount val="2"/>
                <c:pt idx="0">
                  <c:v>40.41</c:v>
                </c:pt>
                <c:pt idx="1">
                  <c:v>57.44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a:solidFill>
                    <a:srgbClr val="142D38"/>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2E4"/>
            </a:solidFill>
          </a:ln>
        </c:spPr>
        <c:txPr>
          <a:bodyPr xmlns:a="http://schemas.openxmlformats.org/drawingml/2006/main" anchorCtr="1"/>
          <a:lstStyle xmlns:a="http://schemas.openxmlformats.org/drawingml/2006/main"/>
          <a:p xmlns:a="http://schemas.openxmlformats.org/drawingml/2006/main">
            <a:pPr>
              <a:defRPr sz="1800">
                <a:solidFill>
                  <a:srgbClr val="142D38"/>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9E2E4"/>
              </a:solidFill>
            </a:ln>
          </c:spPr>
        </c:majorGridlines>
        <c:title>
          <c:tx>
            <c:rich>
              <a:bodyPr xmlns:a="http://schemas.openxmlformats.org/drawingml/2006/main"/>
              <a:lstStyle xmlns:a="http://schemas.openxmlformats.org/drawingml/2006/main"/>
              <a:p xmlns:a="http://schemas.openxmlformats.org/drawingml/2006/main">
                <a:r>
                  <a:rPr sz="1800">
                    <a:solidFill>
                      <a:srgbClr val="142D38"/>
                    </a:solidFill>
                    <a:latin typeface="Arial"/>
                    <a:ea typeface="Arial"/>
                    <a:cs typeface="Arial"/>
                  </a:rPr>
                  <a:t>Test accuracy (%)</a:t>
                </a:r>
              </a:p>
            </c:rich>
          </c:tx>
          <c:overlay val="0"/>
          <c:txPr>
            <a:bodyPr xmlns:a="http://schemas.openxmlformats.org/drawingml/2006/main" anchorCtr="1"/>
            <a:lstStyle xmlns:a="http://schemas.openxmlformats.org/drawingml/2006/main"/>
            <a:p xmlns:a="http://schemas.openxmlformats.org/drawingml/2006/main">
              <a:pPr>
                <a:defRPr sz="1800">
                  <a:solidFill>
                    <a:srgbClr val="142D38"/>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36672"/>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42D38"/>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Primary execution</c:v>
          </c:tx>
          <c:spPr>
            <a:solidFill xmlns:a="http://schemas.openxmlformats.org/drawingml/2006/main">
              <a:srgbClr val="087C83"/>
            </a:solidFill>
          </c:spPr>
          <c:invertIfNegative val="0"/>
          <c:cat>
            <c:strRef>
              <c:f>'Chart Data'!$A$2:$A$3</c:f>
              <c:strCache>
                <c:ptCount val="2"/>
                <c:pt idx="0">
                  <c:v>SHD</c:v>
                </c:pt>
                <c:pt idx="1">
                  <c:v>SSC</c:v>
                </c:pt>
              </c:strCache>
            </c:strRef>
          </c:cat>
          <c:val>
            <c:numRef>
              <c:f>'Chart Data'!$B$2:$B$3</c:f>
              <c:numCache>
                <c:formatCode>0</c:formatCode>
                <c:ptCount val="2"/>
                <c:pt idx="0">
                  <c:v>10.55</c:v>
                </c:pt>
                <c:pt idx="1">
                  <c:v>10.74</c:v>
                </c:pt>
              </c:numCache>
            </c:numRef>
          </c:val>
        </c:ser>
        <c:ser>
          <c:idx val="1"/>
          <c:order val="1"/>
          <c:tx>
            <c:v>Same-seed repeat</c:v>
          </c:tx>
          <c:spPr>
            <a:solidFill xmlns:a="http://schemas.openxmlformats.org/drawingml/2006/main">
              <a:srgbClr val="4373A0"/>
            </a:solidFill>
          </c:spPr>
          <c:invertIfNegative val="0"/>
          <c:cat>
            <c:strRef>
              <c:f>'Chart Data'!$C$2:$C$3</c:f>
              <c:strCache>
                <c:ptCount val="2"/>
                <c:pt idx="0">
                  <c:v>SHD</c:v>
                </c:pt>
                <c:pt idx="1">
                  <c:v>SSC</c:v>
                </c:pt>
              </c:strCache>
            </c:strRef>
          </c:cat>
          <c:val>
            <c:numRef>
              <c:f>'Chart Data'!$D$2:$D$3</c:f>
              <c:numCache>
                <c:formatCode>0</c:formatCode>
                <c:ptCount val="2"/>
                <c:pt idx="0">
                  <c:v>10.75</c:v>
                </c:pt>
                <c:pt idx="1">
                  <c:v>11.06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a:solidFill>
                    <a:srgbClr val="142D38"/>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2E4"/>
            </a:solidFill>
          </a:ln>
        </c:spPr>
        <c:txPr>
          <a:bodyPr xmlns:a="http://schemas.openxmlformats.org/drawingml/2006/main" anchorCtr="1"/>
          <a:lstStyle xmlns:a="http://schemas.openxmlformats.org/drawingml/2006/main"/>
          <a:p xmlns:a="http://schemas.openxmlformats.org/drawingml/2006/main">
            <a:pPr>
              <a:defRPr sz="1800">
                <a:solidFill>
                  <a:srgbClr val="142D38"/>
                </a:solidFill>
                <a:latin typeface="Arial"/>
                <a:ea typeface="Arial"/>
                <a:cs typeface="Arial"/>
              </a:defRPr>
            </a:pPr>
          </a:p>
        </c:txPr>
        <c:crossAx val="48672768"/>
      </c:catAx>
      <c:valAx>
        <c:axId val="48672768"/>
        <c:scaling>
          <c:orientation val="minMax"/>
          <c:max val="13"/>
          <c:min val="0"/>
        </c:scaling>
        <c:delete val="0"/>
        <c:axPos val="l"/>
        <c:majorGridlines>
          <c:spPr>
            <a:ln xmlns:a="http://schemas.openxmlformats.org/drawingml/2006/main" w="9525">
              <a:solidFill>
                <a:srgbClr val="D9E2E4"/>
              </a:solidFill>
            </a:ln>
          </c:spPr>
        </c:majorGridlines>
        <c:title>
          <c:tx>
            <c:rich>
              <a:bodyPr xmlns:a="http://schemas.openxmlformats.org/drawingml/2006/main"/>
              <a:lstStyle xmlns:a="http://schemas.openxmlformats.org/drawingml/2006/main"/>
              <a:p xmlns:a="http://schemas.openxmlformats.org/drawingml/2006/main">
                <a:r>
                  <a:rPr sz="1800">
                    <a:solidFill>
                      <a:srgbClr val="142D38"/>
                    </a:solidFill>
                    <a:latin typeface="Arial"/>
                    <a:ea typeface="Arial"/>
                    <a:cs typeface="Arial"/>
                  </a:rPr>
                  <a:t>Median compiled / eager speedup</a:t>
                </a:r>
              </a:p>
            </c:rich>
          </c:tx>
          <c:overlay val="0"/>
          <c:txPr>
            <a:bodyPr xmlns:a="http://schemas.openxmlformats.org/drawingml/2006/main" anchorCtr="1"/>
            <a:lstStyle xmlns:a="http://schemas.openxmlformats.org/drawingml/2006/main"/>
            <a:p xmlns:a="http://schemas.openxmlformats.org/drawingml/2006/main">
              <a:pPr>
                <a:defRPr sz="1800">
                  <a:solidFill>
                    <a:srgbClr val="142D38"/>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36672"/>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42D38"/>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D38"/>
        </a:solidFill>
      </p:bgPr>
    </p:bg>
    <p:spTree>
      <p:nvGrpSpPr>
        <p:cNvPr id="1" name=""/>
        <p:cNvGrpSpPr/>
        <p:nvPr/>
      </p:nvGrpSpPr>
      <p:grpSpPr>
        <a:xfrm xmlns:a="http://schemas.openxmlformats.org/drawingml/2006/main"/>
      </p:grpSpPr>
      <p:sp>
        <p:nvSpPr>
          <p:cNvPr id="6" name="State Dependence Without&#10;Competitive Superiority">
            <a:extLst xmlns:a="http://schemas.openxmlformats.org/drawingml/2006/main">
              <a:ext uri="{FF2B5EF4-FFF2-40B4-BE49-F238E27FC236}">
                <a16:creationId xmlns:a16="http://schemas.microsoft.com/office/drawing/2014/main" id="{FED0792F-7F63-47A2-80AD-3A4993224CD5}"/>
              </a:ext>
            </a:extLst>
          </p:cNvPr>
          <p:cNvSpPr>
            <a:spLocks xmlns:a="http://schemas.openxmlformats.org/drawingml/2006/main" noGrp="1"/>
          </p:cNvSpPr>
          <p:nvPr/>
        </p:nvSpPr>
        <p:spPr>
          <a:xfrm xmlns:a="http://schemas.openxmlformats.org/drawingml/2006/main">
            <a:off x="685800" y="781050"/>
            <a:ext cx="1085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FFFFFF"/>
                </a:solidFill>
                <a:latin typeface="Arial"/>
                <a:ea typeface="Arial"/>
                <a:cs typeface="Arial"/>
              </a:defRPr>
            </a:defPPr>
          </a:lstStyle>
          <a:p xmlns:a="http://schemas.openxmlformats.org/drawingml/2006/main">
            <a:pPr algn="l">
              <a:buNone/>
              <a:defRPr sz="4350" b="1">
                <a:solidFill>
                  <a:srgbClr val="FFFFFF"/>
                </a:solidFill>
                <a:latin typeface="Arial"/>
                <a:ea typeface="Arial"/>
                <a:cs typeface="Arial"/>
              </a:defRPr>
            </a:pPr>
            <a:r>
              <a:rPr sz="4350" b="1">
                <a:solidFill>
                  <a:srgbClr val="FFFFFF"/>
                </a:solidFill>
                <a:latin typeface="Arial"/>
                <a:ea typeface="Arial"/>
                <a:cs typeface="Arial"/>
              </a:rPr>
              <a:t>State Dependence Without</a:t>
            </a:r>
          </a:p>
          <a:p xmlns:a="http://schemas.openxmlformats.org/drawingml/2006/main">
            <a:pPr algn="l">
              <a:buNone/>
              <a:defRPr sz="4350" b="1">
                <a:solidFill>
                  <a:srgbClr val="FFFFFF"/>
                </a:solidFill>
                <a:latin typeface="Arial"/>
                <a:ea typeface="Arial"/>
                <a:cs typeface="Arial"/>
              </a:defRPr>
            </a:pPr>
            <a:r>
              <a:rPr sz="4350" b="1">
                <a:solidFill>
                  <a:srgbClr val="FFFFFF"/>
                </a:solidFill>
                <a:latin typeface="Arial"/>
                <a:ea typeface="Arial"/>
                <a:cs typeface="Arial"/>
              </a:rPr>
              <a:t>Competitive Superiority</a:t>
            </a:r>
          </a:p>
        </p:txBody>
      </p:sp>
      <p:sp>
        <p:nvSpPr>
          <p:cNvPr id="2" name="A paired audit of residual LIF models on spiking audio">
            <a:extLst xmlns:a="http://schemas.openxmlformats.org/drawingml/2006/main">
              <a:ext uri="{FF2B5EF4-FFF2-40B4-BE49-F238E27FC236}">
                <a16:creationId xmlns:a16="http://schemas.microsoft.com/office/drawing/2014/main" id="{1F824BD8-3B33-40CF-B77B-6D905C08E62A}"/>
              </a:ext>
            </a:extLst>
          </p:cNvPr>
          <p:cNvSpPr>
            <a:spLocks xmlns:a="http://schemas.openxmlformats.org/drawingml/2006/main" noGrp="1"/>
          </p:cNvSpPr>
          <p:nvPr/>
        </p:nvSpPr>
        <p:spPr>
          <a:xfrm xmlns:a="http://schemas.openxmlformats.org/drawingml/2006/main">
            <a:off x="723900" y="2628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A9DADF"/>
                </a:solidFill>
                <a:latin typeface="Arial"/>
                <a:ea typeface="Arial"/>
                <a:cs typeface="Arial"/>
              </a:defRPr>
            </a:defPPr>
          </a:lstStyle>
          <a:p xmlns:a="http://schemas.openxmlformats.org/drawingml/2006/main">
            <a:pPr algn="l">
              <a:buNone/>
              <a:defRPr sz="2250" b="0">
                <a:solidFill>
                  <a:srgbClr val="A9DADF"/>
                </a:solidFill>
                <a:latin typeface="Arial"/>
                <a:ea typeface="Arial"/>
                <a:cs typeface="Arial"/>
              </a:defRPr>
            </a:pPr>
            <a:r>
              <a:rPr sz="2250" b="0">
                <a:solidFill>
                  <a:srgbClr val="A9DADF"/>
                </a:solidFill>
                <a:latin typeface="Arial"/>
                <a:ea typeface="Arial"/>
                <a:cs typeface="Arial"/>
              </a:rPr>
              <a:t>A paired audit of residual LIF models on spiking audio</a:t>
            </a:r>
          </a:p>
        </p:txBody>
      </p:sp>
      <p:sp>
        <p:nvSpPr>
          <p:cNvPr id="3" name="Md. Faisal Tabrez&#10;23261A0535, Department of CSE">
            <a:extLst xmlns:a="http://schemas.openxmlformats.org/drawingml/2006/main">
              <a:ext uri="{FF2B5EF4-FFF2-40B4-BE49-F238E27FC236}">
                <a16:creationId xmlns:a16="http://schemas.microsoft.com/office/drawing/2014/main" id="{6F563152-D6AB-4141-A66E-BD81CF3CDE6E}"/>
              </a:ext>
            </a:extLst>
          </p:cNvPr>
          <p:cNvSpPr>
            <a:spLocks xmlns:a="http://schemas.openxmlformats.org/drawingml/2006/main" noGrp="1"/>
          </p:cNvSpPr>
          <p:nvPr/>
        </p:nvSpPr>
        <p:spPr>
          <a:xfrm xmlns:a="http://schemas.openxmlformats.org/drawingml/2006/main">
            <a:off x="723900" y="3905250"/>
            <a:ext cx="4762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Arial"/>
                <a:ea typeface="Arial"/>
                <a:cs typeface="Arial"/>
              </a:defRPr>
            </a:defPPr>
          </a:lstStyle>
          <a:p xmlns:a="http://schemas.openxmlformats.org/drawingml/2006/main">
            <a:pPr algn="l">
              <a:buNone/>
              <a:defRPr sz="1875" b="0">
                <a:solidFill>
                  <a:srgbClr val="FFFFFF"/>
                </a:solidFill>
                <a:latin typeface="Arial"/>
                <a:ea typeface="Arial"/>
                <a:cs typeface="Arial"/>
              </a:defRPr>
            </a:pPr>
            <a:r>
              <a:rPr sz="1875" b="0">
                <a:solidFill>
                  <a:srgbClr val="FFFFFF"/>
                </a:solidFill>
                <a:latin typeface="Arial"/>
                <a:ea typeface="Arial"/>
                <a:cs typeface="Arial"/>
              </a:rPr>
              <a:t>Md. Faisal Tabrez</a:t>
            </a:r>
          </a:p>
          <a:p xmlns:a="http://schemas.openxmlformats.org/drawingml/2006/main">
            <a:pPr algn="l">
              <a:buNone/>
              <a:defRPr sz="1875" b="0">
                <a:solidFill>
                  <a:srgbClr val="FFFFFF"/>
                </a:solidFill>
                <a:latin typeface="Arial"/>
                <a:ea typeface="Arial"/>
                <a:cs typeface="Arial"/>
              </a:defRPr>
            </a:pPr>
            <a:r>
              <a:rPr sz="1875" b="0">
                <a:solidFill>
                  <a:srgbClr val="FFFFFF"/>
                </a:solidFill>
                <a:latin typeface="Arial"/>
                <a:ea typeface="Arial"/>
                <a:cs typeface="Arial"/>
              </a:rPr>
              <a:t>23261A0535, Department of CSE</a:t>
            </a:r>
          </a:p>
        </p:txBody>
      </p:sp>
      <p:sp>
        <p:nvSpPr>
          <p:cNvPr id="4" name="Md. Mayana Zeeshan Ahmed Khan&#10;24261A1119, Department of IT">
            <a:extLst xmlns:a="http://schemas.openxmlformats.org/drawingml/2006/main">
              <a:ext uri="{FF2B5EF4-FFF2-40B4-BE49-F238E27FC236}">
                <a16:creationId xmlns:a16="http://schemas.microsoft.com/office/drawing/2014/main" id="{57D0461C-5E0F-44FB-8C8D-66A82C050539}"/>
              </a:ext>
            </a:extLst>
          </p:cNvPr>
          <p:cNvSpPr>
            <a:spLocks xmlns:a="http://schemas.openxmlformats.org/drawingml/2006/main" noGrp="1"/>
          </p:cNvSpPr>
          <p:nvPr/>
        </p:nvSpPr>
        <p:spPr>
          <a:xfrm xmlns:a="http://schemas.openxmlformats.org/drawingml/2006/main">
            <a:off x="6191250" y="3905250"/>
            <a:ext cx="5334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Arial"/>
                <a:ea typeface="Arial"/>
                <a:cs typeface="Arial"/>
              </a:defRPr>
            </a:defPPr>
          </a:lstStyle>
          <a:p xmlns:a="http://schemas.openxmlformats.org/drawingml/2006/main">
            <a:pPr algn="l">
              <a:buNone/>
              <a:defRPr sz="1875" b="0">
                <a:solidFill>
                  <a:srgbClr val="FFFFFF"/>
                </a:solidFill>
                <a:latin typeface="Arial"/>
                <a:ea typeface="Arial"/>
                <a:cs typeface="Arial"/>
              </a:defRPr>
            </a:pPr>
            <a:r>
              <a:rPr sz="1875" b="0">
                <a:solidFill>
                  <a:srgbClr val="FFFFFF"/>
                </a:solidFill>
                <a:latin typeface="Arial"/>
                <a:ea typeface="Arial"/>
                <a:cs typeface="Arial"/>
              </a:rPr>
              <a:t>Md. Mayana Zeeshan Ahmed Khan</a:t>
            </a:r>
          </a:p>
          <a:p xmlns:a="http://schemas.openxmlformats.org/drawingml/2006/main">
            <a:pPr algn="l">
              <a:buNone/>
              <a:defRPr sz="1875" b="0">
                <a:solidFill>
                  <a:srgbClr val="FFFFFF"/>
                </a:solidFill>
                <a:latin typeface="Arial"/>
                <a:ea typeface="Arial"/>
                <a:cs typeface="Arial"/>
              </a:defRPr>
            </a:pPr>
            <a:r>
              <a:rPr sz="1875" b="0">
                <a:solidFill>
                  <a:srgbClr val="FFFFFF"/>
                </a:solidFill>
                <a:latin typeface="Arial"/>
                <a:ea typeface="Arial"/>
                <a:cs typeface="Arial"/>
              </a:rPr>
              <a:t>24261A1119, Department of IT</a:t>
            </a:r>
          </a:p>
        </p:txBody>
      </p:sp>
      <p:sp>
        <p:nvSpPr>
          <p:cNvPr id="5" name="Mahatma Gandhi Institute of Technology, Hyderabad&#10;Research p">
            <a:extLst xmlns:a="http://schemas.openxmlformats.org/drawingml/2006/main">
              <a:ext uri="{FF2B5EF4-FFF2-40B4-BE49-F238E27FC236}">
                <a16:creationId xmlns:a16="http://schemas.microsoft.com/office/drawing/2014/main" id="{71B6BD54-2D79-44C9-8D8A-B02C55B6C68F}"/>
              </a:ext>
            </a:extLst>
          </p:cNvPr>
          <p:cNvSpPr>
            <a:spLocks xmlns:a="http://schemas.openxmlformats.org/drawingml/2006/main" noGrp="1"/>
          </p:cNvSpPr>
          <p:nvPr/>
        </p:nvSpPr>
        <p:spPr>
          <a:xfrm xmlns:a="http://schemas.openxmlformats.org/drawingml/2006/main">
            <a:off x="723900" y="542925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7D7DD"/>
                </a:solidFill>
                <a:latin typeface="Arial"/>
                <a:ea typeface="Arial"/>
                <a:cs typeface="Arial"/>
              </a:defRPr>
            </a:defPPr>
          </a:lstStyle>
          <a:p xmlns:a="http://schemas.openxmlformats.org/drawingml/2006/main">
            <a:pPr algn="l">
              <a:buNone/>
              <a:defRPr sz="1725" b="0">
                <a:solidFill>
                  <a:srgbClr val="C7D7DD"/>
                </a:solidFill>
                <a:latin typeface="Arial"/>
                <a:ea typeface="Arial"/>
                <a:cs typeface="Arial"/>
              </a:defRPr>
            </a:pPr>
            <a:r>
              <a:rPr sz="1725" b="0">
                <a:solidFill>
                  <a:srgbClr val="C7D7DD"/>
                </a:solidFill>
                <a:latin typeface="Arial"/>
                <a:ea typeface="Arial"/>
                <a:cs typeface="Arial"/>
              </a:rPr>
              <a:t>Mahatma Gandhi Institute of Technology, Hyderabad</a:t>
            </a:r>
          </a:p>
          <a:p xmlns:a="http://schemas.openxmlformats.org/drawingml/2006/main">
            <a:pPr algn="l">
              <a:buNone/>
              <a:defRPr sz="1725" b="0">
                <a:solidFill>
                  <a:srgbClr val="C7D7DD"/>
                </a:solidFill>
                <a:latin typeface="Arial"/>
                <a:ea typeface="Arial"/>
                <a:cs typeface="Arial"/>
              </a:defRPr>
            </a:pPr>
            <a:r>
              <a:rPr sz="1725" b="0">
                <a:solidFill>
                  <a:srgbClr val="C7D7DD"/>
                </a:solidFill>
                <a:latin typeface="Arial"/>
                <a:ea typeface="Arial"/>
                <a:cs typeface="Arial"/>
              </a:rPr>
              <a:t>Research presentation draft, October 2026</a:t>
            </a:r>
          </a:p>
        </p:txBody>
      </p:sp>
    </p:spTree>
    <p:extLst>
      <p:ext uri="{BB962C8B-B14F-4D97-AF65-F5344CB8AC3E}">
        <p14:creationId xmlns:p14="http://schemas.microsoft.com/office/powerpoint/2010/main" val="70355291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Research questions">
            <a:extLst xmlns:a="http://schemas.openxmlformats.org/drawingml/2006/main">
              <a:ext uri="{FF2B5EF4-FFF2-40B4-BE49-F238E27FC236}">
                <a16:creationId xmlns:a16="http://schemas.microsoft.com/office/drawing/2014/main" id="{8BC89667-DE96-40E3-8C6B-C590B67F1B5F}"/>
              </a:ext>
            </a:extLst>
          </p:cNvPr>
          <p:cNvSpPr>
            <a:spLocks xmlns:a="http://schemas.openxmlformats.org/drawingml/2006/main" noGrp="1"/>
          </p:cNvSpPr>
          <p:nvPr/>
        </p:nvSpPr>
        <p:spPr>
          <a:xfrm xmlns:a="http://schemas.openxmlformats.org/drawingml/2006/main">
            <a:off x="609600" y="4000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D38"/>
                </a:solidFill>
                <a:latin typeface="Arial"/>
                <a:ea typeface="Arial"/>
                <a:cs typeface="Arial"/>
              </a:defRPr>
            </a:defPPr>
          </a:lstStyle>
          <a:p xmlns:a="http://schemas.openxmlformats.org/drawingml/2006/main">
            <a:pPr algn="l">
              <a:buNone/>
              <a:defRPr sz="3300" b="1">
                <a:solidFill>
                  <a:srgbClr val="142D38"/>
                </a:solidFill>
                <a:latin typeface="Arial"/>
                <a:ea typeface="Arial"/>
                <a:cs typeface="Arial"/>
              </a:defRPr>
            </a:pPr>
            <a:r>
              <a:rPr sz="3300" b="1">
                <a:solidFill>
                  <a:srgbClr val="142D38"/>
                </a:solidFill>
                <a:latin typeface="Arial"/>
                <a:ea typeface="Arial"/>
                <a:cs typeface="Arial"/>
              </a:rPr>
              <a:t>Research questions</a:t>
            </a:r>
          </a:p>
        </p:txBody>
      </p:sp>
      <p:sp>
        <p:nvSpPr>
          <p:cNvPr id="2" name="A-SNN Evidence-1">
            <a:extLst xmlns:a="http://schemas.openxmlformats.org/drawingml/2006/main">
              <a:ext uri="{FF2B5EF4-FFF2-40B4-BE49-F238E27FC236}">
                <a16:creationId xmlns:a16="http://schemas.microsoft.com/office/drawing/2014/main" id="{8B760178-AF16-48BB-B3AF-DEDBDB8F2875}"/>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672"/>
                </a:solidFill>
                <a:latin typeface="Arial"/>
                <a:ea typeface="Arial"/>
                <a:cs typeface="Arial"/>
              </a:defRPr>
            </a:defPPr>
          </a:lstStyle>
          <a:p xmlns:a="http://schemas.openxmlformats.org/drawingml/2006/main">
            <a:pPr algn="l">
              <a:buNone/>
              <a:defRPr sz="1350" b="0">
                <a:solidFill>
                  <a:srgbClr val="536672"/>
                </a:solidFill>
                <a:latin typeface="Arial"/>
                <a:ea typeface="Arial"/>
                <a:cs typeface="Arial"/>
              </a:defRPr>
            </a:pPr>
            <a:r>
              <a:rPr sz="1350" b="0">
                <a:solidFill>
                  <a:srgbClr val="536672"/>
                </a:solidFill>
                <a:latin typeface="Arial"/>
                <a:ea typeface="Arial"/>
                <a:cs typeface="Arial"/>
              </a:rPr>
              <a:t>A-SNN Evidence-1</a:t>
            </a:r>
          </a:p>
        </p:txBody>
      </p:sp>
      <p:sp>
        <p:nvSpPr>
          <p:cNvPr id="3" name="2">
            <a:extLst xmlns:a="http://schemas.openxmlformats.org/drawingml/2006/main">
              <a:ext uri="{FF2B5EF4-FFF2-40B4-BE49-F238E27FC236}">
                <a16:creationId xmlns:a16="http://schemas.microsoft.com/office/drawing/2014/main" id="{82D75874-C575-4347-96E6-0487C17425A7}"/>
              </a:ext>
            </a:extLst>
          </p:cNvPr>
          <p:cNvSpPr>
            <a:spLocks xmlns:a="http://schemas.openxmlformats.org/drawingml/2006/main" noGrp="1"/>
          </p:cNvSpPr>
          <p:nvPr/>
        </p:nvSpPr>
        <p:spPr>
          <a:xfrm xmlns:a="http://schemas.openxmlformats.org/drawingml/2006/main">
            <a:off x="11049000" y="64008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672"/>
                </a:solidFill>
                <a:latin typeface="Arial"/>
                <a:ea typeface="Arial"/>
                <a:cs typeface="Arial"/>
              </a:defRPr>
            </a:defPPr>
          </a:lstStyle>
          <a:p xmlns:a="http://schemas.openxmlformats.org/drawingml/2006/main">
            <a:pPr algn="r">
              <a:buNone/>
              <a:defRPr sz="1350" b="0">
                <a:solidFill>
                  <a:srgbClr val="536672"/>
                </a:solidFill>
                <a:latin typeface="Arial"/>
                <a:ea typeface="Arial"/>
                <a:cs typeface="Arial"/>
              </a:defRPr>
            </a:pPr>
            <a:r>
              <a:rPr sz="1350" b="0">
                <a:solidFill>
                  <a:srgbClr val="536672"/>
                </a:solidFill>
                <a:latin typeface="Arial"/>
                <a:ea typeface="Arial"/>
                <a:cs typeface="Arial"/>
              </a:rPr>
              <a:t>2</a:t>
            </a:r>
          </a:p>
        </p:txBody>
      </p:sp>
      <p:sp>
        <p:nvSpPr>
          <p:cNvPr id="4" name="Does the trained classifier use its sample-specific spiking ">
            <a:extLst xmlns:a="http://schemas.openxmlformats.org/drawingml/2006/main">
              <a:ext uri="{FF2B5EF4-FFF2-40B4-BE49-F238E27FC236}">
                <a16:creationId xmlns:a16="http://schemas.microsoft.com/office/drawing/2014/main" id="{F01CFBB4-F80B-4FAB-A487-E4D0297B6BFF}"/>
              </a:ext>
            </a:extLst>
          </p:cNvPr>
          <p:cNvSpPr>
            <a:spLocks xmlns:a="http://schemas.openxmlformats.org/drawingml/2006/main" noGrp="1"/>
          </p:cNvSpPr>
          <p:nvPr/>
        </p:nvSpPr>
        <p:spPr>
          <a:xfrm xmlns:a="http://schemas.openxmlformats.org/drawingml/2006/main">
            <a:off x="685800" y="17526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42D38"/>
                </a:solidFill>
                <a:latin typeface="Arial"/>
                <a:ea typeface="Arial"/>
                <a:cs typeface="Arial"/>
              </a:defRPr>
            </a:defPPr>
          </a:lstStyle>
          <a:p xmlns:a="http://schemas.openxmlformats.org/drawingml/2006/main">
            <a:pPr algn="l">
              <a:buNone/>
              <a:defRPr sz="2325" b="0">
                <a:solidFill>
                  <a:srgbClr val="142D38"/>
                </a:solidFill>
                <a:latin typeface="Arial"/>
                <a:ea typeface="Arial"/>
                <a:cs typeface="Arial"/>
              </a:defRPr>
            </a:pPr>
            <a:r>
              <a:rPr sz="2325" b="0">
                <a:solidFill>
                  <a:srgbClr val="142D38"/>
                </a:solidFill>
                <a:latin typeface="Arial"/>
                <a:ea typeface="Arial"/>
                <a:cs typeface="Arial"/>
              </a:rPr>
              <a:t>Does the trained classifier use its original sample-state pairing?</a:t>
            </a:r>
          </a:p>
        </p:txBody>
      </p:sp>
      <p:sp>
        <p:nvSpPr>
          <p:cNvPr id="5" name="Does the full model satisfy the registered accuracy margin a">
            <a:extLst xmlns:a="http://schemas.openxmlformats.org/drawingml/2006/main">
              <a:ext uri="{FF2B5EF4-FFF2-40B4-BE49-F238E27FC236}">
                <a16:creationId xmlns:a16="http://schemas.microsoft.com/office/drawing/2014/main" id="{E33DF9E6-809D-4018-A1F6-95042EF2E190}"/>
              </a:ext>
            </a:extLst>
          </p:cNvPr>
          <p:cNvSpPr>
            <a:spLocks xmlns:a="http://schemas.openxmlformats.org/drawingml/2006/main" noGrp="1"/>
          </p:cNvSpPr>
          <p:nvPr/>
        </p:nvSpPr>
        <p:spPr>
          <a:xfrm xmlns:a="http://schemas.openxmlformats.org/drawingml/2006/main">
            <a:off x="685800" y="29146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42D38"/>
                </a:solidFill>
                <a:latin typeface="Arial"/>
                <a:ea typeface="Arial"/>
                <a:cs typeface="Arial"/>
              </a:defRPr>
            </a:defPPr>
          </a:lstStyle>
          <a:p xmlns:a="http://schemas.openxmlformats.org/drawingml/2006/main">
            <a:pPr algn="l">
              <a:buNone/>
              <a:defRPr sz="2325" b="0">
                <a:solidFill>
                  <a:srgbClr val="142D38"/>
                </a:solidFill>
                <a:latin typeface="Arial"/>
                <a:ea typeface="Arial"/>
                <a:cs typeface="Arial"/>
              </a:defRPr>
            </a:pPr>
            <a:r>
              <a:rPr sz="2325" b="0">
                <a:solidFill>
                  <a:srgbClr val="142D38"/>
                </a:solidFill>
                <a:latin typeface="Arial"/>
                <a:ea typeface="Arial"/>
                <a:cs typeface="Arial"/>
              </a:rPr>
              <a:t>Does the full model satisfy the registered accuracy margin against dense controls?</a:t>
            </a:r>
          </a:p>
        </p:txBody>
      </p:sp>
      <p:sp>
        <p:nvSpPr>
          <p:cNvPr id="6" name="Does compiled inference preserve the checkpoint’s numerical ">
            <a:extLst xmlns:a="http://schemas.openxmlformats.org/drawingml/2006/main">
              <a:ext uri="{FF2B5EF4-FFF2-40B4-BE49-F238E27FC236}">
                <a16:creationId xmlns:a16="http://schemas.microsoft.com/office/drawing/2014/main" id="{40339FCE-485A-4521-99AB-F92BA3B926B4}"/>
              </a:ext>
            </a:extLst>
          </p:cNvPr>
          <p:cNvSpPr>
            <a:spLocks xmlns:a="http://schemas.openxmlformats.org/drawingml/2006/main" noGrp="1"/>
          </p:cNvSpPr>
          <p:nvPr/>
        </p:nvSpPr>
        <p:spPr>
          <a:xfrm xmlns:a="http://schemas.openxmlformats.org/drawingml/2006/main">
            <a:off x="685800" y="40767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42D38"/>
                </a:solidFill>
                <a:latin typeface="Arial"/>
                <a:ea typeface="Arial"/>
                <a:cs typeface="Arial"/>
              </a:defRPr>
            </a:defPPr>
          </a:lstStyle>
          <a:p xmlns:a="http://schemas.openxmlformats.org/drawingml/2006/main">
            <a:pPr algn="l">
              <a:buNone/>
              <a:defRPr sz="2325" b="0">
                <a:solidFill>
                  <a:srgbClr val="142D38"/>
                </a:solidFill>
                <a:latin typeface="Arial"/>
                <a:ea typeface="Arial"/>
                <a:cs typeface="Arial"/>
              </a:defRPr>
            </a:pPr>
            <a:r>
              <a:rPr sz="2325" b="0">
                <a:solidFill>
                  <a:srgbClr val="142D38"/>
                </a:solidFill>
                <a:latin typeface="Arial"/>
                <a:ea typeface="Arial"/>
                <a:cs typeface="Arial"/>
              </a:rPr>
              <a:t>Does compiled inference preserve the checkpoint’s numerical output?</a:t>
            </a:r>
          </a:p>
        </p:txBody>
      </p:sp>
      <p:sp>
        <p:nvSpPr>
          <p:cNvPr id="7" name="Separate criteria prevent a positive ablation result from be">
            <a:extLst xmlns:a="http://schemas.openxmlformats.org/drawingml/2006/main">
              <a:ext uri="{FF2B5EF4-FFF2-40B4-BE49-F238E27FC236}">
                <a16:creationId xmlns:a16="http://schemas.microsoft.com/office/drawing/2014/main" id="{2DCF08BC-2008-4672-96C0-F5DB4374AC8A}"/>
              </a:ext>
            </a:extLst>
          </p:cNvPr>
          <p:cNvSpPr>
            <a:spLocks xmlns:a="http://schemas.openxmlformats.org/drawingml/2006/main" noGrp="1"/>
          </p:cNvSpPr>
          <p:nvPr/>
        </p:nvSpPr>
        <p:spPr>
          <a:xfrm xmlns:a="http://schemas.openxmlformats.org/drawingml/2006/main">
            <a:off x="685800" y="56388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87C83"/>
                </a:solidFill>
                <a:latin typeface="Arial"/>
                <a:ea typeface="Arial"/>
                <a:cs typeface="Arial"/>
              </a:defRPr>
            </a:defPPr>
          </a:lstStyle>
          <a:p xmlns:a="http://schemas.openxmlformats.org/drawingml/2006/main">
            <a:pPr algn="l">
              <a:buNone/>
              <a:defRPr sz="1875" b="1">
                <a:solidFill>
                  <a:srgbClr val="087C83"/>
                </a:solidFill>
                <a:latin typeface="Arial"/>
                <a:ea typeface="Arial"/>
                <a:cs typeface="Arial"/>
              </a:defRPr>
            </a:pPr>
            <a:r>
              <a:rPr sz="1875" b="1">
                <a:solidFill>
                  <a:srgbClr val="087C83"/>
                </a:solidFill>
                <a:latin typeface="Arial"/>
                <a:ea typeface="Arial"/>
                <a:cs typeface="Arial"/>
              </a:rPr>
              <a:t>Separate criteria prevent a positive ablation result from becoming a claim of overall superiority.</a:t>
            </a:r>
          </a:p>
        </p:txBody>
      </p:sp>
    </p:spTree>
    <p:extLst>
      <p:ext uri="{BB962C8B-B14F-4D97-AF65-F5344CB8AC3E}">
        <p14:creationId xmlns:p14="http://schemas.microsoft.com/office/powerpoint/2010/main" val="56229512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7C36CA91-48FB-4D0D-81E2-E9286FB04F33}"/>
              </a:ext>
            </a:extLst>
          </p:cNvPr>
          <p:cNvCxnSpPr>
            <a:stCxn xmlns:a="http://schemas.openxmlformats.org/drawingml/2006/main" id="7" idx="3"/>
            <a:endCxn xmlns:a="http://schemas.openxmlformats.org/drawingml/2006/main" id="8" idx="1"/>
          </p:cNvCxnSpPr>
          <p:nvPr/>
        </p:nvCxnSpPr>
        <p:spPr>
          <a:xfrm xmlns:a="http://schemas.openxmlformats.org/drawingml/2006/main" flipV="1">
            <a:off x="8667750" y="3429000"/>
            <a:ext cx="762000" cy="952500"/>
          </a:xfrm>
          <a:prstGeom xmlns:a="http://schemas.openxmlformats.org/drawingml/2006/main" prst="bentConnector3">
            <a:avLst>
              <a:gd name="adj1" fmla="val 50000"/>
            </a:avLst>
          </a:prstGeom>
          <a:ln xmlns:a="http://schemas.openxmlformats.org/drawingml/2006/main" w="19050">
            <a:solidFill>
              <a:srgbClr val="087C83"/>
            </a:solidFill>
            <a:tailEnd type="arrow" w="med" len="med"/>
          </a:ln>
        </p:spPr>
      </p:cxnSp>
      <p:cxnSp>
        <p:nvCxnSpPr>
          <p:cNvPr id="12" name="">
            <a:extLst xmlns:a="http://schemas.openxmlformats.org/drawingml/2006/main">
              <a:ext uri="{FF2B5EF4-FFF2-40B4-BE49-F238E27FC236}">
                <a16:creationId xmlns:a16="http://schemas.microsoft.com/office/drawing/2014/main" id="{ADC6D5AA-4B36-4979-AAD1-760E2EB43422}"/>
              </a:ext>
            </a:extLst>
          </p:cNvPr>
          <p:cNvCxnSpPr>
            <a:stCxn xmlns:a="http://schemas.openxmlformats.org/drawingml/2006/main" id="6" idx="3"/>
            <a:endCxn xmlns:a="http://schemas.openxmlformats.org/drawingml/2006/main" id="8" idx="1"/>
          </p:cNvCxnSpPr>
          <p:nvPr/>
        </p:nvCxnSpPr>
        <p:spPr>
          <a:xfrm xmlns:a="http://schemas.openxmlformats.org/drawingml/2006/main">
            <a:off x="8667750" y="2457450"/>
            <a:ext cx="762000" cy="971550"/>
          </a:xfrm>
          <a:prstGeom xmlns:a="http://schemas.openxmlformats.org/drawingml/2006/main" prst="bentConnector3">
            <a:avLst>
              <a:gd name="adj1" fmla="val 50000"/>
            </a:avLst>
          </a:prstGeom>
          <a:ln xmlns:a="http://schemas.openxmlformats.org/drawingml/2006/main" w="19050">
            <a:solidFill>
              <a:srgbClr val="087C83"/>
            </a:solidFill>
            <a:tailEnd type="arrow" w="med" len="med"/>
          </a:ln>
        </p:spPr>
      </p:cxnSp>
      <p:cxnSp>
        <p:nvCxnSpPr>
          <p:cNvPr id="11" name="">
            <a:extLst xmlns:a="http://schemas.openxmlformats.org/drawingml/2006/main">
              <a:ext uri="{FF2B5EF4-FFF2-40B4-BE49-F238E27FC236}">
                <a16:creationId xmlns:a16="http://schemas.microsoft.com/office/drawing/2014/main" id="{CD74B824-6B9E-4CFC-9E3F-02ED0FC62F0C}"/>
              </a:ext>
            </a:extLst>
          </p:cNvPr>
          <p:cNvCxnSpPr>
            <a:stCxn xmlns:a="http://schemas.openxmlformats.org/drawingml/2006/main" id="5" idx="3"/>
            <a:endCxn xmlns:a="http://schemas.openxmlformats.org/drawingml/2006/main" id="7" idx="1"/>
          </p:cNvCxnSpPr>
          <p:nvPr/>
        </p:nvCxnSpPr>
        <p:spPr>
          <a:xfrm xmlns:a="http://schemas.openxmlformats.org/drawingml/2006/main">
            <a:off x="5381625" y="3429000"/>
            <a:ext cx="809625" cy="952500"/>
          </a:xfrm>
          <a:prstGeom xmlns:a="http://schemas.openxmlformats.org/drawingml/2006/main" prst="bentConnector3">
            <a:avLst>
              <a:gd name="adj1" fmla="val 50000"/>
            </a:avLst>
          </a:prstGeom>
          <a:ln xmlns:a="http://schemas.openxmlformats.org/drawingml/2006/main" w="19050">
            <a:solidFill>
              <a:srgbClr val="087C83"/>
            </a:solidFill>
            <a:tailEnd type="arrow" w="med" len="med"/>
          </a:ln>
        </p:spPr>
      </p:cxnSp>
      <p:cxnSp>
        <p:nvCxnSpPr>
          <p:cNvPr id="10" name="">
            <a:extLst xmlns:a="http://schemas.openxmlformats.org/drawingml/2006/main">
              <a:ext uri="{FF2B5EF4-FFF2-40B4-BE49-F238E27FC236}">
                <a16:creationId xmlns:a16="http://schemas.microsoft.com/office/drawing/2014/main" id="{85EB6B6B-7EF6-49D0-8874-30FDF17C9D73}"/>
              </a:ext>
            </a:extLst>
          </p:cNvPr>
          <p:cNvCxnSpPr>
            <a:stCxn xmlns:a="http://schemas.openxmlformats.org/drawingml/2006/main" id="5" idx="3"/>
            <a:endCxn xmlns:a="http://schemas.openxmlformats.org/drawingml/2006/main" id="6" idx="1"/>
          </p:cNvCxnSpPr>
          <p:nvPr/>
        </p:nvCxnSpPr>
        <p:spPr>
          <a:xfrm xmlns:a="http://schemas.openxmlformats.org/drawingml/2006/main" flipV="1">
            <a:off x="5381625" y="2457450"/>
            <a:ext cx="809625" cy="971550"/>
          </a:xfrm>
          <a:prstGeom xmlns:a="http://schemas.openxmlformats.org/drawingml/2006/main" prst="bentConnector3">
            <a:avLst>
              <a:gd name="adj1" fmla="val 50000"/>
            </a:avLst>
          </a:prstGeom>
          <a:ln xmlns:a="http://schemas.openxmlformats.org/drawingml/2006/main" w="19050">
            <a:solidFill>
              <a:srgbClr val="087C83"/>
            </a:solidFill>
            <a:tailEnd type="arrow" w="med" len="med"/>
          </a:ln>
        </p:spPr>
      </p:cxnSp>
      <p:cxnSp>
        <p:nvCxnSpPr>
          <p:cNvPr id="9" name="">
            <a:extLst xmlns:a="http://schemas.openxmlformats.org/drawingml/2006/main">
              <a:ext uri="{FF2B5EF4-FFF2-40B4-BE49-F238E27FC236}">
                <a16:creationId xmlns:a16="http://schemas.microsoft.com/office/drawing/2014/main" id="{71CA48D7-5429-47D1-8152-7FBDEFF78737}"/>
              </a:ext>
            </a:extLst>
          </p:cNvPr>
          <p:cNvCxnSpPr>
            <a:stCxn xmlns:a="http://schemas.openxmlformats.org/drawingml/2006/main" id="4" idx="3"/>
            <a:endCxn xmlns:a="http://schemas.openxmlformats.org/drawingml/2006/main" id="5" idx="1"/>
          </p:cNvCxnSpPr>
          <p:nvPr/>
        </p:nvCxnSpPr>
        <p:spPr>
          <a:xfrm xmlns:a="http://schemas.openxmlformats.org/drawingml/2006/main">
            <a:off x="2800350" y="3429000"/>
            <a:ext cx="485775" cy="0"/>
          </a:xfrm>
          <a:prstGeom xmlns:a="http://schemas.openxmlformats.org/drawingml/2006/main" prst="straightConnector1">
            <a:avLst/>
          </a:prstGeom>
          <a:ln xmlns:a="http://schemas.openxmlformats.org/drawingml/2006/main" w="19050">
            <a:solidFill>
              <a:srgbClr val="087C83"/>
            </a:solidFill>
            <a:tailEnd type="arrow" w="med" len="med"/>
          </a:ln>
        </p:spPr>
      </p:cxnSp>
      <p:sp>
        <p:nvSpPr>
          <p:cNvPr id="15" name="Residual LIF architecture">
            <a:extLst xmlns:a="http://schemas.openxmlformats.org/drawingml/2006/main">
              <a:ext uri="{FF2B5EF4-FFF2-40B4-BE49-F238E27FC236}">
                <a16:creationId xmlns:a16="http://schemas.microsoft.com/office/drawing/2014/main" id="{C8E67DF9-2CA0-4A1F-A254-135AEFD1AF17}"/>
              </a:ext>
            </a:extLst>
          </p:cNvPr>
          <p:cNvSpPr>
            <a:spLocks xmlns:a="http://schemas.openxmlformats.org/drawingml/2006/main" noGrp="1"/>
          </p:cNvSpPr>
          <p:nvPr/>
        </p:nvSpPr>
        <p:spPr>
          <a:xfrm xmlns:a="http://schemas.openxmlformats.org/drawingml/2006/main">
            <a:off x="609600" y="4000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D38"/>
                </a:solidFill>
                <a:latin typeface="Arial"/>
                <a:ea typeface="Arial"/>
                <a:cs typeface="Arial"/>
              </a:defRPr>
            </a:defPPr>
          </a:lstStyle>
          <a:p xmlns:a="http://schemas.openxmlformats.org/drawingml/2006/main">
            <a:pPr algn="l">
              <a:buNone/>
              <a:defRPr sz="3300" b="1">
                <a:solidFill>
                  <a:srgbClr val="142D38"/>
                </a:solidFill>
                <a:latin typeface="Arial"/>
                <a:ea typeface="Arial"/>
                <a:cs typeface="Arial"/>
              </a:defRPr>
            </a:pPr>
            <a:r>
              <a:rPr sz="3300" b="1">
                <a:solidFill>
                  <a:srgbClr val="142D38"/>
                </a:solidFill>
                <a:latin typeface="Arial"/>
                <a:ea typeface="Arial"/>
                <a:cs typeface="Arial"/>
              </a:rPr>
              <a:t>Residual LIF architecture</a:t>
            </a:r>
          </a:p>
        </p:txBody>
      </p:sp>
      <p:sp>
        <p:nvSpPr>
          <p:cNvPr id="2" name="A-SNN Evidence-1">
            <a:extLst xmlns:a="http://schemas.openxmlformats.org/drawingml/2006/main">
              <a:ext uri="{FF2B5EF4-FFF2-40B4-BE49-F238E27FC236}">
                <a16:creationId xmlns:a16="http://schemas.microsoft.com/office/drawing/2014/main" id="{9A0F7015-ADC1-4FC5-8FBB-E1F2E257BB7F}"/>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672"/>
                </a:solidFill>
                <a:latin typeface="Arial"/>
                <a:ea typeface="Arial"/>
                <a:cs typeface="Arial"/>
              </a:defRPr>
            </a:defPPr>
          </a:lstStyle>
          <a:p xmlns:a="http://schemas.openxmlformats.org/drawingml/2006/main">
            <a:pPr algn="l">
              <a:buNone/>
              <a:defRPr sz="1350" b="0">
                <a:solidFill>
                  <a:srgbClr val="536672"/>
                </a:solidFill>
                <a:latin typeface="Arial"/>
                <a:ea typeface="Arial"/>
                <a:cs typeface="Arial"/>
              </a:defRPr>
            </a:pPr>
            <a:r>
              <a:rPr sz="1350" b="0">
                <a:solidFill>
                  <a:srgbClr val="536672"/>
                </a:solidFill>
                <a:latin typeface="Arial"/>
                <a:ea typeface="Arial"/>
                <a:cs typeface="Arial"/>
              </a:rPr>
              <a:t>A-SNN Evidence-1</a:t>
            </a:r>
          </a:p>
        </p:txBody>
      </p:sp>
      <p:sp>
        <p:nvSpPr>
          <p:cNvPr id="3" name="3">
            <a:extLst xmlns:a="http://schemas.openxmlformats.org/drawingml/2006/main">
              <a:ext uri="{FF2B5EF4-FFF2-40B4-BE49-F238E27FC236}">
                <a16:creationId xmlns:a16="http://schemas.microsoft.com/office/drawing/2014/main" id="{E36DF203-B351-4778-8A48-2A12734AE3BE}"/>
              </a:ext>
            </a:extLst>
          </p:cNvPr>
          <p:cNvSpPr>
            <a:spLocks xmlns:a="http://schemas.openxmlformats.org/drawingml/2006/main" noGrp="1"/>
          </p:cNvSpPr>
          <p:nvPr/>
        </p:nvSpPr>
        <p:spPr>
          <a:xfrm xmlns:a="http://schemas.openxmlformats.org/drawingml/2006/main">
            <a:off x="11049000" y="64008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672"/>
                </a:solidFill>
                <a:latin typeface="Arial"/>
                <a:ea typeface="Arial"/>
                <a:cs typeface="Arial"/>
              </a:defRPr>
            </a:defPPr>
          </a:lstStyle>
          <a:p xmlns:a="http://schemas.openxmlformats.org/drawingml/2006/main">
            <a:pPr algn="r">
              <a:buNone/>
              <a:defRPr sz="1350" b="0">
                <a:solidFill>
                  <a:srgbClr val="536672"/>
                </a:solidFill>
                <a:latin typeface="Arial"/>
                <a:ea typeface="Arial"/>
                <a:cs typeface="Arial"/>
              </a:defRPr>
            </a:pPr>
            <a:r>
              <a:rPr sz="1350" b="0">
                <a:solidFill>
                  <a:srgbClr val="536672"/>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6A016D11-A3F2-49BB-9E9F-ED1C3FFC62EA}"/>
              </a:ext>
            </a:extLst>
          </p:cNvPr>
          <p:cNvSpPr>
            <a:spLocks xmlns:a="http://schemas.openxmlformats.org/drawingml/2006/main" noGrp="1"/>
          </p:cNvSpPr>
          <p:nvPr/>
        </p:nvSpPr>
        <p:spPr>
          <a:xfrm xmlns:a="http://schemas.openxmlformats.org/drawingml/2006/main">
            <a:off x="609600" y="2857500"/>
            <a:ext cx="2190750" cy="1143000"/>
          </a:xfrm>
          <a:prstGeom xmlns:a="http://schemas.openxmlformats.org/drawingml/2006/main" prst="rect">
            <a:avLst/>
          </a:prstGeom>
          <a:solidFill xmlns:a="http://schemas.openxmlformats.org/drawingml/2006/main">
            <a:srgbClr val="F3F7F7"/>
          </a:solidFill>
          <a:ln xmlns:a="http://schemas.openxmlformats.org/drawingml/2006/main" w="19050">
            <a:solidFill>
              <a:srgbClr val="087C83"/>
            </a:solidFill>
          </a:ln>
        </p:spPr>
        <p:txBody>
          <a:bodyPr xmlns:a="http://schemas.openxmlformats.org/drawingml/2006/main" lIns="133350" tIns="133350" rIns="133350" bIns="133350" anchor="ctr"/>
          <a:lstStyle xmlns:a="http://schemas.openxmlformats.org/drawingml/2006/main">
            <a:defPPr algn="ctr">
              <a:defRPr sz="1950">
                <a:solidFill>
                  <a:srgbClr val="142D38"/>
                </a:solidFill>
                <a:latin typeface="Arial"/>
                <a:ea typeface="Arial"/>
                <a:cs typeface="Arial"/>
              </a:defRPr>
            </a:defPPr>
          </a:lstStyle>
          <a:p xmlns:a="http://schemas.openxmlformats.org/drawingml/2006/main">
            <a:pPr algn="ctr">
              <a:buNone/>
              <a:defRPr sz="1950">
                <a:solidFill>
                  <a:srgbClr val="142D38"/>
                </a:solidFill>
                <a:latin typeface="Arial"/>
                <a:ea typeface="Arial"/>
                <a:cs typeface="Arial"/>
              </a:defRPr>
            </a:pPr>
            <a:r>
              <a:rPr sz="1950">
                <a:solidFill>
                  <a:srgbClr val="142D38"/>
                </a:solidFill>
                <a:latin typeface="Arial"/>
                <a:ea typeface="Arial"/>
                <a:cs typeface="Arial"/>
              </a:rPr>
              <a:t>Binary events</a:t>
            </a:r>
          </a:p>
          <a:p xmlns:a="http://schemas.openxmlformats.org/drawingml/2006/main">
            <a:pPr algn="ctr">
              <a:buNone/>
              <a:defRPr sz="1950">
                <a:solidFill>
                  <a:srgbClr val="142D38"/>
                </a:solidFill>
                <a:latin typeface="Arial"/>
                <a:ea typeface="Arial"/>
                <a:cs typeface="Arial"/>
              </a:defRPr>
            </a:pPr>
            <a:r>
              <a:rPr sz="1950">
                <a:solidFill>
                  <a:srgbClr val="142D38"/>
                </a:solidFill>
                <a:latin typeface="Arial"/>
                <a:ea typeface="Arial"/>
                <a:cs typeface="Arial"/>
              </a:rPr>
              <a:t>64 bins × 700 channels</a:t>
            </a:r>
          </a:p>
        </p:txBody>
      </p:sp>
      <p:sp>
        <p:nvSpPr>
          <p:cNvPr id="5" name="">
            <a:extLst xmlns:a="http://schemas.openxmlformats.org/drawingml/2006/main">
              <a:ext uri="{FF2B5EF4-FFF2-40B4-BE49-F238E27FC236}">
                <a16:creationId xmlns:a16="http://schemas.microsoft.com/office/drawing/2014/main" id="{19966D14-D723-40EC-B27A-6E535E51A66E}"/>
              </a:ext>
            </a:extLst>
          </p:cNvPr>
          <p:cNvSpPr>
            <a:spLocks xmlns:a="http://schemas.openxmlformats.org/drawingml/2006/main" noGrp="1"/>
          </p:cNvSpPr>
          <p:nvPr/>
        </p:nvSpPr>
        <p:spPr>
          <a:xfrm xmlns:a="http://schemas.openxmlformats.org/drawingml/2006/main">
            <a:off x="3286125" y="2857500"/>
            <a:ext cx="2095500" cy="1143000"/>
          </a:xfrm>
          <a:prstGeom xmlns:a="http://schemas.openxmlformats.org/drawingml/2006/main" prst="rect">
            <a:avLst/>
          </a:prstGeom>
          <a:solidFill xmlns:a="http://schemas.openxmlformats.org/drawingml/2006/main">
            <a:srgbClr val="F3F7F7"/>
          </a:solidFill>
          <a:ln xmlns:a="http://schemas.openxmlformats.org/drawingml/2006/main" w="19050">
            <a:solidFill>
              <a:srgbClr val="087C83"/>
            </a:solidFill>
          </a:ln>
        </p:spPr>
        <p:txBody>
          <a:bodyPr xmlns:a="http://schemas.openxmlformats.org/drawingml/2006/main" lIns="133350" tIns="133350" rIns="133350" bIns="133350" anchor="ctr"/>
          <a:lstStyle xmlns:a="http://schemas.openxmlformats.org/drawingml/2006/main">
            <a:defPPr algn="ctr">
              <a:defRPr sz="1950">
                <a:solidFill>
                  <a:srgbClr val="142D38"/>
                </a:solidFill>
                <a:latin typeface="Arial"/>
                <a:ea typeface="Arial"/>
                <a:cs typeface="Arial"/>
              </a:defRPr>
            </a:defPPr>
          </a:lstStyle>
          <a:p xmlns:a="http://schemas.openxmlformats.org/drawingml/2006/main">
            <a:pPr algn="ctr">
              <a:buNone/>
              <a:defRPr sz="1950">
                <a:solidFill>
                  <a:srgbClr val="142D38"/>
                </a:solidFill>
                <a:latin typeface="Arial"/>
                <a:ea typeface="Arial"/>
                <a:cs typeface="Arial"/>
              </a:defRPr>
            </a:pPr>
            <a:r>
              <a:rPr sz="1950">
                <a:solidFill>
                  <a:srgbClr val="142D38"/>
                </a:solidFill>
                <a:latin typeface="Arial"/>
                <a:ea typeface="Arial"/>
                <a:cs typeface="Arial"/>
              </a:rPr>
              <a:t>Temporal Conv1D</a:t>
            </a:r>
          </a:p>
          <a:p xmlns:a="http://schemas.openxmlformats.org/drawingml/2006/main">
            <a:pPr algn="ctr">
              <a:buNone/>
              <a:defRPr sz="1950">
                <a:solidFill>
                  <a:srgbClr val="142D38"/>
                </a:solidFill>
                <a:latin typeface="Arial"/>
                <a:ea typeface="Arial"/>
                <a:cs typeface="Arial"/>
              </a:defRPr>
            </a:pPr>
            <a:r>
              <a:rPr sz="1950">
                <a:solidFill>
                  <a:srgbClr val="142D38"/>
                </a:solidFill>
                <a:latin typeface="Arial"/>
                <a:ea typeface="Arial"/>
                <a:cs typeface="Arial"/>
              </a:rPr>
              <a:t>Kernel width 5</a:t>
            </a:r>
          </a:p>
        </p:txBody>
      </p:sp>
      <p:sp>
        <p:nvSpPr>
          <p:cNvPr id="6" name="">
            <a:extLst xmlns:a="http://schemas.openxmlformats.org/drawingml/2006/main">
              <a:ext uri="{FF2B5EF4-FFF2-40B4-BE49-F238E27FC236}">
                <a16:creationId xmlns:a16="http://schemas.microsoft.com/office/drawing/2014/main" id="{96FDACE9-B1BC-481B-BE6E-774947337C0A}"/>
              </a:ext>
            </a:extLst>
          </p:cNvPr>
          <p:cNvSpPr>
            <a:spLocks xmlns:a="http://schemas.openxmlformats.org/drawingml/2006/main" noGrp="1"/>
          </p:cNvSpPr>
          <p:nvPr/>
        </p:nvSpPr>
        <p:spPr>
          <a:xfrm xmlns:a="http://schemas.openxmlformats.org/drawingml/2006/main">
            <a:off x="6191250" y="1885950"/>
            <a:ext cx="2476500" cy="1143000"/>
          </a:xfrm>
          <a:prstGeom xmlns:a="http://schemas.openxmlformats.org/drawingml/2006/main" prst="rect">
            <a:avLst/>
          </a:prstGeom>
          <a:solidFill xmlns:a="http://schemas.openxmlformats.org/drawingml/2006/main">
            <a:srgbClr val="F3F7F7"/>
          </a:solidFill>
          <a:ln xmlns:a="http://schemas.openxmlformats.org/drawingml/2006/main" w="19050">
            <a:solidFill>
              <a:srgbClr val="087C83"/>
            </a:solidFill>
          </a:ln>
        </p:spPr>
        <p:txBody>
          <a:bodyPr xmlns:a="http://schemas.openxmlformats.org/drawingml/2006/main" lIns="133350" tIns="133350" rIns="133350" bIns="133350" anchor="ctr"/>
          <a:lstStyle xmlns:a="http://schemas.openxmlformats.org/drawingml/2006/main">
            <a:defPPr algn="ctr">
              <a:defRPr sz="1950">
                <a:solidFill>
                  <a:srgbClr val="142D38"/>
                </a:solidFill>
                <a:latin typeface="Arial"/>
                <a:ea typeface="Arial"/>
                <a:cs typeface="Arial"/>
              </a:defRPr>
            </a:defPPr>
          </a:lstStyle>
          <a:p xmlns:a="http://schemas.openxmlformats.org/drawingml/2006/main">
            <a:pPr algn="ctr">
              <a:buNone/>
              <a:defRPr sz="1950">
                <a:solidFill>
                  <a:srgbClr val="142D38"/>
                </a:solidFill>
                <a:latin typeface="Arial"/>
                <a:ea typeface="Arial"/>
                <a:cs typeface="Arial"/>
              </a:defRPr>
            </a:pPr>
            <a:r>
              <a:rPr sz="1950">
                <a:solidFill>
                  <a:srgbClr val="142D38"/>
                </a:solidFill>
                <a:latin typeface="Arial"/>
                <a:ea typeface="Arial"/>
                <a:cs typeface="Arial"/>
              </a:rPr>
              <a:t>Direct ReLU trace</a:t>
            </a:r>
          </a:p>
          <a:p xmlns:a="http://schemas.openxmlformats.org/drawingml/2006/main">
            <a:pPr algn="ctr">
              <a:buNone/>
              <a:defRPr sz="1950">
                <a:solidFill>
                  <a:srgbClr val="142D38"/>
                </a:solidFill>
                <a:latin typeface="Arial"/>
                <a:ea typeface="Arial"/>
                <a:cs typeface="Arial"/>
              </a:defRPr>
            </a:pPr>
            <a:r>
              <a:rPr sz="1950">
                <a:solidFill>
                  <a:srgbClr val="142D38"/>
                </a:solidFill>
                <a:latin typeface="Arial"/>
                <a:ea typeface="Arial"/>
                <a:cs typeface="Arial"/>
              </a:rPr>
              <a:t>15 pooled windows</a:t>
            </a:r>
          </a:p>
        </p:txBody>
      </p:sp>
      <p:sp>
        <p:nvSpPr>
          <p:cNvPr id="7" name="">
            <a:extLst xmlns:a="http://schemas.openxmlformats.org/drawingml/2006/main">
              <a:ext uri="{FF2B5EF4-FFF2-40B4-BE49-F238E27FC236}">
                <a16:creationId xmlns:a16="http://schemas.microsoft.com/office/drawing/2014/main" id="{4BEFA601-AEC6-4309-AECA-748CB45AFBF0}"/>
              </a:ext>
            </a:extLst>
          </p:cNvPr>
          <p:cNvSpPr>
            <a:spLocks xmlns:a="http://schemas.openxmlformats.org/drawingml/2006/main" noGrp="1"/>
          </p:cNvSpPr>
          <p:nvPr/>
        </p:nvSpPr>
        <p:spPr>
          <a:xfrm xmlns:a="http://schemas.openxmlformats.org/drawingml/2006/main">
            <a:off x="6191250" y="3714750"/>
            <a:ext cx="2476500" cy="1333500"/>
          </a:xfrm>
          <a:prstGeom xmlns:a="http://schemas.openxmlformats.org/drawingml/2006/main" prst="rect">
            <a:avLst/>
          </a:prstGeom>
          <a:solidFill xmlns:a="http://schemas.openxmlformats.org/drawingml/2006/main">
            <a:srgbClr val="F3F7F7"/>
          </a:solidFill>
          <a:ln xmlns:a="http://schemas.openxmlformats.org/drawingml/2006/main" w="19050">
            <a:solidFill>
              <a:srgbClr val="087C83"/>
            </a:solidFill>
          </a:ln>
        </p:spPr>
        <p:txBody>
          <a:bodyPr xmlns:a="http://schemas.openxmlformats.org/drawingml/2006/main" lIns="133350" tIns="133350" rIns="133350" bIns="133350" anchor="ctr"/>
          <a:lstStyle xmlns:a="http://schemas.openxmlformats.org/drawingml/2006/main">
            <a:defPPr algn="ctr">
              <a:defRPr sz="1950">
                <a:solidFill>
                  <a:srgbClr val="142D38"/>
                </a:solidFill>
                <a:latin typeface="Arial"/>
                <a:ea typeface="Arial"/>
                <a:cs typeface="Arial"/>
              </a:defRPr>
            </a:defPPr>
          </a:lstStyle>
          <a:p xmlns:a="http://schemas.openxmlformats.org/drawingml/2006/main">
            <a:pPr algn="ctr">
              <a:buNone/>
              <a:defRPr sz="1950">
                <a:solidFill>
                  <a:srgbClr val="142D38"/>
                </a:solidFill>
                <a:latin typeface="Arial"/>
                <a:ea typeface="Arial"/>
                <a:cs typeface="Arial"/>
              </a:defRPr>
            </a:pPr>
            <a:r>
              <a:rPr sz="1950">
                <a:solidFill>
                  <a:srgbClr val="142D38"/>
                </a:solidFill>
                <a:latin typeface="Arial"/>
                <a:ea typeface="Arial"/>
                <a:cs typeface="Arial"/>
              </a:rPr>
              <a:t>LIF spike trace</a:t>
            </a:r>
          </a:p>
          <a:p xmlns:a="http://schemas.openxmlformats.org/drawingml/2006/main">
            <a:pPr algn="ctr">
              <a:buNone/>
              <a:defRPr sz="1950">
                <a:solidFill>
                  <a:srgbClr val="142D38"/>
                </a:solidFill>
                <a:latin typeface="Arial"/>
                <a:ea typeface="Arial"/>
                <a:cs typeface="Arial"/>
              </a:defRPr>
            </a:pPr>
            <a:r>
              <a:rPr sz="1950">
                <a:solidFill>
                  <a:srgbClr val="142D38"/>
                </a:solidFill>
                <a:latin typeface="Arial"/>
                <a:ea typeface="Arial"/>
                <a:cs typeface="Arial"/>
              </a:rPr>
              <a:t>15 windows + final membrane</a:t>
            </a:r>
          </a:p>
        </p:txBody>
      </p:sp>
      <p:sp>
        <p:nvSpPr>
          <p:cNvPr id="8" name="">
            <a:extLst xmlns:a="http://schemas.openxmlformats.org/drawingml/2006/main">
              <a:ext uri="{FF2B5EF4-FFF2-40B4-BE49-F238E27FC236}">
                <a16:creationId xmlns:a16="http://schemas.microsoft.com/office/drawing/2014/main" id="{1599E193-E309-4309-9FFF-E2CC36B53DBB}"/>
              </a:ext>
            </a:extLst>
          </p:cNvPr>
          <p:cNvSpPr>
            <a:spLocks xmlns:a="http://schemas.openxmlformats.org/drawingml/2006/main" noGrp="1"/>
          </p:cNvSpPr>
          <p:nvPr/>
        </p:nvSpPr>
        <p:spPr>
          <a:xfrm xmlns:a="http://schemas.openxmlformats.org/drawingml/2006/main">
            <a:off x="9429750" y="2857500"/>
            <a:ext cx="2190750" cy="1143000"/>
          </a:xfrm>
          <a:prstGeom xmlns:a="http://schemas.openxmlformats.org/drawingml/2006/main" prst="rect">
            <a:avLst/>
          </a:prstGeom>
          <a:solidFill xmlns:a="http://schemas.openxmlformats.org/drawingml/2006/main">
            <a:srgbClr val="F3F7F7"/>
          </a:solidFill>
          <a:ln xmlns:a="http://schemas.openxmlformats.org/drawingml/2006/main" w="19050">
            <a:solidFill>
              <a:srgbClr val="087C83"/>
            </a:solidFill>
          </a:ln>
        </p:spPr>
        <p:txBody>
          <a:bodyPr xmlns:a="http://schemas.openxmlformats.org/drawingml/2006/main" lIns="133350" tIns="133350" rIns="133350" bIns="133350" anchor="ctr"/>
          <a:lstStyle xmlns:a="http://schemas.openxmlformats.org/drawingml/2006/main">
            <a:defPPr algn="ctr">
              <a:defRPr sz="1950">
                <a:solidFill>
                  <a:srgbClr val="142D38"/>
                </a:solidFill>
                <a:latin typeface="Arial"/>
                <a:ea typeface="Arial"/>
                <a:cs typeface="Arial"/>
              </a:defRPr>
            </a:defPPr>
          </a:lstStyle>
          <a:p xmlns:a="http://schemas.openxmlformats.org/drawingml/2006/main">
            <a:pPr algn="ctr">
              <a:buNone/>
              <a:defRPr sz="1950">
                <a:solidFill>
                  <a:srgbClr val="142D38"/>
                </a:solidFill>
                <a:latin typeface="Arial"/>
                <a:ea typeface="Arial"/>
                <a:cs typeface="Arial"/>
              </a:defRPr>
            </a:pPr>
            <a:r>
              <a:rPr sz="1950">
                <a:solidFill>
                  <a:srgbClr val="142D38"/>
                </a:solidFill>
                <a:latin typeface="Arial"/>
                <a:ea typeface="Arial"/>
                <a:cs typeface="Arial"/>
              </a:rPr>
              <a:t>Concatenation</a:t>
            </a:r>
          </a:p>
          <a:p xmlns:a="http://schemas.openxmlformats.org/drawingml/2006/main">
            <a:pPr algn="ctr">
              <a:buNone/>
              <a:defRPr sz="1950">
                <a:solidFill>
                  <a:srgbClr val="142D38"/>
                </a:solidFill>
                <a:latin typeface="Arial"/>
                <a:ea typeface="Arial"/>
                <a:cs typeface="Arial"/>
              </a:defRPr>
            </a:pPr>
            <a:r>
              <a:rPr sz="1950">
                <a:solidFill>
                  <a:srgbClr val="142D38"/>
                </a:solidFill>
                <a:latin typeface="Arial"/>
                <a:ea typeface="Arial"/>
                <a:cs typeface="Arial"/>
              </a:rPr>
              <a:t>Linear readout</a:t>
            </a:r>
          </a:p>
        </p:txBody>
      </p:sp>
      <p:sp>
        <p:nvSpPr>
          <p:cNvPr id="14" name="Hybrid direct features and spiking state, with offline tempo">
            <a:extLst xmlns:a="http://schemas.openxmlformats.org/drawingml/2006/main">
              <a:ext uri="{FF2B5EF4-FFF2-40B4-BE49-F238E27FC236}">
                <a16:creationId xmlns:a16="http://schemas.microsoft.com/office/drawing/2014/main" id="{1820ECE4-C084-43F5-B5AD-3C39DF7D2514}"/>
              </a:ext>
            </a:extLst>
          </p:cNvPr>
          <p:cNvSpPr>
            <a:spLocks xmlns:a="http://schemas.openxmlformats.org/drawingml/2006/main" noGrp="1"/>
          </p:cNvSpPr>
          <p:nvPr/>
        </p:nvSpPr>
        <p:spPr>
          <a:xfrm xmlns:a="http://schemas.openxmlformats.org/drawingml/2006/main">
            <a:off x="685800" y="552450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C83"/>
                </a:solidFill>
                <a:latin typeface="Arial"/>
                <a:ea typeface="Arial"/>
                <a:cs typeface="Arial"/>
              </a:defRPr>
            </a:defPPr>
          </a:lstStyle>
          <a:p xmlns:a="http://schemas.openxmlformats.org/drawingml/2006/main">
            <a:pPr algn="l">
              <a:buNone/>
              <a:defRPr sz="2025" b="1">
                <a:solidFill>
                  <a:srgbClr val="087C83"/>
                </a:solidFill>
                <a:latin typeface="Arial"/>
                <a:ea typeface="Arial"/>
                <a:cs typeface="Arial"/>
              </a:defRPr>
            </a:pPr>
            <a:r>
              <a:rPr sz="2025" b="1">
                <a:solidFill>
                  <a:srgbClr val="087C83"/>
                </a:solidFill>
                <a:latin typeface="Arial"/>
                <a:ea typeface="Arial"/>
                <a:cs typeface="Arial"/>
              </a:rPr>
              <a:t>Hybrid direct features and spiking state, with offline temporal pooling</a:t>
            </a:r>
          </a:p>
        </p:txBody>
      </p:sp>
    </p:spTree>
    <p:extLst>
      <p:ext uri="{BB962C8B-B14F-4D97-AF65-F5344CB8AC3E}">
        <p14:creationId xmlns:p14="http://schemas.microsoft.com/office/powerpoint/2010/main" val="11980583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gistered audio protocol">
            <a:extLst xmlns:a="http://schemas.openxmlformats.org/drawingml/2006/main">
              <a:ext uri="{FF2B5EF4-FFF2-40B4-BE49-F238E27FC236}">
                <a16:creationId xmlns:a16="http://schemas.microsoft.com/office/drawing/2014/main" id="{6D8ECB5A-5742-4D1B-BE19-D5D94CE394B8}"/>
              </a:ext>
            </a:extLst>
          </p:cNvPr>
          <p:cNvSpPr>
            <a:spLocks xmlns:a="http://schemas.openxmlformats.org/drawingml/2006/main" noGrp="1"/>
          </p:cNvSpPr>
          <p:nvPr/>
        </p:nvSpPr>
        <p:spPr>
          <a:xfrm xmlns:a="http://schemas.openxmlformats.org/drawingml/2006/main">
            <a:off x="609600" y="4000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D38"/>
                </a:solidFill>
                <a:latin typeface="Arial"/>
                <a:ea typeface="Arial"/>
                <a:cs typeface="Arial"/>
              </a:defRPr>
            </a:defPPr>
          </a:lstStyle>
          <a:p xmlns:a="http://schemas.openxmlformats.org/drawingml/2006/main">
            <a:pPr algn="l">
              <a:buNone/>
              <a:defRPr sz="3300" b="1">
                <a:solidFill>
                  <a:srgbClr val="142D38"/>
                </a:solidFill>
                <a:latin typeface="Arial"/>
                <a:ea typeface="Arial"/>
                <a:cs typeface="Arial"/>
              </a:defRPr>
            </a:pPr>
            <a:r>
              <a:rPr sz="3300" b="1">
                <a:solidFill>
                  <a:srgbClr val="142D38"/>
                </a:solidFill>
                <a:latin typeface="Arial"/>
                <a:ea typeface="Arial"/>
                <a:cs typeface="Arial"/>
              </a:rPr>
              <a:t>Registered audio protocol</a:t>
            </a:r>
          </a:p>
        </p:txBody>
      </p:sp>
      <p:sp>
        <p:nvSpPr>
          <p:cNvPr id="2" name="A-SNN Evidence-1">
            <a:extLst xmlns:a="http://schemas.openxmlformats.org/drawingml/2006/main">
              <a:ext uri="{FF2B5EF4-FFF2-40B4-BE49-F238E27FC236}">
                <a16:creationId xmlns:a16="http://schemas.microsoft.com/office/drawing/2014/main" id="{C106867B-8C9A-4467-A499-E682F03E6DF0}"/>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672"/>
                </a:solidFill>
                <a:latin typeface="Arial"/>
                <a:ea typeface="Arial"/>
                <a:cs typeface="Arial"/>
              </a:defRPr>
            </a:defPPr>
          </a:lstStyle>
          <a:p xmlns:a="http://schemas.openxmlformats.org/drawingml/2006/main">
            <a:pPr algn="l">
              <a:buNone/>
              <a:defRPr sz="1350" b="0">
                <a:solidFill>
                  <a:srgbClr val="536672"/>
                </a:solidFill>
                <a:latin typeface="Arial"/>
                <a:ea typeface="Arial"/>
                <a:cs typeface="Arial"/>
              </a:defRPr>
            </a:pPr>
            <a:r>
              <a:rPr sz="1350" b="0">
                <a:solidFill>
                  <a:srgbClr val="536672"/>
                </a:solidFill>
                <a:latin typeface="Arial"/>
                <a:ea typeface="Arial"/>
                <a:cs typeface="Arial"/>
              </a:rPr>
              <a:t>A-SNN Evidence-1</a:t>
            </a:r>
          </a:p>
        </p:txBody>
      </p:sp>
      <p:sp>
        <p:nvSpPr>
          <p:cNvPr id="3" name="4">
            <a:extLst xmlns:a="http://schemas.openxmlformats.org/drawingml/2006/main">
              <a:ext uri="{FF2B5EF4-FFF2-40B4-BE49-F238E27FC236}">
                <a16:creationId xmlns:a16="http://schemas.microsoft.com/office/drawing/2014/main" id="{F9C18698-5D79-4396-8727-9FF503974F51}"/>
              </a:ext>
            </a:extLst>
          </p:cNvPr>
          <p:cNvSpPr>
            <a:spLocks xmlns:a="http://schemas.openxmlformats.org/drawingml/2006/main" noGrp="1"/>
          </p:cNvSpPr>
          <p:nvPr/>
        </p:nvSpPr>
        <p:spPr>
          <a:xfrm xmlns:a="http://schemas.openxmlformats.org/drawingml/2006/main">
            <a:off x="11049000" y="64008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672"/>
                </a:solidFill>
                <a:latin typeface="Arial"/>
                <a:ea typeface="Arial"/>
                <a:cs typeface="Arial"/>
              </a:defRPr>
            </a:defPPr>
          </a:lstStyle>
          <a:p xmlns:a="http://schemas.openxmlformats.org/drawingml/2006/main">
            <a:pPr algn="r">
              <a:buNone/>
              <a:defRPr sz="1350" b="0">
                <a:solidFill>
                  <a:srgbClr val="536672"/>
                </a:solidFill>
                <a:latin typeface="Arial"/>
                <a:ea typeface="Arial"/>
                <a:cs typeface="Arial"/>
              </a:defRPr>
            </a:pPr>
            <a:r>
              <a:rPr sz="1350" b="0">
                <a:solidFill>
                  <a:srgbClr val="536672"/>
                </a:solidFill>
                <a:latin typeface="Arial"/>
                <a:ea typeface="Arial"/>
                <a:cs typeface="Arial"/>
              </a:rPr>
              <a:t>4</a:t>
            </a:r>
          </a:p>
        </p:txBody>
      </p:sp>
      <p:graphicFrame>
        <p:nvGraphicFramePr>
          <p:cNvPr id="4" name="">
            <a:extLst xmlns:a="http://schemas.openxmlformats.org/drawingml/2006/main">
              <a:ext uri="{FF2B5EF4-FFF2-40B4-BE49-F238E27FC236}">
                <a16:creationId xmlns:a16="http://schemas.microsoft.com/office/drawing/2014/main" id="{F0966BA1-2149-4CAC-B8D7-522D241C4F34}"/>
              </a:ext>
            </a:extLst>
          </p:cNvPr>
          <p:cNvGraphicFramePr/>
          <p:nvPr/>
        </p:nvGraphicFramePr>
        <p:xfrm>
          <a:off xmlns:a="http://schemas.openxmlformats.org/drawingml/2006/main" x="609600" y="1562100"/>
          <a:ext xmlns:a="http://schemas.openxmlformats.org/drawingml/2006/main" cx="10972800" cy="3048000"/>
        </p:xfrm>
        <a:graphic xmlns:a="http://schemas.openxmlformats.org/drawingml/2006/main">
          <a:graphicData uri="http://schemas.openxmlformats.org/drawingml/2006/table">
            <a:tbl>
              <a:tblPr/>
              <a:tblGrid>
                <a:gridCol w="3333750"/>
                <a:gridCol w="3714750"/>
                <a:gridCol w="3924300"/>
              </a:tblGrid>
              <a:tr h="609600">
                <a:tc>
                  <a:txBody>
                    <a:bodyPr lIns="114300" tIns="114300" rIns="114300" bIns="114300"/>
                    <a:lstStyle/>
                    <a:p>
                      <a:r>
                        <a:rPr sz="1875" b="1">
                          <a:solidFill>
                            <a:srgbClr val="FFFFFF"/>
                          </a:solidFill>
                          <a:latin typeface="Arial"/>
                          <a:ea typeface="Arial"/>
                          <a:cs typeface="Arial"/>
                        </a:rPr>
                        <a:t>Setting</a:t>
                      </a:r>
                    </a:p>
                  </a:txBody>
                  <a:tcPr marL="91440" marR="91440" marT="45720" marB="45720" anchor="ctr">
                    <a:lnL w="9525">
                      <a:solidFill>
                        <a:srgbClr val="D9E2E4"/>
                      </a:solidFill>
                      <a:prstDash val="solid"/>
                    </a:lnL>
                    <a:lnR w="9525">
                      <a:solidFill>
                        <a:srgbClr val="D9E2E4"/>
                      </a:solidFill>
                      <a:prstDash val="solid"/>
                    </a:lnR>
                    <a:lnT w="9525">
                      <a:solidFill>
                        <a:srgbClr val="D9E2E4"/>
                      </a:solidFill>
                      <a:prstDash val="solid"/>
                    </a:lnT>
                    <a:lnB w="9525">
                      <a:solidFill>
                        <a:srgbClr val="D9E2E4"/>
                      </a:solidFill>
                      <a:prstDash val="solid"/>
                    </a:lnB>
                    <a:solidFill>
                      <a:srgbClr val="142D38"/>
                    </a:solidFill>
                  </a:tcPr>
                </a:tc>
                <a:tc>
                  <a:txBody>
                    <a:bodyPr lIns="114300" tIns="114300" rIns="114300" bIns="114300"/>
                    <a:lstStyle/>
                    <a:p>
                      <a:r>
                        <a:rPr sz="1875" b="1">
                          <a:solidFill>
                            <a:srgbClr val="FFFFFF"/>
                          </a:solidFill>
                          <a:latin typeface="Arial"/>
                          <a:ea typeface="Arial"/>
                          <a:cs typeface="Arial"/>
                        </a:rPr>
                        <a:t>SHD</a:t>
                      </a:r>
                    </a:p>
                  </a:txBody>
                  <a:tcPr marL="91440" marR="91440" marT="45720" marB="45720" anchor="ctr">
                    <a:lnR w="9525">
                      <a:solidFill>
                        <a:srgbClr val="D9E2E4"/>
                      </a:solidFill>
                      <a:prstDash val="solid"/>
                    </a:lnR>
                    <a:lnT w="9525">
                      <a:solidFill>
                        <a:srgbClr val="D9E2E4"/>
                      </a:solidFill>
                      <a:prstDash val="solid"/>
                    </a:lnT>
                    <a:lnB w="9525">
                      <a:solidFill>
                        <a:srgbClr val="D9E2E4"/>
                      </a:solidFill>
                      <a:prstDash val="solid"/>
                    </a:lnB>
                    <a:solidFill>
                      <a:srgbClr val="142D38"/>
                    </a:solidFill>
                  </a:tcPr>
                </a:tc>
                <a:tc>
                  <a:txBody>
                    <a:bodyPr lIns="114300" tIns="114300" rIns="114300" bIns="114300"/>
                    <a:lstStyle/>
                    <a:p>
                      <a:r>
                        <a:rPr sz="1875" b="1">
                          <a:solidFill>
                            <a:srgbClr val="FFFFFF"/>
                          </a:solidFill>
                          <a:latin typeface="Arial"/>
                          <a:ea typeface="Arial"/>
                          <a:cs typeface="Arial"/>
                        </a:rPr>
                        <a:t>SSC</a:t>
                      </a:r>
                    </a:p>
                  </a:txBody>
                  <a:tcPr marL="91440" marR="91440" marT="45720" marB="45720" anchor="ctr">
                    <a:lnR w="9525">
                      <a:solidFill>
                        <a:srgbClr val="D9E2E4"/>
                      </a:solidFill>
                      <a:prstDash val="solid"/>
                    </a:lnR>
                    <a:lnT w="9525">
                      <a:solidFill>
                        <a:srgbClr val="D9E2E4"/>
                      </a:solidFill>
                      <a:prstDash val="solid"/>
                    </a:lnT>
                    <a:lnB w="9525">
                      <a:solidFill>
                        <a:srgbClr val="D9E2E4"/>
                      </a:solidFill>
                      <a:prstDash val="solid"/>
                    </a:lnB>
                    <a:solidFill>
                      <a:srgbClr val="142D38"/>
                    </a:solidFill>
                  </a:tcPr>
                </a:tc>
              </a:tr>
              <a:tr h="609600">
                <a:tc>
                  <a:txBody>
                    <a:bodyPr lIns="114300" tIns="114300" rIns="114300" bIns="114300"/>
                    <a:lstStyle/>
                    <a:p>
                      <a:r>
                        <a:rPr sz="1875" b="0">
                          <a:solidFill>
                            <a:srgbClr val="142D38"/>
                          </a:solidFill>
                          <a:latin typeface="Arial"/>
                          <a:ea typeface="Arial"/>
                          <a:cs typeface="Arial"/>
                        </a:rPr>
                        <a:t>Classes and duration</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1875" b="0">
                          <a:solidFill>
                            <a:srgbClr val="142D38"/>
                          </a:solidFill>
                          <a:latin typeface="Arial"/>
                          <a:ea typeface="Arial"/>
                          <a:cs typeface="Arial"/>
                        </a:rPr>
                        <a:t>20 classes, 1.4 s</a:t>
                      </a:r>
                    </a:p>
                  </a:txBody>
                  <a:tcPr marL="91440" marR="91440" marT="45720" marB="45720" anchor="ctr">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1875" b="0">
                          <a:solidFill>
                            <a:srgbClr val="142D38"/>
                          </a:solidFill>
                          <a:latin typeface="Arial"/>
                          <a:ea typeface="Arial"/>
                          <a:cs typeface="Arial"/>
                        </a:rPr>
                        <a:t>35 classes, 1.0 s</a:t>
                      </a:r>
                    </a:p>
                  </a:txBody>
                  <a:tcPr marL="91440" marR="91440" marT="45720" marB="45720" anchor="ctr">
                    <a:lnR w="9525">
                      <a:solidFill>
                        <a:srgbClr val="D9E2E4"/>
                      </a:solidFill>
                      <a:prstDash val="solid"/>
                    </a:lnR>
                    <a:lnB w="9525">
                      <a:solidFill>
                        <a:srgbClr val="D9E2E4"/>
                      </a:solidFill>
                      <a:prstDash val="solid"/>
                    </a:lnB>
                    <a:solidFill>
                      <a:srgbClr val="FFFFFF"/>
                    </a:solidFill>
                  </a:tcPr>
                </a:tc>
              </a:tr>
              <a:tr h="609600">
                <a:tc>
                  <a:txBody>
                    <a:bodyPr lIns="114300" tIns="114300" rIns="114300" bIns="114300"/>
                    <a:lstStyle/>
                    <a:p>
                      <a:r>
                        <a:rPr sz="1875" b="0">
                          <a:solidFill>
                            <a:srgbClr val="142D38"/>
                          </a:solidFill>
                          <a:latin typeface="Arial"/>
                          <a:ea typeface="Arial"/>
                          <a:cs typeface="Arial"/>
                        </a:rPr>
                        <a:t>Train / validation / test</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1875" b="0">
                          <a:solidFill>
                            <a:srgbClr val="142D38"/>
                          </a:solidFill>
                          <a:latin typeface="Arial"/>
                          <a:ea typeface="Arial"/>
                          <a:cs typeface="Arial"/>
                        </a:rPr>
                        <a:t>6,526 / 1,630 / 2,264</a:t>
                      </a:r>
                    </a:p>
                  </a:txBody>
                  <a:tcPr marL="91440" marR="91440" marT="45720" marB="45720" anchor="ctr">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1875" b="0">
                          <a:solidFill>
                            <a:srgbClr val="142D38"/>
                          </a:solidFill>
                          <a:latin typeface="Arial"/>
                          <a:ea typeface="Arial"/>
                          <a:cs typeface="Arial"/>
                        </a:rPr>
                        <a:t>75,466 / 9,981 / 20,382</a:t>
                      </a:r>
                    </a:p>
                  </a:txBody>
                  <a:tcPr marL="91440" marR="91440" marT="45720" marB="45720" anchor="ctr">
                    <a:lnR w="9525">
                      <a:solidFill>
                        <a:srgbClr val="D9E2E4"/>
                      </a:solidFill>
                      <a:prstDash val="solid"/>
                    </a:lnR>
                    <a:lnB w="9525">
                      <a:solidFill>
                        <a:srgbClr val="D9E2E4"/>
                      </a:solidFill>
                      <a:prstDash val="solid"/>
                    </a:lnB>
                    <a:solidFill>
                      <a:srgbClr val="F3F7F7"/>
                    </a:solidFill>
                  </a:tcPr>
                </a:tc>
              </a:tr>
              <a:tr h="609600">
                <a:tc>
                  <a:txBody>
                    <a:bodyPr lIns="114300" tIns="114300" rIns="114300" bIns="114300"/>
                    <a:lstStyle/>
                    <a:p>
                      <a:r>
                        <a:rPr sz="1875" b="0">
                          <a:solidFill>
                            <a:srgbClr val="142D38"/>
                          </a:solidFill>
                          <a:latin typeface="Arial"/>
                          <a:ea typeface="Arial"/>
                          <a:cs typeface="Arial"/>
                        </a:rPr>
                        <a:t>Arms</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1875" b="0">
                          <a:solidFill>
                            <a:srgbClr val="142D38"/>
                          </a:solidFill>
                          <a:latin typeface="Arial"/>
                          <a:ea typeface="Arial"/>
                          <a:cs typeface="Arial"/>
                        </a:rPr>
                        <a:t>Residual LIF, Conv1D, TCN, GRU</a:t>
                      </a:r>
                    </a:p>
                  </a:txBody>
                  <a:tcPr marL="91440" marR="91440" marT="45720" marB="45720" anchor="ctr">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1875" b="0">
                          <a:solidFill>
                            <a:srgbClr val="142D38"/>
                          </a:solidFill>
                          <a:latin typeface="Arial"/>
                          <a:ea typeface="Arial"/>
                          <a:cs typeface="Arial"/>
                        </a:rPr>
                        <a:t>Same four architectures</a:t>
                      </a:r>
                    </a:p>
                  </a:txBody>
                  <a:tcPr marL="91440" marR="91440" marT="45720" marB="45720" anchor="ctr">
                    <a:lnR w="9525">
                      <a:solidFill>
                        <a:srgbClr val="D9E2E4"/>
                      </a:solidFill>
                      <a:prstDash val="solid"/>
                    </a:lnR>
                    <a:lnB w="9525">
                      <a:solidFill>
                        <a:srgbClr val="D9E2E4"/>
                      </a:solidFill>
                      <a:prstDash val="solid"/>
                    </a:lnB>
                    <a:solidFill>
                      <a:srgbClr val="FFFFFF"/>
                    </a:solidFill>
                  </a:tcPr>
                </a:tc>
              </a:tr>
              <a:tr h="609600">
                <a:tc>
                  <a:txBody>
                    <a:bodyPr lIns="114300" tIns="114300" rIns="114300" bIns="114300"/>
                    <a:lstStyle/>
                    <a:p>
                      <a:r>
                        <a:rPr sz="1875" b="0">
                          <a:solidFill>
                            <a:srgbClr val="142D38"/>
                          </a:solidFill>
                          <a:latin typeface="Arial"/>
                          <a:ea typeface="Arial"/>
                          <a:cs typeface="Arial"/>
                        </a:rPr>
                        <a:t>Paired training seeds</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1875" b="0">
                          <a:solidFill>
                            <a:srgbClr val="142D38"/>
                          </a:solidFill>
                          <a:latin typeface="Arial"/>
                          <a:ea typeface="Arial"/>
                          <a:cs typeface="Arial"/>
                        </a:rPr>
                        <a:t>310–319, ten seeds</a:t>
                      </a:r>
                    </a:p>
                  </a:txBody>
                  <a:tcPr marL="91440" marR="91440" marT="45720" marB="45720" anchor="ctr">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1875" b="0">
                          <a:solidFill>
                            <a:srgbClr val="142D38"/>
                          </a:solidFill>
                          <a:latin typeface="Arial"/>
                          <a:ea typeface="Arial"/>
                          <a:cs typeface="Arial"/>
                        </a:rPr>
                        <a:t>Same ten seeds</a:t>
                      </a:r>
                    </a:p>
                  </a:txBody>
                  <a:tcPr marL="91440" marR="91440" marT="45720" marB="45720" anchor="ctr">
                    <a:lnR w="9525">
                      <a:solidFill>
                        <a:srgbClr val="D9E2E4"/>
                      </a:solidFill>
                      <a:prstDash val="solid"/>
                    </a:lnR>
                    <a:lnB w="9525">
                      <a:solidFill>
                        <a:srgbClr val="D9E2E4"/>
                      </a:solidFill>
                      <a:prstDash val="solid"/>
                    </a:lnB>
                    <a:solidFill>
                      <a:srgbClr val="F3F7F7"/>
                    </a:solidFill>
                  </a:tcPr>
                </a:tc>
              </a:tr>
            </a:tbl>
          </a:graphicData>
        </a:graphic>
      </p:graphicFrame>
      <p:sp>
        <p:nvSpPr>
          <p:cNvPr id="5" name="15 epochs, batch 256, AdamW with learning rate 0.003">
            <a:extLst xmlns:a="http://schemas.openxmlformats.org/drawingml/2006/main">
              <a:ext uri="{FF2B5EF4-FFF2-40B4-BE49-F238E27FC236}">
                <a16:creationId xmlns:a16="http://schemas.microsoft.com/office/drawing/2014/main" id="{BC1E6C23-F214-4F68-A10B-4D6639983925}"/>
              </a:ext>
            </a:extLst>
          </p:cNvPr>
          <p:cNvSpPr>
            <a:spLocks xmlns:a="http://schemas.openxmlformats.org/drawingml/2006/main" noGrp="1"/>
          </p:cNvSpPr>
          <p:nvPr/>
        </p:nvSpPr>
        <p:spPr>
          <a:xfrm xmlns:a="http://schemas.openxmlformats.org/drawingml/2006/main">
            <a:off x="685800" y="4981575"/>
            <a:ext cx="10715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C83"/>
                </a:solidFill>
                <a:latin typeface="Arial"/>
                <a:ea typeface="Arial"/>
                <a:cs typeface="Arial"/>
              </a:defRPr>
            </a:defPPr>
          </a:lstStyle>
          <a:p xmlns:a="http://schemas.openxmlformats.org/drawingml/2006/main">
            <a:pPr algn="l">
              <a:buNone/>
              <a:defRPr sz="2100" b="1">
                <a:solidFill>
                  <a:srgbClr val="087C83"/>
                </a:solidFill>
                <a:latin typeface="Arial"/>
                <a:ea typeface="Arial"/>
                <a:cs typeface="Arial"/>
              </a:defRPr>
            </a:pPr>
            <a:r>
              <a:rPr sz="2100" b="1">
                <a:solidFill>
                  <a:srgbClr val="087C83"/>
                </a:solidFill>
                <a:latin typeface="Arial"/>
                <a:ea typeface="Arial"/>
                <a:cs typeface="Arial"/>
              </a:rPr>
              <a:t>15 epochs, batch 256, AdamW with learning rate 0.003</a:t>
            </a:r>
          </a:p>
        </p:txBody>
      </p:sp>
      <p:sp>
        <p:nvSpPr>
          <p:cNvPr id="6" name="Parameter ceiling: 133,631, with a 95% minimum for every mod">
            <a:extLst xmlns:a="http://schemas.openxmlformats.org/drawingml/2006/main">
              <a:ext uri="{FF2B5EF4-FFF2-40B4-BE49-F238E27FC236}">
                <a16:creationId xmlns:a16="http://schemas.microsoft.com/office/drawing/2014/main" id="{B77C0916-3C8A-49D4-81A7-D1EC54C64BFC}"/>
              </a:ext>
            </a:extLst>
          </p:cNvPr>
          <p:cNvSpPr>
            <a:spLocks xmlns:a="http://schemas.openxmlformats.org/drawingml/2006/main" noGrp="1"/>
          </p:cNvSpPr>
          <p:nvPr/>
        </p:nvSpPr>
        <p:spPr>
          <a:xfrm xmlns:a="http://schemas.openxmlformats.org/drawingml/2006/main">
            <a:off x="685800" y="5600700"/>
            <a:ext cx="1071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72"/>
                </a:solidFill>
                <a:latin typeface="Arial"/>
                <a:ea typeface="Arial"/>
                <a:cs typeface="Arial"/>
              </a:defRPr>
            </a:defPPr>
          </a:lstStyle>
          <a:p xmlns:a="http://schemas.openxmlformats.org/drawingml/2006/main">
            <a:pPr algn="l">
              <a:buNone/>
              <a:defRPr sz="1875" b="0">
                <a:solidFill>
                  <a:srgbClr val="536672"/>
                </a:solidFill>
                <a:latin typeface="Arial"/>
                <a:ea typeface="Arial"/>
                <a:cs typeface="Arial"/>
              </a:defRPr>
            </a:pPr>
            <a:r>
              <a:rPr sz="1875" b="0">
                <a:solidFill>
                  <a:srgbClr val="536672"/>
                </a:solidFill>
                <a:latin typeface="Arial"/>
                <a:ea typeface="Arial"/>
                <a:cs typeface="Arial"/>
              </a:rPr>
              <a:t>Parameter ceiling: 133,631, with a 95% minimum for every model</a:t>
            </a:r>
          </a:p>
        </p:txBody>
      </p:sp>
    </p:spTree>
    <p:extLst>
      <p:ext uri="{BB962C8B-B14F-4D97-AF65-F5344CB8AC3E}">
        <p14:creationId xmlns:p14="http://schemas.microsoft.com/office/powerpoint/2010/main" val="1764781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Fixed-checkpoint state interventions">
            <a:extLst xmlns:a="http://schemas.openxmlformats.org/drawingml/2006/main">
              <a:ext uri="{FF2B5EF4-FFF2-40B4-BE49-F238E27FC236}">
                <a16:creationId xmlns:a16="http://schemas.microsoft.com/office/drawing/2014/main" id="{D1FE0842-978C-4671-8E47-CFA58CEFB044}"/>
              </a:ext>
            </a:extLst>
          </p:cNvPr>
          <p:cNvSpPr>
            <a:spLocks xmlns:a="http://schemas.openxmlformats.org/drawingml/2006/main" noGrp="1"/>
          </p:cNvSpPr>
          <p:nvPr/>
        </p:nvSpPr>
        <p:spPr>
          <a:xfrm xmlns:a="http://schemas.openxmlformats.org/drawingml/2006/main">
            <a:off x="609600" y="4000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D38"/>
                </a:solidFill>
                <a:latin typeface="Arial"/>
                <a:ea typeface="Arial"/>
                <a:cs typeface="Arial"/>
              </a:defRPr>
            </a:defPPr>
          </a:lstStyle>
          <a:p xmlns:a="http://schemas.openxmlformats.org/drawingml/2006/main">
            <a:pPr algn="l">
              <a:buNone/>
              <a:defRPr sz="3300" b="1">
                <a:solidFill>
                  <a:srgbClr val="142D38"/>
                </a:solidFill>
                <a:latin typeface="Arial"/>
                <a:ea typeface="Arial"/>
                <a:cs typeface="Arial"/>
              </a:defRPr>
            </a:pPr>
            <a:r>
              <a:rPr sz="3300" b="1">
                <a:solidFill>
                  <a:srgbClr val="142D38"/>
                </a:solidFill>
                <a:latin typeface="Arial"/>
                <a:ea typeface="Arial"/>
                <a:cs typeface="Arial"/>
              </a:rPr>
              <a:t>Fixed-checkpoint state interventions</a:t>
            </a:r>
          </a:p>
        </p:txBody>
      </p:sp>
      <p:sp>
        <p:nvSpPr>
          <p:cNvPr id="2" name="A-SNN Evidence-1">
            <a:extLst xmlns:a="http://schemas.openxmlformats.org/drawingml/2006/main">
              <a:ext uri="{FF2B5EF4-FFF2-40B4-BE49-F238E27FC236}">
                <a16:creationId xmlns:a16="http://schemas.microsoft.com/office/drawing/2014/main" id="{02F13B24-60AC-41A4-8DD4-7684FCBDE99D}"/>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672"/>
                </a:solidFill>
                <a:latin typeface="Arial"/>
                <a:ea typeface="Arial"/>
                <a:cs typeface="Arial"/>
              </a:defRPr>
            </a:defPPr>
          </a:lstStyle>
          <a:p xmlns:a="http://schemas.openxmlformats.org/drawingml/2006/main">
            <a:pPr algn="l">
              <a:buNone/>
              <a:defRPr sz="1350" b="0">
                <a:solidFill>
                  <a:srgbClr val="536672"/>
                </a:solidFill>
                <a:latin typeface="Arial"/>
                <a:ea typeface="Arial"/>
                <a:cs typeface="Arial"/>
              </a:defRPr>
            </a:pPr>
            <a:r>
              <a:rPr sz="1350" b="0">
                <a:solidFill>
                  <a:srgbClr val="536672"/>
                </a:solidFill>
                <a:latin typeface="Arial"/>
                <a:ea typeface="Arial"/>
                <a:cs typeface="Arial"/>
              </a:rPr>
              <a:t>A-SNN Evidence-1</a:t>
            </a:r>
          </a:p>
        </p:txBody>
      </p:sp>
      <p:sp>
        <p:nvSpPr>
          <p:cNvPr id="3" name="5">
            <a:extLst xmlns:a="http://schemas.openxmlformats.org/drawingml/2006/main">
              <a:ext uri="{FF2B5EF4-FFF2-40B4-BE49-F238E27FC236}">
                <a16:creationId xmlns:a16="http://schemas.microsoft.com/office/drawing/2014/main" id="{628BD80B-D5DD-48B1-8001-71CDE8FFA164}"/>
              </a:ext>
            </a:extLst>
          </p:cNvPr>
          <p:cNvSpPr>
            <a:spLocks xmlns:a="http://schemas.openxmlformats.org/drawingml/2006/main" noGrp="1"/>
          </p:cNvSpPr>
          <p:nvPr/>
        </p:nvSpPr>
        <p:spPr>
          <a:xfrm xmlns:a="http://schemas.openxmlformats.org/drawingml/2006/main">
            <a:off x="11049000" y="64008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672"/>
                </a:solidFill>
                <a:latin typeface="Arial"/>
                <a:ea typeface="Arial"/>
                <a:cs typeface="Arial"/>
              </a:defRPr>
            </a:defPPr>
          </a:lstStyle>
          <a:p xmlns:a="http://schemas.openxmlformats.org/drawingml/2006/main">
            <a:pPr algn="r">
              <a:buNone/>
              <a:defRPr sz="1350" b="0">
                <a:solidFill>
                  <a:srgbClr val="536672"/>
                </a:solidFill>
                <a:latin typeface="Arial"/>
                <a:ea typeface="Arial"/>
                <a:cs typeface="Arial"/>
              </a:defRPr>
            </a:pPr>
            <a:r>
              <a:rPr sz="1350" b="0">
                <a:solidFill>
                  <a:srgbClr val="536672"/>
                </a:solidFill>
                <a:latin typeface="Arial"/>
                <a:ea typeface="Arial"/>
                <a:cs typeface="Arial"/>
              </a:rPr>
              <a:t>5</a:t>
            </a:r>
          </a:p>
        </p:txBody>
      </p:sp>
      <p:graphicFrame>
        <p:nvGraphicFramePr>
          <p:cNvPr id="4" name="">
            <a:extLst xmlns:a="http://schemas.openxmlformats.org/drawingml/2006/main">
              <a:ext uri="{FF2B5EF4-FFF2-40B4-BE49-F238E27FC236}">
                <a16:creationId xmlns:a16="http://schemas.microsoft.com/office/drawing/2014/main" id="{882EDF19-1F0C-4A36-8AEC-B078AEC3EAA9}"/>
              </a:ext>
            </a:extLst>
          </p:cNvPr>
          <p:cNvGraphicFramePr/>
          <p:nvPr/>
        </p:nvGraphicFramePr>
        <p:xfrm>
          <a:off xmlns:a="http://schemas.openxmlformats.org/drawingml/2006/main" x="609600" y="1790700"/>
          <a:ext xmlns:a="http://schemas.openxmlformats.org/drawingml/2006/main" cx="10972800" cy="2857500"/>
        </p:xfrm>
        <a:graphic xmlns:a="http://schemas.openxmlformats.org/drawingml/2006/main">
          <a:graphicData uri="http://schemas.openxmlformats.org/drawingml/2006/table">
            <a:tbl>
              <a:tblPr/>
              <a:tblGrid>
                <a:gridCol w="2571750"/>
                <a:gridCol w="3000375"/>
                <a:gridCol w="5400675"/>
              </a:tblGrid>
              <a:tr h="714375">
                <a:tc>
                  <a:txBody>
                    <a:bodyPr lIns="114300" tIns="114300" rIns="114300" bIns="114300"/>
                    <a:lstStyle/>
                    <a:p>
                      <a:r>
                        <a:rPr sz="2100" b="1">
                          <a:solidFill>
                            <a:srgbClr val="FFFFFF"/>
                          </a:solidFill>
                          <a:latin typeface="Arial"/>
                          <a:ea typeface="Arial"/>
                          <a:cs typeface="Arial"/>
                        </a:rPr>
                        <a:t>Condition</a:t>
                      </a:r>
                    </a:p>
                  </a:txBody>
                  <a:tcPr marL="91440" marR="91440" marT="45720" marB="45720" anchor="ctr">
                    <a:lnL w="9525">
                      <a:solidFill>
                        <a:srgbClr val="D9E2E4"/>
                      </a:solidFill>
                      <a:prstDash val="solid"/>
                    </a:lnL>
                    <a:lnR w="9525">
                      <a:solidFill>
                        <a:srgbClr val="D9E2E4"/>
                      </a:solidFill>
                      <a:prstDash val="solid"/>
                    </a:lnR>
                    <a:lnT w="9525">
                      <a:solidFill>
                        <a:srgbClr val="D9E2E4"/>
                      </a:solidFill>
                      <a:prstDash val="solid"/>
                    </a:lnT>
                    <a:lnB w="9525">
                      <a:solidFill>
                        <a:srgbClr val="D9E2E4"/>
                      </a:solidFill>
                      <a:prstDash val="solid"/>
                    </a:lnB>
                    <a:solidFill>
                      <a:srgbClr val="142D38"/>
                    </a:solidFill>
                  </a:tcPr>
                </a:tc>
                <a:tc>
                  <a:txBody>
                    <a:bodyPr lIns="114300" tIns="114300" rIns="114300" bIns="114300"/>
                    <a:lstStyle/>
                    <a:p>
                      <a:r>
                        <a:rPr sz="2100" b="1">
                          <a:solidFill>
                            <a:srgbClr val="FFFFFF"/>
                          </a:solidFill>
                          <a:latin typeface="Arial"/>
                          <a:ea typeface="Arial"/>
                          <a:cs typeface="Arial"/>
                        </a:rPr>
                        <a:t>Direct path</a:t>
                      </a:r>
                    </a:p>
                  </a:txBody>
                  <a:tcPr marL="91440" marR="91440" marT="45720" marB="45720" anchor="ctr">
                    <a:lnR w="9525">
                      <a:solidFill>
                        <a:srgbClr val="D9E2E4"/>
                      </a:solidFill>
                      <a:prstDash val="solid"/>
                    </a:lnR>
                    <a:lnT w="9525">
                      <a:solidFill>
                        <a:srgbClr val="D9E2E4"/>
                      </a:solidFill>
                      <a:prstDash val="solid"/>
                    </a:lnT>
                    <a:lnB w="9525">
                      <a:solidFill>
                        <a:srgbClr val="D9E2E4"/>
                      </a:solidFill>
                      <a:prstDash val="solid"/>
                    </a:lnB>
                    <a:solidFill>
                      <a:srgbClr val="142D38"/>
                    </a:solidFill>
                  </a:tcPr>
                </a:tc>
                <a:tc>
                  <a:txBody>
                    <a:bodyPr lIns="114300" tIns="114300" rIns="114300" bIns="114300"/>
                    <a:lstStyle/>
                    <a:p>
                      <a:r>
                        <a:rPr sz="2100" b="1">
                          <a:solidFill>
                            <a:srgbClr val="FFFFFF"/>
                          </a:solidFill>
                          <a:latin typeface="Arial"/>
                          <a:ea typeface="Arial"/>
                          <a:cs typeface="Arial"/>
                        </a:rPr>
                        <a:t>State supplied to readout</a:t>
                      </a:r>
                    </a:p>
                  </a:txBody>
                  <a:tcPr marL="91440" marR="91440" marT="45720" marB="45720" anchor="ctr">
                    <a:lnR w="9525">
                      <a:solidFill>
                        <a:srgbClr val="D9E2E4"/>
                      </a:solidFill>
                      <a:prstDash val="solid"/>
                    </a:lnR>
                    <a:lnT w="9525">
                      <a:solidFill>
                        <a:srgbClr val="D9E2E4"/>
                      </a:solidFill>
                      <a:prstDash val="solid"/>
                    </a:lnT>
                    <a:lnB w="9525">
                      <a:solidFill>
                        <a:srgbClr val="D9E2E4"/>
                      </a:solidFill>
                      <a:prstDash val="solid"/>
                    </a:lnB>
                    <a:solidFill>
                      <a:srgbClr val="142D38"/>
                    </a:solidFill>
                  </a:tcPr>
                </a:tc>
              </a:tr>
              <a:tr h="714375">
                <a:tc>
                  <a:txBody>
                    <a:bodyPr lIns="114300" tIns="114300" rIns="114300" bIns="114300"/>
                    <a:lstStyle/>
                    <a:p>
                      <a:r>
                        <a:rPr sz="2100" b="0">
                          <a:solidFill>
                            <a:srgbClr val="142D38"/>
                          </a:solidFill>
                          <a:latin typeface="Arial"/>
                          <a:ea typeface="Arial"/>
                          <a:cs typeface="Arial"/>
                        </a:rPr>
                        <a:t>Full</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2100" b="0">
                          <a:solidFill>
                            <a:srgbClr val="142D38"/>
                          </a:solidFill>
                          <a:latin typeface="Arial"/>
                          <a:ea typeface="Arial"/>
                          <a:cs typeface="Arial"/>
                        </a:rPr>
                        <a:t>Original sample</a:t>
                      </a:r>
                    </a:p>
                  </a:txBody>
                  <a:tcPr marL="91440" marR="91440" marT="45720" marB="45720" anchor="ctr">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2100" b="0">
                          <a:solidFill>
                            <a:srgbClr val="142D38"/>
                          </a:solidFill>
                          <a:latin typeface="Arial"/>
                          <a:ea typeface="Arial"/>
                          <a:cs typeface="Arial"/>
                        </a:rPr>
                        <a:t>Original sample</a:t>
                      </a:r>
                    </a:p>
                  </a:txBody>
                  <a:tcPr marL="91440" marR="91440" marT="45720" marB="45720" anchor="ctr">
                    <a:lnR w="9525">
                      <a:solidFill>
                        <a:srgbClr val="D9E2E4"/>
                      </a:solidFill>
                      <a:prstDash val="solid"/>
                    </a:lnR>
                    <a:lnB w="9525">
                      <a:solidFill>
                        <a:srgbClr val="D9E2E4"/>
                      </a:solidFill>
                      <a:prstDash val="solid"/>
                    </a:lnB>
                    <a:solidFill>
                      <a:srgbClr val="FFFFFF"/>
                    </a:solidFill>
                  </a:tcPr>
                </a:tc>
              </a:tr>
              <a:tr h="714375">
                <a:tc>
                  <a:txBody>
                    <a:bodyPr lIns="114300" tIns="114300" rIns="114300" bIns="114300"/>
                    <a:lstStyle/>
                    <a:p>
                      <a:r>
                        <a:rPr sz="2100" b="0">
                          <a:solidFill>
                            <a:srgbClr val="142D38"/>
                          </a:solidFill>
                          <a:latin typeface="Arial"/>
                          <a:ea typeface="Arial"/>
                          <a:cs typeface="Arial"/>
                        </a:rPr>
                        <a:t>Zero state</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2100" b="0">
                          <a:solidFill>
                            <a:srgbClr val="142D38"/>
                          </a:solidFill>
                          <a:latin typeface="Arial"/>
                          <a:ea typeface="Arial"/>
                          <a:cs typeface="Arial"/>
                        </a:rPr>
                        <a:t>Original sample</a:t>
                      </a:r>
                    </a:p>
                  </a:txBody>
                  <a:tcPr marL="91440" marR="91440" marT="45720" marB="45720" anchor="ctr">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2100" b="0">
                          <a:solidFill>
                            <a:srgbClr val="142D38"/>
                          </a:solidFill>
                          <a:latin typeface="Arial"/>
                          <a:ea typeface="Arial"/>
                          <a:cs typeface="Arial"/>
                        </a:rPr>
                        <a:t>Zero trace and final membrane</a:t>
                      </a:r>
                    </a:p>
                  </a:txBody>
                  <a:tcPr marL="91440" marR="91440" marT="45720" marB="45720" anchor="ctr">
                    <a:lnR w="9525">
                      <a:solidFill>
                        <a:srgbClr val="D9E2E4"/>
                      </a:solidFill>
                      <a:prstDash val="solid"/>
                    </a:lnR>
                    <a:lnB w="9525">
                      <a:solidFill>
                        <a:srgbClr val="D9E2E4"/>
                      </a:solidFill>
                      <a:prstDash val="solid"/>
                    </a:lnB>
                    <a:solidFill>
                      <a:srgbClr val="F3F7F7"/>
                    </a:solidFill>
                  </a:tcPr>
                </a:tc>
              </a:tr>
              <a:tr h="714375">
                <a:tc>
                  <a:txBody>
                    <a:bodyPr lIns="114300" tIns="114300" rIns="114300" bIns="114300"/>
                    <a:lstStyle/>
                    <a:p>
                      <a:r>
                        <a:rPr sz="2100" b="0">
                          <a:solidFill>
                            <a:srgbClr val="142D38"/>
                          </a:solidFill>
                          <a:latin typeface="Arial"/>
                          <a:ea typeface="Arial"/>
                          <a:cs typeface="Arial"/>
                        </a:rPr>
                        <a:t>Shuffled state</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2100" b="0">
                          <a:solidFill>
                            <a:srgbClr val="142D38"/>
                          </a:solidFill>
                          <a:latin typeface="Arial"/>
                          <a:ea typeface="Arial"/>
                          <a:cs typeface="Arial"/>
                        </a:rPr>
                        <a:t>Original sample</a:t>
                      </a:r>
                    </a:p>
                  </a:txBody>
                  <a:tcPr marL="91440" marR="91440" marT="45720" marB="45720" anchor="ctr">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2100" b="0">
                          <a:solidFill>
                            <a:srgbClr val="142D38"/>
                          </a:solidFill>
                          <a:latin typeface="Arial"/>
                          <a:ea typeface="Arial"/>
                          <a:cs typeface="Arial"/>
                        </a:rPr>
                        <a:t>Different sample, no fixed points</a:t>
                      </a:r>
                    </a:p>
                  </a:txBody>
                  <a:tcPr marL="91440" marR="91440" marT="45720" marB="45720" anchor="ctr">
                    <a:lnR w="9525">
                      <a:solidFill>
                        <a:srgbClr val="D9E2E4"/>
                      </a:solidFill>
                      <a:prstDash val="solid"/>
                    </a:lnR>
                    <a:lnB w="9525">
                      <a:solidFill>
                        <a:srgbClr val="D9E2E4"/>
                      </a:solidFill>
                      <a:prstDash val="solid"/>
                    </a:lnB>
                    <a:solidFill>
                      <a:srgbClr val="FFFFFF"/>
                    </a:solidFill>
                  </a:tcPr>
                </a:tc>
              </a:tr>
            </a:tbl>
          </a:graphicData>
        </a:graphic>
      </p:graphicFrame>
      <p:sp>
        <p:nvSpPr>
          <p:cNvPr id="5" name="Weights stay fixed. Three state shuffles average within each">
            <a:extLst xmlns:a="http://schemas.openxmlformats.org/drawingml/2006/main">
              <a:ext uri="{FF2B5EF4-FFF2-40B4-BE49-F238E27FC236}">
                <a16:creationId xmlns:a16="http://schemas.microsoft.com/office/drawing/2014/main" id="{93E72DE9-1133-4D3B-AD76-80D3910FFFD8}"/>
              </a:ext>
            </a:extLst>
          </p:cNvPr>
          <p:cNvSpPr>
            <a:spLocks xmlns:a="http://schemas.openxmlformats.org/drawingml/2006/main" noGrp="1"/>
          </p:cNvSpPr>
          <p:nvPr/>
        </p:nvSpPr>
        <p:spPr>
          <a:xfrm xmlns:a="http://schemas.openxmlformats.org/drawingml/2006/main">
            <a:off x="685800" y="51054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C83"/>
                </a:solidFill>
                <a:latin typeface="Arial"/>
                <a:ea typeface="Arial"/>
                <a:cs typeface="Arial"/>
              </a:defRPr>
            </a:defPPr>
          </a:lstStyle>
          <a:p xmlns:a="http://schemas.openxmlformats.org/drawingml/2006/main">
            <a:pPr algn="l">
              <a:buNone/>
              <a:defRPr sz="2100" b="1">
                <a:solidFill>
                  <a:srgbClr val="087C83"/>
                </a:solidFill>
                <a:latin typeface="Arial"/>
                <a:ea typeface="Arial"/>
                <a:cs typeface="Arial"/>
              </a:defRPr>
            </a:pPr>
            <a:r>
              <a:rPr sz="2100" b="1">
                <a:solidFill>
                  <a:srgbClr val="087C83"/>
                </a:solidFill>
                <a:latin typeface="Arial"/>
                <a:ea typeface="Arial"/>
                <a:cs typeface="Arial"/>
              </a:rPr>
              <a:t>Weights stay fixed. Three state shuffles average within each seed.</a:t>
            </a:r>
          </a:p>
        </p:txBody>
      </p:sp>
      <p:sp>
        <p:nvSpPr>
          <p:cNvPr id="6" name="The causal claim concerns interventions inside this trained ">
            <a:extLst xmlns:a="http://schemas.openxmlformats.org/drawingml/2006/main">
              <a:ext uri="{FF2B5EF4-FFF2-40B4-BE49-F238E27FC236}">
                <a16:creationId xmlns:a16="http://schemas.microsoft.com/office/drawing/2014/main" id="{E3D9CB89-02A0-418B-846A-B176ED6D69C9}"/>
              </a:ext>
            </a:extLst>
          </p:cNvPr>
          <p:cNvSpPr>
            <a:spLocks xmlns:a="http://schemas.openxmlformats.org/drawingml/2006/main" noGrp="1"/>
          </p:cNvSpPr>
          <p:nvPr/>
        </p:nvSpPr>
        <p:spPr>
          <a:xfrm xmlns:a="http://schemas.openxmlformats.org/drawingml/2006/main">
            <a:off x="685800" y="574357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72"/>
                </a:solidFill>
                <a:latin typeface="Arial"/>
                <a:ea typeface="Arial"/>
                <a:cs typeface="Arial"/>
              </a:defRPr>
            </a:defPPr>
          </a:lstStyle>
          <a:p xmlns:a="http://schemas.openxmlformats.org/drawingml/2006/main">
            <a:pPr algn="l">
              <a:buNone/>
              <a:defRPr sz="1875" b="0">
                <a:solidFill>
                  <a:srgbClr val="536672"/>
                </a:solidFill>
                <a:latin typeface="Arial"/>
                <a:ea typeface="Arial"/>
                <a:cs typeface="Arial"/>
              </a:defRPr>
            </a:pPr>
            <a:r>
              <a:rPr sz="1875" b="0">
                <a:solidFill>
                  <a:srgbClr val="536672"/>
                </a:solidFill>
                <a:latin typeface="Arial"/>
                <a:ea typeface="Arial"/>
                <a:cs typeface="Arial"/>
              </a:rPr>
              <a:t>The causal claim concerns interventions inside this trained computational model.</a:t>
            </a:r>
          </a:p>
        </p:txBody>
      </p:sp>
    </p:spTree>
    <p:extLst>
      <p:ext uri="{BB962C8B-B14F-4D97-AF65-F5344CB8AC3E}">
        <p14:creationId xmlns:p14="http://schemas.microsoft.com/office/powerpoint/2010/main" val="74269126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tate removal and exchange reduce accuracy">
            <a:extLst xmlns:a="http://schemas.openxmlformats.org/drawingml/2006/main">
              <a:ext uri="{FF2B5EF4-FFF2-40B4-BE49-F238E27FC236}">
                <a16:creationId xmlns:a16="http://schemas.microsoft.com/office/drawing/2014/main" id="{96F95AF4-2237-4DEF-AA64-FCFC29BC25FA}"/>
              </a:ext>
            </a:extLst>
          </p:cNvPr>
          <p:cNvSpPr>
            <a:spLocks xmlns:a="http://schemas.openxmlformats.org/drawingml/2006/main" noGrp="1"/>
          </p:cNvSpPr>
          <p:nvPr/>
        </p:nvSpPr>
        <p:spPr>
          <a:xfrm xmlns:a="http://schemas.openxmlformats.org/drawingml/2006/main">
            <a:off x="609600" y="4000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D38"/>
                </a:solidFill>
                <a:latin typeface="Arial"/>
                <a:ea typeface="Arial"/>
                <a:cs typeface="Arial"/>
              </a:defRPr>
            </a:defPPr>
          </a:lstStyle>
          <a:p xmlns:a="http://schemas.openxmlformats.org/drawingml/2006/main">
            <a:pPr algn="l">
              <a:buNone/>
              <a:defRPr sz="3300" b="1">
                <a:solidFill>
                  <a:srgbClr val="142D38"/>
                </a:solidFill>
                <a:latin typeface="Arial"/>
                <a:ea typeface="Arial"/>
                <a:cs typeface="Arial"/>
              </a:defRPr>
            </a:pPr>
            <a:r>
              <a:rPr sz="3300" b="1">
                <a:solidFill>
                  <a:srgbClr val="142D38"/>
                </a:solidFill>
                <a:latin typeface="Arial"/>
                <a:ea typeface="Arial"/>
                <a:cs typeface="Arial"/>
              </a:rPr>
              <a:t>State removal and exchange reduce accuracy</a:t>
            </a:r>
          </a:p>
        </p:txBody>
      </p:sp>
      <p:sp>
        <p:nvSpPr>
          <p:cNvPr id="2" name="A-SNN Evidence-1">
            <a:extLst xmlns:a="http://schemas.openxmlformats.org/drawingml/2006/main">
              <a:ext uri="{FF2B5EF4-FFF2-40B4-BE49-F238E27FC236}">
                <a16:creationId xmlns:a16="http://schemas.microsoft.com/office/drawing/2014/main" id="{B398F0D6-BA44-43AA-B936-9AE675BD94DE}"/>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672"/>
                </a:solidFill>
                <a:latin typeface="Arial"/>
                <a:ea typeface="Arial"/>
                <a:cs typeface="Arial"/>
              </a:defRPr>
            </a:defPPr>
          </a:lstStyle>
          <a:p xmlns:a="http://schemas.openxmlformats.org/drawingml/2006/main">
            <a:pPr algn="l">
              <a:buNone/>
              <a:defRPr sz="1350" b="0">
                <a:solidFill>
                  <a:srgbClr val="536672"/>
                </a:solidFill>
                <a:latin typeface="Arial"/>
                <a:ea typeface="Arial"/>
                <a:cs typeface="Arial"/>
              </a:defRPr>
            </a:pPr>
            <a:r>
              <a:rPr sz="1350" b="0">
                <a:solidFill>
                  <a:srgbClr val="536672"/>
                </a:solidFill>
                <a:latin typeface="Arial"/>
                <a:ea typeface="Arial"/>
                <a:cs typeface="Arial"/>
              </a:rPr>
              <a:t>A-SNN Evidence-1</a:t>
            </a:r>
          </a:p>
        </p:txBody>
      </p:sp>
      <p:sp>
        <p:nvSpPr>
          <p:cNvPr id="3" name="6">
            <a:extLst xmlns:a="http://schemas.openxmlformats.org/drawingml/2006/main">
              <a:ext uri="{FF2B5EF4-FFF2-40B4-BE49-F238E27FC236}">
                <a16:creationId xmlns:a16="http://schemas.microsoft.com/office/drawing/2014/main" id="{3BFEC388-9F49-4FC8-BCCC-04FE2EDEBF92}"/>
              </a:ext>
            </a:extLst>
          </p:cNvPr>
          <p:cNvSpPr>
            <a:spLocks xmlns:a="http://schemas.openxmlformats.org/drawingml/2006/main" noGrp="1"/>
          </p:cNvSpPr>
          <p:nvPr/>
        </p:nvSpPr>
        <p:spPr>
          <a:xfrm xmlns:a="http://schemas.openxmlformats.org/drawingml/2006/main">
            <a:off x="11049000" y="64008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672"/>
                </a:solidFill>
                <a:latin typeface="Arial"/>
                <a:ea typeface="Arial"/>
                <a:cs typeface="Arial"/>
              </a:defRPr>
            </a:defPPr>
          </a:lstStyle>
          <a:p xmlns:a="http://schemas.openxmlformats.org/drawingml/2006/main">
            <a:pPr algn="r">
              <a:buNone/>
              <a:defRPr sz="1350" b="0">
                <a:solidFill>
                  <a:srgbClr val="536672"/>
                </a:solidFill>
                <a:latin typeface="Arial"/>
                <a:ea typeface="Arial"/>
                <a:cs typeface="Arial"/>
              </a:defRPr>
            </a:pPr>
            <a:r>
              <a:rPr sz="1350" b="0">
                <a:solidFill>
                  <a:srgbClr val="536672"/>
                </a:solidFill>
                <a:latin typeface="Arial"/>
                <a:ea typeface="Arial"/>
                <a:cs typeface="Arial"/>
              </a:rPr>
              <a:t>6</a:t>
            </a:r>
          </a:p>
        </p:txBody>
      </p:sp>
      <p:graphicFrame>
        <p:nvGraphicFramePr>
          <p:cNvPr id="4" name="Chart">
            <a:extLst xmlns:a="http://schemas.openxmlformats.org/drawingml/2006/main">
              <a:ext uri="{FF2B5EF4-FFF2-40B4-BE49-F238E27FC236}">
                <a16:creationId xmlns:a16="http://schemas.microsoft.com/office/drawing/2014/main" id="{7EBA53B0-A7D5-4D8F-95E8-F04E2C42EF1B}"/>
              </a:ext>
            </a:extLst>
          </p:cNvPr>
          <p:cNvGraphicFramePr/>
          <p:nvPr/>
        </p:nvGraphicFramePr>
        <p:xfrm>
          <a:off xmlns:a="http://schemas.openxmlformats.org/drawingml/2006/main" x="609600" y="1504950"/>
          <a:ext xmlns:a="http://schemas.openxmlformats.org/drawingml/2006/main" cx="10972800" cy="3943350"/>
        </p:xfrm>
        <a:graphic xmlns:a="http://schemas.openxmlformats.org/drawingml/2006/main">
          <a:graphicData uri="http://schemas.openxmlformats.org/drawingml/2006/chart">
            <c:chart xmlns:r="http://schemas.openxmlformats.org/officeDocument/2006/relationships" xmlns:c="http://schemas.openxmlformats.org/drawingml/2006/chart" r:id="R095f24d131914859"/>
          </a:graphicData>
        </a:graphic>
      </p:graphicFrame>
      <p:sp>
        <p:nvSpPr>
          <p:cNvPr id="5" name="Both datasets pass the causal gate. All four paired 95% inte">
            <a:extLst xmlns:a="http://schemas.openxmlformats.org/drawingml/2006/main">
              <a:ext uri="{FF2B5EF4-FFF2-40B4-BE49-F238E27FC236}">
                <a16:creationId xmlns:a16="http://schemas.microsoft.com/office/drawing/2014/main" id="{EA04A848-4D4D-433A-9399-F90588093238}"/>
              </a:ext>
            </a:extLst>
          </p:cNvPr>
          <p:cNvSpPr>
            <a:spLocks xmlns:a="http://schemas.openxmlformats.org/drawingml/2006/main" noGrp="1"/>
          </p:cNvSpPr>
          <p:nvPr/>
        </p:nvSpPr>
        <p:spPr>
          <a:xfrm xmlns:a="http://schemas.openxmlformats.org/drawingml/2006/main">
            <a:off x="685800" y="56769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C83"/>
                </a:solidFill>
                <a:latin typeface="Arial"/>
                <a:ea typeface="Arial"/>
                <a:cs typeface="Arial"/>
              </a:defRPr>
            </a:defPPr>
          </a:lstStyle>
          <a:p xmlns:a="http://schemas.openxmlformats.org/drawingml/2006/main">
            <a:pPr algn="l">
              <a:buNone/>
              <a:defRPr sz="2025" b="1">
                <a:solidFill>
                  <a:srgbClr val="087C83"/>
                </a:solidFill>
                <a:latin typeface="Arial"/>
                <a:ea typeface="Arial"/>
                <a:cs typeface="Arial"/>
              </a:defRPr>
            </a:pPr>
            <a:r>
              <a:rPr sz="2025" b="1">
                <a:solidFill>
                  <a:srgbClr val="087C83"/>
                </a:solidFill>
                <a:latin typeface="Arial"/>
                <a:ea typeface="Arial"/>
                <a:cs typeface="Arial"/>
              </a:rPr>
              <a:t>Both datasets pass the causal gate. All four paired 95% intervals stay above zero.</a:t>
            </a:r>
          </a:p>
        </p:txBody>
      </p:sp>
    </p:spTree>
    <p:extLst>
      <p:ext uri="{BB962C8B-B14F-4D97-AF65-F5344CB8AC3E}">
        <p14:creationId xmlns:p14="http://schemas.microsoft.com/office/powerpoint/2010/main" val="29381796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st accuracy under the common recipe">
            <a:extLst xmlns:a="http://schemas.openxmlformats.org/drawingml/2006/main">
              <a:ext uri="{FF2B5EF4-FFF2-40B4-BE49-F238E27FC236}">
                <a16:creationId xmlns:a16="http://schemas.microsoft.com/office/drawing/2014/main" id="{DA04FE3F-AB2F-4B4D-BF14-8BCD7E17CC6B}"/>
              </a:ext>
            </a:extLst>
          </p:cNvPr>
          <p:cNvSpPr>
            <a:spLocks xmlns:a="http://schemas.openxmlformats.org/drawingml/2006/main" noGrp="1"/>
          </p:cNvSpPr>
          <p:nvPr/>
        </p:nvSpPr>
        <p:spPr>
          <a:xfrm xmlns:a="http://schemas.openxmlformats.org/drawingml/2006/main">
            <a:off x="609600" y="4000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D38"/>
                </a:solidFill>
                <a:latin typeface="Arial"/>
                <a:ea typeface="Arial"/>
                <a:cs typeface="Arial"/>
              </a:defRPr>
            </a:defPPr>
          </a:lstStyle>
          <a:p xmlns:a="http://schemas.openxmlformats.org/drawingml/2006/main">
            <a:pPr algn="l">
              <a:buNone/>
              <a:defRPr sz="3300" b="1">
                <a:solidFill>
                  <a:srgbClr val="142D38"/>
                </a:solidFill>
                <a:latin typeface="Arial"/>
                <a:ea typeface="Arial"/>
                <a:cs typeface="Arial"/>
              </a:defRPr>
            </a:pPr>
            <a:r>
              <a:rPr sz="3300" b="1">
                <a:solidFill>
                  <a:srgbClr val="142D38"/>
                </a:solidFill>
                <a:latin typeface="Arial"/>
                <a:ea typeface="Arial"/>
                <a:cs typeface="Arial"/>
              </a:rPr>
              <a:t>Test accuracy under the common recipe</a:t>
            </a:r>
          </a:p>
        </p:txBody>
      </p:sp>
      <p:sp>
        <p:nvSpPr>
          <p:cNvPr id="2" name="A-SNN Evidence-1">
            <a:extLst xmlns:a="http://schemas.openxmlformats.org/drawingml/2006/main">
              <a:ext uri="{FF2B5EF4-FFF2-40B4-BE49-F238E27FC236}">
                <a16:creationId xmlns:a16="http://schemas.microsoft.com/office/drawing/2014/main" id="{DF3BC3B5-530A-4584-B86D-D18BCB6CD9C0}"/>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672"/>
                </a:solidFill>
                <a:latin typeface="Arial"/>
                <a:ea typeface="Arial"/>
                <a:cs typeface="Arial"/>
              </a:defRPr>
            </a:defPPr>
          </a:lstStyle>
          <a:p xmlns:a="http://schemas.openxmlformats.org/drawingml/2006/main">
            <a:pPr algn="l">
              <a:buNone/>
              <a:defRPr sz="1350" b="0">
                <a:solidFill>
                  <a:srgbClr val="536672"/>
                </a:solidFill>
                <a:latin typeface="Arial"/>
                <a:ea typeface="Arial"/>
                <a:cs typeface="Arial"/>
              </a:defRPr>
            </a:pPr>
            <a:r>
              <a:rPr sz="1350" b="0">
                <a:solidFill>
                  <a:srgbClr val="536672"/>
                </a:solidFill>
                <a:latin typeface="Arial"/>
                <a:ea typeface="Arial"/>
                <a:cs typeface="Arial"/>
              </a:rPr>
              <a:t>A-SNN Evidence-1</a:t>
            </a:r>
          </a:p>
        </p:txBody>
      </p:sp>
      <p:sp>
        <p:nvSpPr>
          <p:cNvPr id="3" name="7">
            <a:extLst xmlns:a="http://schemas.openxmlformats.org/drawingml/2006/main">
              <a:ext uri="{FF2B5EF4-FFF2-40B4-BE49-F238E27FC236}">
                <a16:creationId xmlns:a16="http://schemas.microsoft.com/office/drawing/2014/main" id="{CED47905-EA51-4BDF-934F-400C1AE940E3}"/>
              </a:ext>
            </a:extLst>
          </p:cNvPr>
          <p:cNvSpPr>
            <a:spLocks xmlns:a="http://schemas.openxmlformats.org/drawingml/2006/main" noGrp="1"/>
          </p:cNvSpPr>
          <p:nvPr/>
        </p:nvSpPr>
        <p:spPr>
          <a:xfrm xmlns:a="http://schemas.openxmlformats.org/drawingml/2006/main">
            <a:off x="11049000" y="64008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672"/>
                </a:solidFill>
                <a:latin typeface="Arial"/>
                <a:ea typeface="Arial"/>
                <a:cs typeface="Arial"/>
              </a:defRPr>
            </a:defPPr>
          </a:lstStyle>
          <a:p xmlns:a="http://schemas.openxmlformats.org/drawingml/2006/main">
            <a:pPr algn="r">
              <a:buNone/>
              <a:defRPr sz="1350" b="0">
                <a:solidFill>
                  <a:srgbClr val="536672"/>
                </a:solidFill>
                <a:latin typeface="Arial"/>
                <a:ea typeface="Arial"/>
                <a:cs typeface="Arial"/>
              </a:defRPr>
            </a:pPr>
            <a:r>
              <a:rPr sz="1350" b="0">
                <a:solidFill>
                  <a:srgbClr val="536672"/>
                </a:solidFill>
                <a:latin typeface="Arial"/>
                <a:ea typeface="Arial"/>
                <a:cs typeface="Arial"/>
              </a:rPr>
              <a:t>7</a:t>
            </a:r>
          </a:p>
        </p:txBody>
      </p:sp>
      <p:graphicFrame>
        <p:nvGraphicFramePr>
          <p:cNvPr id="4" name="Chart">
            <a:extLst xmlns:a="http://schemas.openxmlformats.org/drawingml/2006/main">
              <a:ext uri="{FF2B5EF4-FFF2-40B4-BE49-F238E27FC236}">
                <a16:creationId xmlns:a16="http://schemas.microsoft.com/office/drawing/2014/main" id="{57743468-E4B8-4171-A694-C005D53A3759}"/>
              </a:ext>
            </a:extLst>
          </p:cNvPr>
          <p:cNvGraphicFramePr/>
          <p:nvPr/>
        </p:nvGraphicFramePr>
        <p:xfrm>
          <a:off xmlns:a="http://schemas.openxmlformats.org/drawingml/2006/main" x="609600" y="1495425"/>
          <a:ext xmlns:a="http://schemas.openxmlformats.org/drawingml/2006/main" cx="10972800" cy="3962400"/>
        </p:xfrm>
        <a:graphic xmlns:a="http://schemas.openxmlformats.org/drawingml/2006/main">
          <a:graphicData uri="http://schemas.openxmlformats.org/drawingml/2006/chart">
            <c:chart xmlns:r="http://schemas.openxmlformats.org/officeDocument/2006/relationships" xmlns:c="http://schemas.openxmlformats.org/drawingml/2006/chart" r:id="R2e336ad6a7d74759"/>
          </a:graphicData>
        </a:graphic>
      </p:graphicFrame>
      <p:sp>
        <p:nvSpPr>
          <p:cNvPr id="5" name="Means across ten paired seeds. The weak SHD GRU result refle">
            <a:extLst xmlns:a="http://schemas.openxmlformats.org/drawingml/2006/main">
              <a:ext uri="{FF2B5EF4-FFF2-40B4-BE49-F238E27FC236}">
                <a16:creationId xmlns:a16="http://schemas.microsoft.com/office/drawing/2014/main" id="{88F1889E-7E07-40FE-B433-BD72FC4ACFCE}"/>
              </a:ext>
            </a:extLst>
          </p:cNvPr>
          <p:cNvSpPr>
            <a:spLocks xmlns:a="http://schemas.openxmlformats.org/drawingml/2006/main" noGrp="1"/>
          </p:cNvSpPr>
          <p:nvPr/>
        </p:nvSpPr>
        <p:spPr>
          <a:xfrm xmlns:a="http://schemas.openxmlformats.org/drawingml/2006/main">
            <a:off x="685800" y="5705475"/>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72"/>
                </a:solidFill>
                <a:latin typeface="Arial"/>
                <a:ea typeface="Arial"/>
                <a:cs typeface="Arial"/>
              </a:defRPr>
            </a:defPPr>
          </a:lstStyle>
          <a:p xmlns:a="http://schemas.openxmlformats.org/drawingml/2006/main">
            <a:pPr algn="l">
              <a:buNone/>
              <a:defRPr sz="1950" b="0">
                <a:solidFill>
                  <a:srgbClr val="536672"/>
                </a:solidFill>
                <a:latin typeface="Arial"/>
                <a:ea typeface="Arial"/>
                <a:cs typeface="Arial"/>
              </a:defRPr>
            </a:pPr>
            <a:r>
              <a:rPr sz="1950" b="0">
                <a:solidFill>
                  <a:srgbClr val="536672"/>
                </a:solidFill>
                <a:latin typeface="Arial"/>
                <a:ea typeface="Arial"/>
                <a:cs typeface="Arial"/>
              </a:rPr>
              <a:t>Means across ten paired seeds. The weak SHD GRU result reflects this specific recipe.</a:t>
            </a:r>
          </a:p>
        </p:txBody>
      </p:sp>
    </p:spTree>
    <p:extLst>
      <p:ext uri="{BB962C8B-B14F-4D97-AF65-F5344CB8AC3E}">
        <p14:creationId xmlns:p14="http://schemas.microsoft.com/office/powerpoint/2010/main" val="5678143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he registered accuracy gate fails">
            <a:extLst xmlns:a="http://schemas.openxmlformats.org/drawingml/2006/main">
              <a:ext uri="{FF2B5EF4-FFF2-40B4-BE49-F238E27FC236}">
                <a16:creationId xmlns:a16="http://schemas.microsoft.com/office/drawing/2014/main" id="{BE5C2865-06A5-4026-9D28-A8288FF5B340}"/>
              </a:ext>
            </a:extLst>
          </p:cNvPr>
          <p:cNvSpPr>
            <a:spLocks xmlns:a="http://schemas.openxmlformats.org/drawingml/2006/main" noGrp="1"/>
          </p:cNvSpPr>
          <p:nvPr/>
        </p:nvSpPr>
        <p:spPr>
          <a:xfrm xmlns:a="http://schemas.openxmlformats.org/drawingml/2006/main">
            <a:off x="609600" y="4000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D38"/>
                </a:solidFill>
                <a:latin typeface="Arial"/>
                <a:ea typeface="Arial"/>
                <a:cs typeface="Arial"/>
              </a:defRPr>
            </a:defPPr>
          </a:lstStyle>
          <a:p xmlns:a="http://schemas.openxmlformats.org/drawingml/2006/main">
            <a:pPr algn="l">
              <a:buNone/>
              <a:defRPr sz="3300" b="1">
                <a:solidFill>
                  <a:srgbClr val="142D38"/>
                </a:solidFill>
                <a:latin typeface="Arial"/>
                <a:ea typeface="Arial"/>
                <a:cs typeface="Arial"/>
              </a:defRPr>
            </a:pPr>
            <a:r>
              <a:rPr sz="3300" b="1">
                <a:solidFill>
                  <a:srgbClr val="142D38"/>
                </a:solidFill>
                <a:latin typeface="Arial"/>
                <a:ea typeface="Arial"/>
                <a:cs typeface="Arial"/>
              </a:rPr>
              <a:t>The registered accuracy gate fails</a:t>
            </a:r>
          </a:p>
        </p:txBody>
      </p:sp>
      <p:sp>
        <p:nvSpPr>
          <p:cNvPr id="2" name="A-SNN Evidence-1">
            <a:extLst xmlns:a="http://schemas.openxmlformats.org/drawingml/2006/main">
              <a:ext uri="{FF2B5EF4-FFF2-40B4-BE49-F238E27FC236}">
                <a16:creationId xmlns:a16="http://schemas.microsoft.com/office/drawing/2014/main" id="{C6BDA6F7-B39F-4714-AC59-54468C31373B}"/>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672"/>
                </a:solidFill>
                <a:latin typeface="Arial"/>
                <a:ea typeface="Arial"/>
                <a:cs typeface="Arial"/>
              </a:defRPr>
            </a:defPPr>
          </a:lstStyle>
          <a:p xmlns:a="http://schemas.openxmlformats.org/drawingml/2006/main">
            <a:pPr algn="l">
              <a:buNone/>
              <a:defRPr sz="1350" b="0">
                <a:solidFill>
                  <a:srgbClr val="536672"/>
                </a:solidFill>
                <a:latin typeface="Arial"/>
                <a:ea typeface="Arial"/>
                <a:cs typeface="Arial"/>
              </a:defRPr>
            </a:pPr>
            <a:r>
              <a:rPr sz="1350" b="0">
                <a:solidFill>
                  <a:srgbClr val="536672"/>
                </a:solidFill>
                <a:latin typeface="Arial"/>
                <a:ea typeface="Arial"/>
                <a:cs typeface="Arial"/>
              </a:rPr>
              <a:t>A-SNN Evidence-1</a:t>
            </a:r>
          </a:p>
        </p:txBody>
      </p:sp>
      <p:sp>
        <p:nvSpPr>
          <p:cNvPr id="3" name="8">
            <a:extLst xmlns:a="http://schemas.openxmlformats.org/drawingml/2006/main">
              <a:ext uri="{FF2B5EF4-FFF2-40B4-BE49-F238E27FC236}">
                <a16:creationId xmlns:a16="http://schemas.microsoft.com/office/drawing/2014/main" id="{782153B3-E0CD-46B6-9423-9151DD99FD60}"/>
              </a:ext>
            </a:extLst>
          </p:cNvPr>
          <p:cNvSpPr>
            <a:spLocks xmlns:a="http://schemas.openxmlformats.org/drawingml/2006/main" noGrp="1"/>
          </p:cNvSpPr>
          <p:nvPr/>
        </p:nvSpPr>
        <p:spPr>
          <a:xfrm xmlns:a="http://schemas.openxmlformats.org/drawingml/2006/main">
            <a:off x="11049000" y="64008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672"/>
                </a:solidFill>
                <a:latin typeface="Arial"/>
                <a:ea typeface="Arial"/>
                <a:cs typeface="Arial"/>
              </a:defRPr>
            </a:defPPr>
          </a:lstStyle>
          <a:p xmlns:a="http://schemas.openxmlformats.org/drawingml/2006/main">
            <a:pPr algn="r">
              <a:buNone/>
              <a:defRPr sz="1350" b="0">
                <a:solidFill>
                  <a:srgbClr val="536672"/>
                </a:solidFill>
                <a:latin typeface="Arial"/>
                <a:ea typeface="Arial"/>
                <a:cs typeface="Arial"/>
              </a:defRPr>
            </a:pPr>
            <a:r>
              <a:rPr sz="1350" b="0">
                <a:solidFill>
                  <a:srgbClr val="536672"/>
                </a:solidFill>
                <a:latin typeface="Arial"/>
                <a:ea typeface="Arial"/>
                <a:cs typeface="Arial"/>
              </a:rPr>
              <a:t>8</a:t>
            </a:r>
          </a:p>
        </p:txBody>
      </p:sp>
      <p:graphicFrame>
        <p:nvGraphicFramePr>
          <p:cNvPr id="4" name="">
            <a:extLst xmlns:a="http://schemas.openxmlformats.org/drawingml/2006/main">
              <a:ext uri="{FF2B5EF4-FFF2-40B4-BE49-F238E27FC236}">
                <a16:creationId xmlns:a16="http://schemas.microsoft.com/office/drawing/2014/main" id="{93B5B061-72C5-490B-A581-FC834218B24A}"/>
              </a:ext>
            </a:extLst>
          </p:cNvPr>
          <p:cNvGraphicFramePr/>
          <p:nvPr/>
        </p:nvGraphicFramePr>
        <p:xfrm>
          <a:off xmlns:a="http://schemas.openxmlformats.org/drawingml/2006/main" x="609600" y="1724025"/>
          <a:ext xmlns:a="http://schemas.openxmlformats.org/drawingml/2006/main" cx="10972800" cy="2514600"/>
        </p:xfrm>
        <a:graphic xmlns:a="http://schemas.openxmlformats.org/drawingml/2006/main">
          <a:graphicData uri="http://schemas.openxmlformats.org/drawingml/2006/table">
            <a:tbl>
              <a:tblPr/>
              <a:tblGrid>
                <a:gridCol w="2286000"/>
                <a:gridCol w="3333750"/>
                <a:gridCol w="3524250"/>
                <a:gridCol w="1828800"/>
              </a:tblGrid>
              <a:tr h="628650">
                <a:tc>
                  <a:txBody>
                    <a:bodyPr lIns="114300" tIns="114300" rIns="114300" bIns="114300"/>
                    <a:lstStyle/>
                    <a:p>
                      <a:r>
                        <a:rPr sz="1950" b="1">
                          <a:solidFill>
                            <a:srgbClr val="FFFFFF"/>
                          </a:solidFill>
                          <a:latin typeface="Arial"/>
                          <a:ea typeface="Arial"/>
                          <a:cs typeface="Arial"/>
                        </a:rPr>
                        <a:t>SSC comparison</a:t>
                      </a:r>
                    </a:p>
                  </a:txBody>
                  <a:tcPr marL="91440" marR="91440" marT="45720" marB="45720" anchor="ctr">
                    <a:lnL w="9525">
                      <a:solidFill>
                        <a:srgbClr val="D9E2E4"/>
                      </a:solidFill>
                      <a:prstDash val="solid"/>
                    </a:lnL>
                    <a:lnR w="9525">
                      <a:solidFill>
                        <a:srgbClr val="D9E2E4"/>
                      </a:solidFill>
                      <a:prstDash val="solid"/>
                    </a:lnR>
                    <a:lnT w="9525">
                      <a:solidFill>
                        <a:srgbClr val="D9E2E4"/>
                      </a:solidFill>
                      <a:prstDash val="solid"/>
                    </a:lnT>
                    <a:lnB w="9525">
                      <a:solidFill>
                        <a:srgbClr val="D9E2E4"/>
                      </a:solidFill>
                      <a:prstDash val="solid"/>
                    </a:lnB>
                    <a:solidFill>
                      <a:srgbClr val="142D38"/>
                    </a:solidFill>
                  </a:tcPr>
                </a:tc>
                <a:tc>
                  <a:txBody>
                    <a:bodyPr lIns="114300" tIns="114300" rIns="114300" bIns="114300"/>
                    <a:lstStyle/>
                    <a:p>
                      <a:r>
                        <a:rPr sz="1950" b="1">
                          <a:solidFill>
                            <a:srgbClr val="FFFFFF"/>
                          </a:solidFill>
                          <a:latin typeface="Arial"/>
                          <a:ea typeface="Arial"/>
                          <a:cs typeface="Arial"/>
                        </a:rPr>
                        <a:t>Residual minus baseline</a:t>
                      </a:r>
                    </a:p>
                  </a:txBody>
                  <a:tcPr marL="91440" marR="91440" marT="45720" marB="45720" anchor="ctr">
                    <a:lnR w="9525">
                      <a:solidFill>
                        <a:srgbClr val="D9E2E4"/>
                      </a:solidFill>
                      <a:prstDash val="solid"/>
                    </a:lnR>
                    <a:lnT w="9525">
                      <a:solidFill>
                        <a:srgbClr val="D9E2E4"/>
                      </a:solidFill>
                      <a:prstDash val="solid"/>
                    </a:lnT>
                    <a:lnB w="9525">
                      <a:solidFill>
                        <a:srgbClr val="D9E2E4"/>
                      </a:solidFill>
                      <a:prstDash val="solid"/>
                    </a:lnB>
                    <a:solidFill>
                      <a:srgbClr val="142D38"/>
                    </a:solidFill>
                  </a:tcPr>
                </a:tc>
                <a:tc>
                  <a:txBody>
                    <a:bodyPr lIns="114300" tIns="114300" rIns="114300" bIns="114300"/>
                    <a:lstStyle/>
                    <a:p>
                      <a:r>
                        <a:rPr sz="1950" b="1">
                          <a:solidFill>
                            <a:srgbClr val="FFFFFF"/>
                          </a:solidFill>
                          <a:latin typeface="Arial"/>
                          <a:ea typeface="Arial"/>
                          <a:cs typeface="Arial"/>
                        </a:rPr>
                        <a:t>Paired 95% interval</a:t>
                      </a:r>
                    </a:p>
                  </a:txBody>
                  <a:tcPr marL="91440" marR="91440" marT="45720" marB="45720" anchor="ctr">
                    <a:lnR w="9525">
                      <a:solidFill>
                        <a:srgbClr val="D9E2E4"/>
                      </a:solidFill>
                      <a:prstDash val="solid"/>
                    </a:lnR>
                    <a:lnT w="9525">
                      <a:solidFill>
                        <a:srgbClr val="D9E2E4"/>
                      </a:solidFill>
                      <a:prstDash val="solid"/>
                    </a:lnT>
                    <a:lnB w="9525">
                      <a:solidFill>
                        <a:srgbClr val="D9E2E4"/>
                      </a:solidFill>
                      <a:prstDash val="solid"/>
                    </a:lnB>
                    <a:solidFill>
                      <a:srgbClr val="142D38"/>
                    </a:solidFill>
                  </a:tcPr>
                </a:tc>
                <a:tc>
                  <a:txBody>
                    <a:bodyPr lIns="114300" tIns="114300" rIns="114300" bIns="114300"/>
                    <a:lstStyle/>
                    <a:p>
                      <a:r>
                        <a:rPr sz="1950" b="1">
                          <a:solidFill>
                            <a:srgbClr val="FFFFFF"/>
                          </a:solidFill>
                          <a:latin typeface="Arial"/>
                          <a:ea typeface="Arial"/>
                          <a:cs typeface="Arial"/>
                        </a:rPr>
                        <a:t>Rule</a:t>
                      </a:r>
                    </a:p>
                  </a:txBody>
                  <a:tcPr marL="91440" marR="91440" marT="45720" marB="45720" anchor="ctr">
                    <a:lnR w="9525">
                      <a:solidFill>
                        <a:srgbClr val="D9E2E4"/>
                      </a:solidFill>
                      <a:prstDash val="solid"/>
                    </a:lnR>
                    <a:lnT w="9525">
                      <a:solidFill>
                        <a:srgbClr val="D9E2E4"/>
                      </a:solidFill>
                      <a:prstDash val="solid"/>
                    </a:lnT>
                    <a:lnB w="9525">
                      <a:solidFill>
                        <a:srgbClr val="D9E2E4"/>
                      </a:solidFill>
                      <a:prstDash val="solid"/>
                    </a:lnB>
                    <a:solidFill>
                      <a:srgbClr val="142D38"/>
                    </a:solidFill>
                  </a:tcPr>
                </a:tc>
              </a:tr>
              <a:tr h="628650">
                <a:tc>
                  <a:txBody>
                    <a:bodyPr lIns="114300" tIns="114300" rIns="114300" bIns="114300"/>
                    <a:lstStyle/>
                    <a:p>
                      <a:r>
                        <a:rPr sz="1950" b="0">
                          <a:solidFill>
                            <a:srgbClr val="142D38"/>
                          </a:solidFill>
                          <a:latin typeface="Arial"/>
                          <a:ea typeface="Arial"/>
                          <a:cs typeface="Arial"/>
                        </a:rPr>
                        <a:t>Conv1D</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1950" b="0">
                          <a:solidFill>
                            <a:srgbClr val="142D38"/>
                          </a:solidFill>
                          <a:latin typeface="Arial"/>
                          <a:ea typeface="Arial"/>
                          <a:cs typeface="Arial"/>
                        </a:rPr>
                        <a:t>+6.71 pp</a:t>
                      </a:r>
                    </a:p>
                  </a:txBody>
                  <a:tcPr marL="91440" marR="91440" marT="45720" marB="45720" anchor="ctr">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1950" b="0">
                          <a:solidFill>
                            <a:srgbClr val="142D38"/>
                          </a:solidFill>
                          <a:latin typeface="Arial"/>
                          <a:ea typeface="Arial"/>
                          <a:cs typeface="Arial"/>
                        </a:rPr>
                        <a:t>[5.01, 8.41] pp</a:t>
                      </a:r>
                    </a:p>
                  </a:txBody>
                  <a:tcPr marL="91440" marR="91440" marT="45720" marB="45720" anchor="ctr">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1950" b="0">
                          <a:solidFill>
                            <a:srgbClr val="142D38"/>
                          </a:solidFill>
                          <a:latin typeface="Arial"/>
                          <a:ea typeface="Arial"/>
                          <a:cs typeface="Arial"/>
                        </a:rPr>
                        <a:t>Pass</a:t>
                      </a:r>
                    </a:p>
                  </a:txBody>
                  <a:tcPr marL="91440" marR="91440" marT="45720" marB="45720" anchor="ctr">
                    <a:lnR w="9525">
                      <a:solidFill>
                        <a:srgbClr val="D9E2E4"/>
                      </a:solidFill>
                      <a:prstDash val="solid"/>
                    </a:lnR>
                    <a:lnB w="9525">
                      <a:solidFill>
                        <a:srgbClr val="D9E2E4"/>
                      </a:solidFill>
                      <a:prstDash val="solid"/>
                    </a:lnB>
                    <a:solidFill>
                      <a:srgbClr val="FFFFFF"/>
                    </a:solidFill>
                  </a:tcPr>
                </a:tc>
              </a:tr>
              <a:tr h="628650">
                <a:tc>
                  <a:txBody>
                    <a:bodyPr lIns="114300" tIns="114300" rIns="114300" bIns="114300"/>
                    <a:lstStyle/>
                    <a:p>
                      <a:r>
                        <a:rPr sz="1950" b="0">
                          <a:solidFill>
                            <a:srgbClr val="142D38"/>
                          </a:solidFill>
                          <a:latin typeface="Arial"/>
                          <a:ea typeface="Arial"/>
                          <a:cs typeface="Arial"/>
                        </a:rPr>
                        <a:t>TCN</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1950" b="0">
                          <a:solidFill>
                            <a:srgbClr val="142D38"/>
                          </a:solidFill>
                          <a:latin typeface="Arial"/>
                          <a:ea typeface="Arial"/>
                          <a:cs typeface="Arial"/>
                        </a:rPr>
                        <a:t>-1.96 pp</a:t>
                      </a:r>
                    </a:p>
                  </a:txBody>
                  <a:tcPr marL="91440" marR="91440" marT="45720" marB="45720" anchor="ctr">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1950" b="0">
                          <a:solidFill>
                            <a:srgbClr val="142D38"/>
                          </a:solidFill>
                          <a:latin typeface="Arial"/>
                          <a:ea typeface="Arial"/>
                          <a:cs typeface="Arial"/>
                        </a:rPr>
                        <a:t>[-2.82, -1.10] pp</a:t>
                      </a:r>
                    </a:p>
                  </a:txBody>
                  <a:tcPr marL="91440" marR="91440" marT="45720" marB="45720" anchor="ctr">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1950" b="0">
                          <a:solidFill>
                            <a:srgbClr val="142D38"/>
                          </a:solidFill>
                          <a:latin typeface="Arial"/>
                          <a:ea typeface="Arial"/>
                          <a:cs typeface="Arial"/>
                        </a:rPr>
                        <a:t>Fail</a:t>
                      </a:r>
                    </a:p>
                  </a:txBody>
                  <a:tcPr marL="91440" marR="91440" marT="45720" marB="45720" anchor="ctr">
                    <a:lnR w="9525">
                      <a:solidFill>
                        <a:srgbClr val="D9E2E4"/>
                      </a:solidFill>
                      <a:prstDash val="solid"/>
                    </a:lnR>
                    <a:lnB w="9525">
                      <a:solidFill>
                        <a:srgbClr val="D9E2E4"/>
                      </a:solidFill>
                      <a:prstDash val="solid"/>
                    </a:lnB>
                    <a:solidFill>
                      <a:srgbClr val="F3F7F7"/>
                    </a:solidFill>
                  </a:tcPr>
                </a:tc>
              </a:tr>
              <a:tr h="628650">
                <a:tc>
                  <a:txBody>
                    <a:bodyPr lIns="114300" tIns="114300" rIns="114300" bIns="114300"/>
                    <a:lstStyle/>
                    <a:p>
                      <a:r>
                        <a:rPr sz="1950" b="0">
                          <a:solidFill>
                            <a:srgbClr val="142D38"/>
                          </a:solidFill>
                          <a:latin typeface="Arial"/>
                          <a:ea typeface="Arial"/>
                          <a:cs typeface="Arial"/>
                        </a:rPr>
                        <a:t>GRU</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1950" b="0">
                          <a:solidFill>
                            <a:srgbClr val="142D38"/>
                          </a:solidFill>
                          <a:latin typeface="Arial"/>
                          <a:ea typeface="Arial"/>
                          <a:cs typeface="Arial"/>
                        </a:rPr>
                        <a:t>-0.96 pp</a:t>
                      </a:r>
                    </a:p>
                  </a:txBody>
                  <a:tcPr marL="91440" marR="91440" marT="45720" marB="45720" anchor="ctr">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1950" b="0">
                          <a:solidFill>
                            <a:srgbClr val="142D38"/>
                          </a:solidFill>
                          <a:latin typeface="Arial"/>
                          <a:ea typeface="Arial"/>
                          <a:cs typeface="Arial"/>
                        </a:rPr>
                        <a:t>[-1.66, -0.26] pp</a:t>
                      </a:r>
                    </a:p>
                  </a:txBody>
                  <a:tcPr marL="91440" marR="91440" marT="45720" marB="45720" anchor="ctr">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1950" b="0">
                          <a:solidFill>
                            <a:srgbClr val="142D38"/>
                          </a:solidFill>
                          <a:latin typeface="Arial"/>
                          <a:ea typeface="Arial"/>
                          <a:cs typeface="Arial"/>
                        </a:rPr>
                        <a:t>Fail</a:t>
                      </a:r>
                    </a:p>
                  </a:txBody>
                  <a:tcPr marL="91440" marR="91440" marT="45720" marB="45720" anchor="ctr">
                    <a:lnR w="9525">
                      <a:solidFill>
                        <a:srgbClr val="D9E2E4"/>
                      </a:solidFill>
                      <a:prstDash val="solid"/>
                    </a:lnR>
                    <a:lnB w="9525">
                      <a:solidFill>
                        <a:srgbClr val="D9E2E4"/>
                      </a:solidFill>
                      <a:prstDash val="solid"/>
                    </a:lnB>
                    <a:solidFill>
                      <a:srgbClr val="FFFFFF"/>
                    </a:solidFill>
                  </a:tcPr>
                </a:tc>
              </a:tr>
            </a:tbl>
          </a:graphicData>
        </a:graphic>
      </p:graphicFrame>
      <p:sp>
        <p:nvSpPr>
          <p:cNvPr id="5" name="Pass rule: lower confidence bound &gt; −1.00 percentage point">
            <a:extLst xmlns:a="http://schemas.openxmlformats.org/drawingml/2006/main">
              <a:ext uri="{FF2B5EF4-FFF2-40B4-BE49-F238E27FC236}">
                <a16:creationId xmlns:a16="http://schemas.microsoft.com/office/drawing/2014/main" id="{77349994-A5A6-453F-AF4C-9F4420823885}"/>
              </a:ext>
            </a:extLst>
          </p:cNvPr>
          <p:cNvSpPr>
            <a:spLocks xmlns:a="http://schemas.openxmlformats.org/drawingml/2006/main" noGrp="1"/>
          </p:cNvSpPr>
          <p:nvPr/>
        </p:nvSpPr>
        <p:spPr>
          <a:xfrm xmlns:a="http://schemas.openxmlformats.org/drawingml/2006/main">
            <a:off x="685800" y="45720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C83"/>
                </a:solidFill>
                <a:latin typeface="Arial"/>
                <a:ea typeface="Arial"/>
                <a:cs typeface="Arial"/>
              </a:defRPr>
            </a:defPPr>
          </a:lstStyle>
          <a:p xmlns:a="http://schemas.openxmlformats.org/drawingml/2006/main">
            <a:pPr algn="l">
              <a:buNone/>
              <a:defRPr sz="2175" b="1">
                <a:solidFill>
                  <a:srgbClr val="087C83"/>
                </a:solidFill>
                <a:latin typeface="Arial"/>
                <a:ea typeface="Arial"/>
                <a:cs typeface="Arial"/>
              </a:defRPr>
            </a:pPr>
            <a:r>
              <a:rPr sz="2175" b="1">
                <a:solidFill>
                  <a:srgbClr val="087C83"/>
                </a:solidFill>
                <a:latin typeface="Arial"/>
                <a:ea typeface="Arial"/>
                <a:cs typeface="Arial"/>
              </a:rPr>
              <a:t>Pass rule: lower confidence bound &gt; −1.00 percentage point</a:t>
            </a:r>
          </a:p>
        </p:txBody>
      </p:sp>
      <p:sp>
        <p:nvSpPr>
          <p:cNvPr id="6" name="SHD versus Conv1D: +0.82 pp, 95% CI [-1.13, 2.78] pp">
            <a:extLst xmlns:a="http://schemas.openxmlformats.org/drawingml/2006/main">
              <a:ext uri="{FF2B5EF4-FFF2-40B4-BE49-F238E27FC236}">
                <a16:creationId xmlns:a16="http://schemas.microsoft.com/office/drawing/2014/main" id="{C0565B8F-1616-4D8B-A047-923A4D4C412B}"/>
              </a:ext>
            </a:extLst>
          </p:cNvPr>
          <p:cNvSpPr>
            <a:spLocks xmlns:a="http://schemas.openxmlformats.org/drawingml/2006/main" noGrp="1"/>
          </p:cNvSpPr>
          <p:nvPr/>
        </p:nvSpPr>
        <p:spPr>
          <a:xfrm xmlns:a="http://schemas.openxmlformats.org/drawingml/2006/main">
            <a:off x="685800" y="52292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D38"/>
                </a:solidFill>
                <a:latin typeface="Arial"/>
                <a:ea typeface="Arial"/>
                <a:cs typeface="Arial"/>
              </a:defRPr>
            </a:defPPr>
          </a:lstStyle>
          <a:p xmlns:a="http://schemas.openxmlformats.org/drawingml/2006/main">
            <a:pPr algn="l">
              <a:buNone/>
              <a:defRPr sz="2025" b="0">
                <a:solidFill>
                  <a:srgbClr val="142D38"/>
                </a:solidFill>
                <a:latin typeface="Arial"/>
                <a:ea typeface="Arial"/>
                <a:cs typeface="Arial"/>
              </a:defRPr>
            </a:pPr>
            <a:r>
              <a:rPr sz="2025" b="0">
                <a:solidFill>
                  <a:srgbClr val="142D38"/>
                </a:solidFill>
                <a:latin typeface="Arial"/>
                <a:ea typeface="Arial"/>
                <a:cs typeface="Arial"/>
              </a:rPr>
              <a:t>SHD versus Conv1D: +0.82 pp, 95% CI [-1.13, 2.78] pp</a:t>
            </a:r>
          </a:p>
        </p:txBody>
      </p:sp>
      <p:sp>
        <p:nvSpPr>
          <p:cNvPr id="7" name="A failed noninferiority test with a positive mean leaves tha">
            <a:extLst xmlns:a="http://schemas.openxmlformats.org/drawingml/2006/main">
              <a:ext uri="{FF2B5EF4-FFF2-40B4-BE49-F238E27FC236}">
                <a16:creationId xmlns:a16="http://schemas.microsoft.com/office/drawing/2014/main" id="{4C1B23A9-337C-4592-9506-CD5B2B404FAF}"/>
              </a:ext>
            </a:extLst>
          </p:cNvPr>
          <p:cNvSpPr>
            <a:spLocks xmlns:a="http://schemas.openxmlformats.org/drawingml/2006/main" noGrp="1"/>
          </p:cNvSpPr>
          <p:nvPr/>
        </p:nvSpPr>
        <p:spPr>
          <a:xfrm xmlns:a="http://schemas.openxmlformats.org/drawingml/2006/main">
            <a:off x="685800" y="57912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72"/>
                </a:solidFill>
                <a:latin typeface="Arial"/>
                <a:ea typeface="Arial"/>
                <a:cs typeface="Arial"/>
              </a:defRPr>
            </a:defPPr>
          </a:lstStyle>
          <a:p xmlns:a="http://schemas.openxmlformats.org/drawingml/2006/main">
            <a:pPr algn="l">
              <a:buNone/>
              <a:defRPr sz="1875" b="0">
                <a:solidFill>
                  <a:srgbClr val="536672"/>
                </a:solidFill>
                <a:latin typeface="Arial"/>
                <a:ea typeface="Arial"/>
                <a:cs typeface="Arial"/>
              </a:defRPr>
            </a:pPr>
            <a:r>
              <a:rPr sz="1875" b="0">
                <a:solidFill>
                  <a:srgbClr val="536672"/>
                </a:solidFill>
                <a:latin typeface="Arial"/>
                <a:ea typeface="Arial"/>
                <a:cs typeface="Arial"/>
              </a:rPr>
              <a:t>A failed noninferiority test with a positive mean leaves that comparison inconclusive.</a:t>
            </a:r>
          </a:p>
        </p:txBody>
      </p:sp>
    </p:spTree>
    <p:extLst>
      <p:ext uri="{BB962C8B-B14F-4D97-AF65-F5344CB8AC3E}">
        <p14:creationId xmlns:p14="http://schemas.microsoft.com/office/powerpoint/2010/main" val="161132771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mpiled speed and numerical fidelity">
            <a:extLst xmlns:a="http://schemas.openxmlformats.org/drawingml/2006/main">
              <a:ext uri="{FF2B5EF4-FFF2-40B4-BE49-F238E27FC236}">
                <a16:creationId xmlns:a16="http://schemas.microsoft.com/office/drawing/2014/main" id="{B03C1BCB-99DD-43FF-9433-543F37E05791}"/>
              </a:ext>
            </a:extLst>
          </p:cNvPr>
          <p:cNvSpPr>
            <a:spLocks xmlns:a="http://schemas.openxmlformats.org/drawingml/2006/main" noGrp="1"/>
          </p:cNvSpPr>
          <p:nvPr/>
        </p:nvSpPr>
        <p:spPr>
          <a:xfrm xmlns:a="http://schemas.openxmlformats.org/drawingml/2006/main">
            <a:off x="609600" y="4000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D38"/>
                </a:solidFill>
                <a:latin typeface="Arial"/>
                <a:ea typeface="Arial"/>
                <a:cs typeface="Arial"/>
              </a:defRPr>
            </a:defPPr>
          </a:lstStyle>
          <a:p xmlns:a="http://schemas.openxmlformats.org/drawingml/2006/main">
            <a:pPr algn="l">
              <a:buNone/>
              <a:defRPr sz="3300" b="1">
                <a:solidFill>
                  <a:srgbClr val="142D38"/>
                </a:solidFill>
                <a:latin typeface="Arial"/>
                <a:ea typeface="Arial"/>
                <a:cs typeface="Arial"/>
              </a:defRPr>
            </a:pPr>
            <a:r>
              <a:rPr sz="3300" b="1">
                <a:solidFill>
                  <a:srgbClr val="142D38"/>
                </a:solidFill>
                <a:latin typeface="Arial"/>
                <a:ea typeface="Arial"/>
                <a:cs typeface="Arial"/>
              </a:rPr>
              <a:t>Compiled speed and numerical fidelity</a:t>
            </a:r>
          </a:p>
        </p:txBody>
      </p:sp>
      <p:sp>
        <p:nvSpPr>
          <p:cNvPr id="2" name="A-SNN Evidence-1">
            <a:extLst xmlns:a="http://schemas.openxmlformats.org/drawingml/2006/main">
              <a:ext uri="{FF2B5EF4-FFF2-40B4-BE49-F238E27FC236}">
                <a16:creationId xmlns:a16="http://schemas.microsoft.com/office/drawing/2014/main" id="{2828E0CA-E254-47D2-ADE8-5406F51FDD34}"/>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672"/>
                </a:solidFill>
                <a:latin typeface="Arial"/>
                <a:ea typeface="Arial"/>
                <a:cs typeface="Arial"/>
              </a:defRPr>
            </a:defPPr>
          </a:lstStyle>
          <a:p xmlns:a="http://schemas.openxmlformats.org/drawingml/2006/main">
            <a:pPr algn="l">
              <a:buNone/>
              <a:defRPr sz="1350" b="0">
                <a:solidFill>
                  <a:srgbClr val="536672"/>
                </a:solidFill>
                <a:latin typeface="Arial"/>
                <a:ea typeface="Arial"/>
                <a:cs typeface="Arial"/>
              </a:defRPr>
            </a:pPr>
            <a:r>
              <a:rPr sz="1350" b="0">
                <a:solidFill>
                  <a:srgbClr val="536672"/>
                </a:solidFill>
                <a:latin typeface="Arial"/>
                <a:ea typeface="Arial"/>
                <a:cs typeface="Arial"/>
              </a:rPr>
              <a:t>A-SNN Evidence-1</a:t>
            </a:r>
          </a:p>
        </p:txBody>
      </p:sp>
      <p:sp>
        <p:nvSpPr>
          <p:cNvPr id="3" name="9">
            <a:extLst xmlns:a="http://schemas.openxmlformats.org/drawingml/2006/main">
              <a:ext uri="{FF2B5EF4-FFF2-40B4-BE49-F238E27FC236}">
                <a16:creationId xmlns:a16="http://schemas.microsoft.com/office/drawing/2014/main" id="{DC52774C-609C-48F5-91FF-2586BE7DF2E3}"/>
              </a:ext>
            </a:extLst>
          </p:cNvPr>
          <p:cNvSpPr>
            <a:spLocks xmlns:a="http://schemas.openxmlformats.org/drawingml/2006/main" noGrp="1"/>
          </p:cNvSpPr>
          <p:nvPr/>
        </p:nvSpPr>
        <p:spPr>
          <a:xfrm xmlns:a="http://schemas.openxmlformats.org/drawingml/2006/main">
            <a:off x="11049000" y="64008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672"/>
                </a:solidFill>
                <a:latin typeface="Arial"/>
                <a:ea typeface="Arial"/>
                <a:cs typeface="Arial"/>
              </a:defRPr>
            </a:defPPr>
          </a:lstStyle>
          <a:p xmlns:a="http://schemas.openxmlformats.org/drawingml/2006/main">
            <a:pPr algn="r">
              <a:buNone/>
              <a:defRPr sz="1350" b="0">
                <a:solidFill>
                  <a:srgbClr val="536672"/>
                </a:solidFill>
                <a:latin typeface="Arial"/>
                <a:ea typeface="Arial"/>
                <a:cs typeface="Arial"/>
              </a:defRPr>
            </a:pPr>
            <a:r>
              <a:rPr sz="1350" b="0">
                <a:solidFill>
                  <a:srgbClr val="536672"/>
                </a:solidFill>
                <a:latin typeface="Arial"/>
                <a:ea typeface="Arial"/>
                <a:cs typeface="Arial"/>
              </a:rPr>
              <a:t>9</a:t>
            </a:r>
          </a:p>
        </p:txBody>
      </p:sp>
      <p:graphicFrame>
        <p:nvGraphicFramePr>
          <p:cNvPr id="4" name="Chart">
            <a:extLst xmlns:a="http://schemas.openxmlformats.org/drawingml/2006/main">
              <a:ext uri="{FF2B5EF4-FFF2-40B4-BE49-F238E27FC236}">
                <a16:creationId xmlns:a16="http://schemas.microsoft.com/office/drawing/2014/main" id="{E1581079-E674-4F9F-BE02-342EEF550CC6}"/>
              </a:ext>
            </a:extLst>
          </p:cNvPr>
          <p:cNvGraphicFramePr/>
          <p:nvPr/>
        </p:nvGraphicFramePr>
        <p:xfrm>
          <a:off xmlns:a="http://schemas.openxmlformats.org/drawingml/2006/main" x="609600" y="1495425"/>
          <a:ext xmlns:a="http://schemas.openxmlformats.org/drawingml/2006/main" cx="5524500" cy="3381375"/>
        </p:xfrm>
        <a:graphic xmlns:a="http://schemas.openxmlformats.org/drawingml/2006/main">
          <a:graphicData uri="http://schemas.openxmlformats.org/drawingml/2006/chart">
            <c:chart xmlns:r="http://schemas.openxmlformats.org/officeDocument/2006/relationships" xmlns:c="http://schemas.openxmlformats.org/drawingml/2006/chart" r:id="R3cd2d8dcd08840ff"/>
          </a:graphicData>
        </a:graphic>
      </p:graphicFrame>
      <p:graphicFrame>
        <p:nvGraphicFramePr>
          <p:cNvPr id="5" name="">
            <a:extLst xmlns:a="http://schemas.openxmlformats.org/drawingml/2006/main">
              <a:ext uri="{FF2B5EF4-FFF2-40B4-BE49-F238E27FC236}">
                <a16:creationId xmlns:a16="http://schemas.microsoft.com/office/drawing/2014/main" id="{296361DC-29A5-4432-9389-90AABBE5A544}"/>
              </a:ext>
            </a:extLst>
          </p:cNvPr>
          <p:cNvGraphicFramePr/>
          <p:nvPr/>
        </p:nvGraphicFramePr>
        <p:xfrm>
          <a:off xmlns:a="http://schemas.openxmlformats.org/drawingml/2006/main" x="6667500" y="1838325"/>
          <a:ext xmlns:a="http://schemas.openxmlformats.org/drawingml/2006/main" cx="4914900" cy="2419350"/>
        </p:xfrm>
        <a:graphic xmlns:a="http://schemas.openxmlformats.org/drawingml/2006/main">
          <a:graphicData uri="http://schemas.openxmlformats.org/drawingml/2006/table">
            <a:tbl>
              <a:tblPr/>
              <a:tblGrid>
                <a:gridCol w="2476500"/>
                <a:gridCol w="2438400"/>
              </a:tblGrid>
              <a:tr h="604838">
                <a:tc>
                  <a:txBody>
                    <a:bodyPr lIns="114300" tIns="114300" rIns="114300" bIns="114300"/>
                    <a:lstStyle/>
                    <a:p>
                      <a:r>
                        <a:rPr sz="1950" b="1">
                          <a:solidFill>
                            <a:srgbClr val="FFFFFF"/>
                          </a:solidFill>
                          <a:latin typeface="Arial"/>
                          <a:ea typeface="Arial"/>
                          <a:cs typeface="Arial"/>
                        </a:rPr>
                        <a:t>Checkpoint</a:t>
                      </a:r>
                    </a:p>
                  </a:txBody>
                  <a:tcPr marL="91440" marR="91440" marT="45720" marB="45720" anchor="ctr">
                    <a:lnL w="9525">
                      <a:solidFill>
                        <a:srgbClr val="D9E2E4"/>
                      </a:solidFill>
                      <a:prstDash val="solid"/>
                    </a:lnL>
                    <a:lnR w="9525">
                      <a:solidFill>
                        <a:srgbClr val="D9E2E4"/>
                      </a:solidFill>
                      <a:prstDash val="solid"/>
                    </a:lnR>
                    <a:lnT w="9525">
                      <a:solidFill>
                        <a:srgbClr val="D9E2E4"/>
                      </a:solidFill>
                      <a:prstDash val="solid"/>
                    </a:lnT>
                    <a:lnB w="9525">
                      <a:solidFill>
                        <a:srgbClr val="D9E2E4"/>
                      </a:solidFill>
                      <a:prstDash val="solid"/>
                    </a:lnB>
                    <a:solidFill>
                      <a:srgbClr val="142D38"/>
                    </a:solidFill>
                  </a:tcPr>
                </a:tc>
                <a:tc>
                  <a:txBody>
                    <a:bodyPr lIns="114300" tIns="114300" rIns="114300" bIns="114300"/>
                    <a:lstStyle/>
                    <a:p>
                      <a:r>
                        <a:rPr sz="1950" b="1">
                          <a:solidFill>
                            <a:srgbClr val="FFFFFF"/>
                          </a:solidFill>
                          <a:latin typeface="Arial"/>
                          <a:ea typeface="Arial"/>
                          <a:cs typeface="Arial"/>
                        </a:rPr>
                        <a:t>Max logit error</a:t>
                      </a:r>
                    </a:p>
                  </a:txBody>
                  <a:tcPr marL="91440" marR="91440" marT="45720" marB="45720" anchor="ctr">
                    <a:lnR w="9525">
                      <a:solidFill>
                        <a:srgbClr val="D9E2E4"/>
                      </a:solidFill>
                      <a:prstDash val="solid"/>
                    </a:lnR>
                    <a:lnT w="9525">
                      <a:solidFill>
                        <a:srgbClr val="D9E2E4"/>
                      </a:solidFill>
                      <a:prstDash val="solid"/>
                    </a:lnT>
                    <a:lnB w="9525">
                      <a:solidFill>
                        <a:srgbClr val="D9E2E4"/>
                      </a:solidFill>
                      <a:prstDash val="solid"/>
                    </a:lnB>
                    <a:solidFill>
                      <a:srgbClr val="142D38"/>
                    </a:solidFill>
                  </a:tcPr>
                </a:tc>
              </a:tr>
              <a:tr h="604838">
                <a:tc>
                  <a:txBody>
                    <a:bodyPr lIns="114300" tIns="114300" rIns="114300" bIns="114300"/>
                    <a:lstStyle/>
                    <a:p>
                      <a:r>
                        <a:rPr sz="1950" b="0">
                          <a:solidFill>
                            <a:srgbClr val="142D38"/>
                          </a:solidFill>
                          <a:latin typeface="Arial"/>
                          <a:ea typeface="Arial"/>
                          <a:cs typeface="Arial"/>
                        </a:rPr>
                        <a:t>SHD seed 310</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1950" b="0">
                          <a:solidFill>
                            <a:srgbClr val="142D38"/>
                          </a:solidFill>
                          <a:latin typeface="Arial"/>
                          <a:ea typeface="Arial"/>
                          <a:cs typeface="Arial"/>
                        </a:rPr>
                        <a:t>0.000315</a:t>
                      </a:r>
                    </a:p>
                  </a:txBody>
                  <a:tcPr marL="91440" marR="91440" marT="45720" marB="45720" anchor="ctr">
                    <a:lnR w="9525">
                      <a:solidFill>
                        <a:srgbClr val="D9E2E4"/>
                      </a:solidFill>
                      <a:prstDash val="solid"/>
                    </a:lnR>
                    <a:lnB w="9525">
                      <a:solidFill>
                        <a:srgbClr val="D9E2E4"/>
                      </a:solidFill>
                      <a:prstDash val="solid"/>
                    </a:lnB>
                    <a:solidFill>
                      <a:srgbClr val="FFFFFF"/>
                    </a:solidFill>
                  </a:tcPr>
                </a:tc>
              </a:tr>
              <a:tr h="604838">
                <a:tc>
                  <a:txBody>
                    <a:bodyPr lIns="114300" tIns="114300" rIns="114300" bIns="114300"/>
                    <a:lstStyle/>
                    <a:p>
                      <a:r>
                        <a:rPr sz="1950" b="0">
                          <a:solidFill>
                            <a:srgbClr val="142D38"/>
                          </a:solidFill>
                          <a:latin typeface="Arial"/>
                          <a:ea typeface="Arial"/>
                          <a:cs typeface="Arial"/>
                        </a:rPr>
                        <a:t>SSC seed 311</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1950" b="0">
                          <a:solidFill>
                            <a:srgbClr val="142D38"/>
                          </a:solidFill>
                          <a:latin typeface="Arial"/>
                          <a:ea typeface="Arial"/>
                          <a:cs typeface="Arial"/>
                        </a:rPr>
                        <a:t>0.097311</a:t>
                      </a:r>
                    </a:p>
                  </a:txBody>
                  <a:tcPr marL="91440" marR="91440" marT="45720" marB="45720" anchor="ctr">
                    <a:lnR w="9525">
                      <a:solidFill>
                        <a:srgbClr val="D9E2E4"/>
                      </a:solidFill>
                      <a:prstDash val="solid"/>
                    </a:lnR>
                    <a:lnB w="9525">
                      <a:solidFill>
                        <a:srgbClr val="D9E2E4"/>
                      </a:solidFill>
                      <a:prstDash val="solid"/>
                    </a:lnB>
                    <a:solidFill>
                      <a:srgbClr val="F3F7F7"/>
                    </a:solidFill>
                  </a:tcPr>
                </a:tc>
              </a:tr>
              <a:tr h="604838">
                <a:tc>
                  <a:txBody>
                    <a:bodyPr lIns="114300" tIns="114300" rIns="114300" bIns="114300"/>
                    <a:lstStyle/>
                    <a:p>
                      <a:r>
                        <a:rPr sz="1950" b="0">
                          <a:solidFill>
                            <a:srgbClr val="142D38"/>
                          </a:solidFill>
                          <a:latin typeface="Arial"/>
                          <a:ea typeface="Arial"/>
                          <a:cs typeface="Arial"/>
                        </a:rPr>
                        <a:t>Registered tolerance</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1950" b="0">
                          <a:solidFill>
                            <a:srgbClr val="142D38"/>
                          </a:solidFill>
                          <a:latin typeface="Arial"/>
                          <a:ea typeface="Arial"/>
                          <a:cs typeface="Arial"/>
                        </a:rPr>
                        <a:t>≤ 0.000100</a:t>
                      </a:r>
                    </a:p>
                  </a:txBody>
                  <a:tcPr marL="91440" marR="91440" marT="45720" marB="45720" anchor="ctr">
                    <a:lnR w="9525">
                      <a:solidFill>
                        <a:srgbClr val="D9E2E4"/>
                      </a:solidFill>
                      <a:prstDash val="solid"/>
                    </a:lnR>
                    <a:lnB w="9525">
                      <a:solidFill>
                        <a:srgbClr val="D9E2E4"/>
                      </a:solidFill>
                      <a:prstDash val="solid"/>
                    </a:lnB>
                    <a:solidFill>
                      <a:srgbClr val="FFFFFF"/>
                    </a:solidFill>
                  </a:tcPr>
                </a:tc>
              </a:tr>
            </a:tbl>
          </a:graphicData>
        </a:graphic>
      </p:graphicFrame>
      <p:sp>
        <p:nvSpPr>
          <p:cNvPr id="6" name="100% class agreement&#10;18 / 20 checkpoints pass logit toleranc">
            <a:extLst xmlns:a="http://schemas.openxmlformats.org/drawingml/2006/main">
              <a:ext uri="{FF2B5EF4-FFF2-40B4-BE49-F238E27FC236}">
                <a16:creationId xmlns:a16="http://schemas.microsoft.com/office/drawing/2014/main" id="{3D6A24A1-43FF-459B-A632-A93AA342B046}"/>
              </a:ext>
            </a:extLst>
          </p:cNvPr>
          <p:cNvSpPr>
            <a:spLocks xmlns:a="http://schemas.openxmlformats.org/drawingml/2006/main" noGrp="1"/>
          </p:cNvSpPr>
          <p:nvPr/>
        </p:nvSpPr>
        <p:spPr>
          <a:xfrm xmlns:a="http://schemas.openxmlformats.org/drawingml/2006/main">
            <a:off x="6667500" y="4572000"/>
            <a:ext cx="49149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D38"/>
                </a:solidFill>
                <a:latin typeface="Arial"/>
                <a:ea typeface="Arial"/>
                <a:cs typeface="Arial"/>
              </a:defRPr>
            </a:defPPr>
          </a:lstStyle>
          <a:p xmlns:a="http://schemas.openxmlformats.org/drawingml/2006/main">
            <a:pPr algn="l">
              <a:buNone/>
              <a:defRPr sz="2025" b="1">
                <a:solidFill>
                  <a:srgbClr val="142D38"/>
                </a:solidFill>
                <a:latin typeface="Arial"/>
                <a:ea typeface="Arial"/>
                <a:cs typeface="Arial"/>
              </a:defRPr>
            </a:pPr>
            <a:r>
              <a:rPr sz="2025" b="1">
                <a:solidFill>
                  <a:srgbClr val="142D38"/>
                </a:solidFill>
                <a:latin typeface="Arial"/>
                <a:ea typeface="Arial"/>
                <a:cs typeface="Arial"/>
              </a:rPr>
              <a:t>100% class agreement</a:t>
            </a:r>
          </a:p>
          <a:p xmlns:a="http://schemas.openxmlformats.org/drawingml/2006/main">
            <a:pPr algn="l">
              <a:buNone/>
              <a:defRPr sz="2025" b="1">
                <a:solidFill>
                  <a:srgbClr val="142D38"/>
                </a:solidFill>
                <a:latin typeface="Arial"/>
                <a:ea typeface="Arial"/>
                <a:cs typeface="Arial"/>
              </a:defRPr>
            </a:pPr>
            <a:r>
              <a:rPr sz="2025" b="1">
                <a:solidFill>
                  <a:srgbClr val="142D38"/>
                </a:solidFill>
                <a:latin typeface="Arial"/>
                <a:ea typeface="Arial"/>
                <a:cs typeface="Arial"/>
              </a:rPr>
              <a:t>18 / 20 checkpoints pass logit tolerance</a:t>
            </a:r>
          </a:p>
        </p:txBody>
      </p:sp>
      <p:sp>
        <p:nvSpPr>
          <p:cNvPr id="7" name="The systems gate fails despite faster inference and unchange">
            <a:extLst xmlns:a="http://schemas.openxmlformats.org/drawingml/2006/main">
              <a:ext uri="{FF2B5EF4-FFF2-40B4-BE49-F238E27FC236}">
                <a16:creationId xmlns:a16="http://schemas.microsoft.com/office/drawing/2014/main" id="{AF6806B1-F595-4D81-BEC0-3C76F882460F}"/>
              </a:ext>
            </a:extLst>
          </p:cNvPr>
          <p:cNvSpPr>
            <a:spLocks xmlns:a="http://schemas.openxmlformats.org/drawingml/2006/main" noGrp="1"/>
          </p:cNvSpPr>
          <p:nvPr/>
        </p:nvSpPr>
        <p:spPr>
          <a:xfrm xmlns:a="http://schemas.openxmlformats.org/drawingml/2006/main">
            <a:off x="685800" y="56959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A64537"/>
                </a:solidFill>
                <a:latin typeface="Arial"/>
                <a:ea typeface="Arial"/>
                <a:cs typeface="Arial"/>
              </a:defRPr>
            </a:defPPr>
          </a:lstStyle>
          <a:p xmlns:a="http://schemas.openxmlformats.org/drawingml/2006/main">
            <a:pPr algn="l">
              <a:buNone/>
              <a:defRPr sz="2025" b="1">
                <a:solidFill>
                  <a:srgbClr val="A64537"/>
                </a:solidFill>
                <a:latin typeface="Arial"/>
                <a:ea typeface="Arial"/>
                <a:cs typeface="Arial"/>
              </a:defRPr>
            </a:pPr>
            <a:r>
              <a:rPr sz="2025" b="1">
                <a:solidFill>
                  <a:srgbClr val="A64537"/>
                </a:solidFill>
                <a:latin typeface="Arial"/>
                <a:ea typeface="Arial"/>
                <a:cs typeface="Arial"/>
              </a:rPr>
              <a:t>The systems gate fails despite faster inference and unchanged class predictions.</a:t>
            </a:r>
          </a:p>
        </p:txBody>
      </p:sp>
    </p:spTree>
    <p:extLst>
      <p:ext uri="{BB962C8B-B14F-4D97-AF65-F5344CB8AC3E}">
        <p14:creationId xmlns:p14="http://schemas.microsoft.com/office/powerpoint/2010/main" val="92365968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peat execution preserves the outcome">
            <a:extLst xmlns:a="http://schemas.openxmlformats.org/drawingml/2006/main">
              <a:ext uri="{FF2B5EF4-FFF2-40B4-BE49-F238E27FC236}">
                <a16:creationId xmlns:a16="http://schemas.microsoft.com/office/drawing/2014/main" id="{5F021E13-7E06-4610-825F-42E124E1D0CC}"/>
              </a:ext>
            </a:extLst>
          </p:cNvPr>
          <p:cNvSpPr>
            <a:spLocks xmlns:a="http://schemas.openxmlformats.org/drawingml/2006/main" noGrp="1"/>
          </p:cNvSpPr>
          <p:nvPr/>
        </p:nvSpPr>
        <p:spPr>
          <a:xfrm xmlns:a="http://schemas.openxmlformats.org/drawingml/2006/main">
            <a:off x="609600" y="4000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D38"/>
                </a:solidFill>
                <a:latin typeface="Arial"/>
                <a:ea typeface="Arial"/>
                <a:cs typeface="Arial"/>
              </a:defRPr>
            </a:defPPr>
          </a:lstStyle>
          <a:p xmlns:a="http://schemas.openxmlformats.org/drawingml/2006/main">
            <a:pPr algn="l">
              <a:buNone/>
              <a:defRPr sz="3300" b="1">
                <a:solidFill>
                  <a:srgbClr val="142D38"/>
                </a:solidFill>
                <a:latin typeface="Arial"/>
                <a:ea typeface="Arial"/>
                <a:cs typeface="Arial"/>
              </a:defRPr>
            </a:pPr>
            <a:r>
              <a:rPr sz="3300" b="1">
                <a:solidFill>
                  <a:srgbClr val="142D38"/>
                </a:solidFill>
                <a:latin typeface="Arial"/>
                <a:ea typeface="Arial"/>
                <a:cs typeface="Arial"/>
              </a:rPr>
              <a:t>Repeat execution preserves the outcome</a:t>
            </a:r>
          </a:p>
        </p:txBody>
      </p:sp>
      <p:sp>
        <p:nvSpPr>
          <p:cNvPr id="2" name="A-SNN Evidence-1">
            <a:extLst xmlns:a="http://schemas.openxmlformats.org/drawingml/2006/main">
              <a:ext uri="{FF2B5EF4-FFF2-40B4-BE49-F238E27FC236}">
                <a16:creationId xmlns:a16="http://schemas.microsoft.com/office/drawing/2014/main" id="{0B46B667-8337-4C8B-BCD5-2F95CF91D3BB}"/>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672"/>
                </a:solidFill>
                <a:latin typeface="Arial"/>
                <a:ea typeface="Arial"/>
                <a:cs typeface="Arial"/>
              </a:defRPr>
            </a:defPPr>
          </a:lstStyle>
          <a:p xmlns:a="http://schemas.openxmlformats.org/drawingml/2006/main">
            <a:pPr algn="l">
              <a:buNone/>
              <a:defRPr sz="1350" b="0">
                <a:solidFill>
                  <a:srgbClr val="536672"/>
                </a:solidFill>
                <a:latin typeface="Arial"/>
                <a:ea typeface="Arial"/>
                <a:cs typeface="Arial"/>
              </a:defRPr>
            </a:pPr>
            <a:r>
              <a:rPr sz="1350" b="0">
                <a:solidFill>
                  <a:srgbClr val="536672"/>
                </a:solidFill>
                <a:latin typeface="Arial"/>
                <a:ea typeface="Arial"/>
                <a:cs typeface="Arial"/>
              </a:rPr>
              <a:t>A-SNN Evidence-1</a:t>
            </a:r>
          </a:p>
        </p:txBody>
      </p:sp>
      <p:sp>
        <p:nvSpPr>
          <p:cNvPr id="3" name="10">
            <a:extLst xmlns:a="http://schemas.openxmlformats.org/drawingml/2006/main">
              <a:ext uri="{FF2B5EF4-FFF2-40B4-BE49-F238E27FC236}">
                <a16:creationId xmlns:a16="http://schemas.microsoft.com/office/drawing/2014/main" id="{FF02BBA9-25FD-4A70-BEEB-FEEF4A8DE537}"/>
              </a:ext>
            </a:extLst>
          </p:cNvPr>
          <p:cNvSpPr>
            <a:spLocks xmlns:a="http://schemas.openxmlformats.org/drawingml/2006/main" noGrp="1"/>
          </p:cNvSpPr>
          <p:nvPr/>
        </p:nvSpPr>
        <p:spPr>
          <a:xfrm xmlns:a="http://schemas.openxmlformats.org/drawingml/2006/main">
            <a:off x="11049000" y="64008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672"/>
                </a:solidFill>
                <a:latin typeface="Arial"/>
                <a:ea typeface="Arial"/>
                <a:cs typeface="Arial"/>
              </a:defRPr>
            </a:defPPr>
          </a:lstStyle>
          <a:p xmlns:a="http://schemas.openxmlformats.org/drawingml/2006/main">
            <a:pPr algn="r">
              <a:buNone/>
              <a:defRPr sz="1350" b="0">
                <a:solidFill>
                  <a:srgbClr val="536672"/>
                </a:solidFill>
                <a:latin typeface="Arial"/>
                <a:ea typeface="Arial"/>
                <a:cs typeface="Arial"/>
              </a:defRPr>
            </a:pPr>
            <a:r>
              <a:rPr sz="1350" b="0">
                <a:solidFill>
                  <a:srgbClr val="536672"/>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7BB7AD3A-8712-437C-B13C-667870BF0692}"/>
              </a:ext>
            </a:extLst>
          </p:cNvPr>
          <p:cNvGraphicFramePr/>
          <p:nvPr/>
        </p:nvGraphicFramePr>
        <p:xfrm>
          <a:off xmlns:a="http://schemas.openxmlformats.org/drawingml/2006/main" x="609600" y="1733550"/>
          <a:ext xmlns:a="http://schemas.openxmlformats.org/drawingml/2006/main" cx="10972800" cy="2743200"/>
        </p:xfrm>
        <a:graphic xmlns:a="http://schemas.openxmlformats.org/drawingml/2006/main">
          <a:graphicData uri="http://schemas.openxmlformats.org/drawingml/2006/table">
            <a:tbl>
              <a:tblPr/>
              <a:tblGrid>
                <a:gridCol w="6019800"/>
                <a:gridCol w="2476500"/>
                <a:gridCol w="2476500"/>
              </a:tblGrid>
              <a:tr h="685800">
                <a:tc>
                  <a:txBody>
                    <a:bodyPr lIns="114300" tIns="114300" rIns="114300" bIns="114300"/>
                    <a:lstStyle/>
                    <a:p>
                      <a:r>
                        <a:rPr sz="2175" b="1">
                          <a:solidFill>
                            <a:srgbClr val="FFFFFF"/>
                          </a:solidFill>
                          <a:latin typeface="Arial"/>
                          <a:ea typeface="Arial"/>
                          <a:cs typeface="Arial"/>
                        </a:rPr>
                        <a:t>Registered criterion</a:t>
                      </a:r>
                    </a:p>
                  </a:txBody>
                  <a:tcPr marL="91440" marR="91440" marT="45720" marB="45720" anchor="ctr">
                    <a:lnL w="9525">
                      <a:solidFill>
                        <a:srgbClr val="D9E2E4"/>
                      </a:solidFill>
                      <a:prstDash val="solid"/>
                    </a:lnL>
                    <a:lnR w="9525">
                      <a:solidFill>
                        <a:srgbClr val="D9E2E4"/>
                      </a:solidFill>
                      <a:prstDash val="solid"/>
                    </a:lnR>
                    <a:lnT w="9525">
                      <a:solidFill>
                        <a:srgbClr val="D9E2E4"/>
                      </a:solidFill>
                      <a:prstDash val="solid"/>
                    </a:lnT>
                    <a:lnB w="9525">
                      <a:solidFill>
                        <a:srgbClr val="D9E2E4"/>
                      </a:solidFill>
                      <a:prstDash val="solid"/>
                    </a:lnB>
                    <a:solidFill>
                      <a:srgbClr val="142D38"/>
                    </a:solidFill>
                  </a:tcPr>
                </a:tc>
                <a:tc>
                  <a:txBody>
                    <a:bodyPr lIns="114300" tIns="114300" rIns="114300" bIns="114300"/>
                    <a:lstStyle/>
                    <a:p>
                      <a:r>
                        <a:rPr sz="2175" b="1">
                          <a:solidFill>
                            <a:srgbClr val="FFFFFF"/>
                          </a:solidFill>
                          <a:latin typeface="Arial"/>
                          <a:ea typeface="Arial"/>
                          <a:cs typeface="Arial"/>
                        </a:rPr>
                        <a:t>SHD</a:t>
                      </a:r>
                    </a:p>
                  </a:txBody>
                  <a:tcPr marL="91440" marR="91440" marT="45720" marB="45720" anchor="ctr">
                    <a:lnR w="9525">
                      <a:solidFill>
                        <a:srgbClr val="D9E2E4"/>
                      </a:solidFill>
                      <a:prstDash val="solid"/>
                    </a:lnR>
                    <a:lnT w="9525">
                      <a:solidFill>
                        <a:srgbClr val="D9E2E4"/>
                      </a:solidFill>
                      <a:prstDash val="solid"/>
                    </a:lnT>
                    <a:lnB w="9525">
                      <a:solidFill>
                        <a:srgbClr val="D9E2E4"/>
                      </a:solidFill>
                      <a:prstDash val="solid"/>
                    </a:lnB>
                    <a:solidFill>
                      <a:srgbClr val="142D38"/>
                    </a:solidFill>
                  </a:tcPr>
                </a:tc>
                <a:tc>
                  <a:txBody>
                    <a:bodyPr lIns="114300" tIns="114300" rIns="114300" bIns="114300"/>
                    <a:lstStyle/>
                    <a:p>
                      <a:r>
                        <a:rPr sz="2175" b="1">
                          <a:solidFill>
                            <a:srgbClr val="FFFFFF"/>
                          </a:solidFill>
                          <a:latin typeface="Arial"/>
                          <a:ea typeface="Arial"/>
                          <a:cs typeface="Arial"/>
                        </a:rPr>
                        <a:t>SSC</a:t>
                      </a:r>
                    </a:p>
                  </a:txBody>
                  <a:tcPr marL="91440" marR="91440" marT="45720" marB="45720" anchor="ctr">
                    <a:lnR w="9525">
                      <a:solidFill>
                        <a:srgbClr val="D9E2E4"/>
                      </a:solidFill>
                      <a:prstDash val="solid"/>
                    </a:lnR>
                    <a:lnT w="9525">
                      <a:solidFill>
                        <a:srgbClr val="D9E2E4"/>
                      </a:solidFill>
                      <a:prstDash val="solid"/>
                    </a:lnT>
                    <a:lnB w="9525">
                      <a:solidFill>
                        <a:srgbClr val="D9E2E4"/>
                      </a:solidFill>
                      <a:prstDash val="solid"/>
                    </a:lnB>
                    <a:solidFill>
                      <a:srgbClr val="142D38"/>
                    </a:solidFill>
                  </a:tcPr>
                </a:tc>
              </a:tr>
              <a:tr h="685800">
                <a:tc>
                  <a:txBody>
                    <a:bodyPr lIns="114300" tIns="114300" rIns="114300" bIns="114300"/>
                    <a:lstStyle/>
                    <a:p>
                      <a:r>
                        <a:rPr sz="2175" b="0">
                          <a:solidFill>
                            <a:srgbClr val="142D38"/>
                          </a:solidFill>
                          <a:latin typeface="Arial"/>
                          <a:ea typeface="Arial"/>
                          <a:cs typeface="Arial"/>
                        </a:rPr>
                        <a:t>Causal state dependence</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2175" b="0">
                          <a:solidFill>
                            <a:srgbClr val="142D38"/>
                          </a:solidFill>
                          <a:latin typeface="Arial"/>
                          <a:ea typeface="Arial"/>
                          <a:cs typeface="Arial"/>
                        </a:rPr>
                        <a:t>Pass</a:t>
                      </a:r>
                    </a:p>
                  </a:txBody>
                  <a:tcPr marL="91440" marR="91440" marT="45720" marB="45720" anchor="ctr">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2175" b="0">
                          <a:solidFill>
                            <a:srgbClr val="142D38"/>
                          </a:solidFill>
                          <a:latin typeface="Arial"/>
                          <a:ea typeface="Arial"/>
                          <a:cs typeface="Arial"/>
                        </a:rPr>
                        <a:t>Pass</a:t>
                      </a:r>
                    </a:p>
                  </a:txBody>
                  <a:tcPr marL="91440" marR="91440" marT="45720" marB="45720" anchor="ctr">
                    <a:lnR w="9525">
                      <a:solidFill>
                        <a:srgbClr val="D9E2E4"/>
                      </a:solidFill>
                      <a:prstDash val="solid"/>
                    </a:lnR>
                    <a:lnB w="9525">
                      <a:solidFill>
                        <a:srgbClr val="D9E2E4"/>
                      </a:solidFill>
                      <a:prstDash val="solid"/>
                    </a:lnB>
                    <a:solidFill>
                      <a:srgbClr val="FFFFFF"/>
                    </a:solidFill>
                  </a:tcPr>
                </a:tc>
              </a:tr>
              <a:tr h="685800">
                <a:tc>
                  <a:txBody>
                    <a:bodyPr lIns="114300" tIns="114300" rIns="114300" bIns="114300"/>
                    <a:lstStyle/>
                    <a:p>
                      <a:r>
                        <a:rPr sz="2175" b="0">
                          <a:solidFill>
                            <a:srgbClr val="142D38"/>
                          </a:solidFill>
                          <a:latin typeface="Arial"/>
                          <a:ea typeface="Arial"/>
                          <a:cs typeface="Arial"/>
                        </a:rPr>
                        <a:t>Accuracy against every control</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2175" b="0">
                          <a:solidFill>
                            <a:srgbClr val="142D38"/>
                          </a:solidFill>
                          <a:latin typeface="Arial"/>
                          <a:ea typeface="Arial"/>
                          <a:cs typeface="Arial"/>
                        </a:rPr>
                        <a:t>Fail</a:t>
                      </a:r>
                    </a:p>
                  </a:txBody>
                  <a:tcPr marL="91440" marR="91440" marT="45720" marB="45720" anchor="ctr">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2175" b="0">
                          <a:solidFill>
                            <a:srgbClr val="142D38"/>
                          </a:solidFill>
                          <a:latin typeface="Arial"/>
                          <a:ea typeface="Arial"/>
                          <a:cs typeface="Arial"/>
                        </a:rPr>
                        <a:t>Fail</a:t>
                      </a:r>
                    </a:p>
                  </a:txBody>
                  <a:tcPr marL="91440" marR="91440" marT="45720" marB="45720" anchor="ctr">
                    <a:lnR w="9525">
                      <a:solidFill>
                        <a:srgbClr val="D9E2E4"/>
                      </a:solidFill>
                      <a:prstDash val="solid"/>
                    </a:lnR>
                    <a:lnB w="9525">
                      <a:solidFill>
                        <a:srgbClr val="D9E2E4"/>
                      </a:solidFill>
                      <a:prstDash val="solid"/>
                    </a:lnB>
                    <a:solidFill>
                      <a:srgbClr val="F3F7F7"/>
                    </a:solidFill>
                  </a:tcPr>
                </a:tc>
              </a:tr>
              <a:tr h="685800">
                <a:tc>
                  <a:txBody>
                    <a:bodyPr lIns="114300" tIns="114300" rIns="114300" bIns="114300"/>
                    <a:lstStyle/>
                    <a:p>
                      <a:r>
                        <a:rPr sz="2175" b="0">
                          <a:solidFill>
                            <a:srgbClr val="142D38"/>
                          </a:solidFill>
                          <a:latin typeface="Arial"/>
                          <a:ea typeface="Arial"/>
                          <a:cs typeface="Arial"/>
                        </a:rPr>
                        <a:t>Compiled systems fidelity</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2175" b="0">
                          <a:solidFill>
                            <a:srgbClr val="142D38"/>
                          </a:solidFill>
                          <a:latin typeface="Arial"/>
                          <a:ea typeface="Arial"/>
                          <a:cs typeface="Arial"/>
                        </a:rPr>
                        <a:t>Fail</a:t>
                      </a:r>
                    </a:p>
                  </a:txBody>
                  <a:tcPr marL="91440" marR="91440" marT="45720" marB="45720" anchor="ctr">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2175" b="0">
                          <a:solidFill>
                            <a:srgbClr val="142D38"/>
                          </a:solidFill>
                          <a:latin typeface="Arial"/>
                          <a:ea typeface="Arial"/>
                          <a:cs typeface="Arial"/>
                        </a:rPr>
                        <a:t>Fail</a:t>
                      </a:r>
                    </a:p>
                  </a:txBody>
                  <a:tcPr marL="91440" marR="91440" marT="45720" marB="45720" anchor="ctr">
                    <a:lnR w="9525">
                      <a:solidFill>
                        <a:srgbClr val="D9E2E4"/>
                      </a:solidFill>
                      <a:prstDash val="solid"/>
                    </a:lnR>
                    <a:lnB w="9525">
                      <a:solidFill>
                        <a:srgbClr val="D9E2E4"/>
                      </a:solidFill>
                      <a:prstDash val="solid"/>
                    </a:lnB>
                    <a:solidFill>
                      <a:srgbClr val="FFFFFF"/>
                    </a:solidFill>
                  </a:tcPr>
                </a:tc>
              </a:tr>
            </a:tbl>
          </a:graphicData>
        </a:graphic>
      </p:graphicFrame>
      <p:sp>
        <p:nvSpPr>
          <p:cNvPr id="5" name="Both executions report causal_audit_only">
            <a:extLst xmlns:a="http://schemas.openxmlformats.org/drawingml/2006/main">
              <a:ext uri="{FF2B5EF4-FFF2-40B4-BE49-F238E27FC236}">
                <a16:creationId xmlns:a16="http://schemas.microsoft.com/office/drawing/2014/main" id="{F4037428-0D6D-4802-B160-A9FFD7DB9A00}"/>
              </a:ext>
            </a:extLst>
          </p:cNvPr>
          <p:cNvSpPr>
            <a:spLocks xmlns:a="http://schemas.openxmlformats.org/drawingml/2006/main" noGrp="1"/>
          </p:cNvSpPr>
          <p:nvPr/>
        </p:nvSpPr>
        <p:spPr>
          <a:xfrm xmlns:a="http://schemas.openxmlformats.org/drawingml/2006/main">
            <a:off x="685800" y="4848225"/>
            <a:ext cx="10715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87C83"/>
                </a:solidFill>
                <a:latin typeface="Arial"/>
                <a:ea typeface="Arial"/>
                <a:cs typeface="Arial"/>
              </a:defRPr>
            </a:defPPr>
          </a:lstStyle>
          <a:p xmlns:a="http://schemas.openxmlformats.org/drawingml/2006/main">
            <a:pPr algn="l">
              <a:buNone/>
              <a:defRPr sz="2550" b="1">
                <a:solidFill>
                  <a:srgbClr val="087C83"/>
                </a:solidFill>
                <a:latin typeface="Arial"/>
                <a:ea typeface="Arial"/>
                <a:cs typeface="Arial"/>
              </a:defRPr>
            </a:pPr>
            <a:r>
              <a:rPr sz="2550" b="1">
                <a:solidFill>
                  <a:srgbClr val="087C83"/>
                </a:solidFill>
                <a:latin typeface="Arial"/>
                <a:ea typeface="Arial"/>
                <a:cs typeface="Arial"/>
              </a:rPr>
              <a:t>Both executions report causal_audit_only</a:t>
            </a:r>
          </a:p>
        </p:txBody>
      </p:sp>
      <p:sp>
        <p:nvSpPr>
          <p:cNvPr id="6" name="Same ten seeds. Independent clean-clone replication and the ">
            <a:extLst xmlns:a="http://schemas.openxmlformats.org/drawingml/2006/main">
              <a:ext uri="{FF2B5EF4-FFF2-40B4-BE49-F238E27FC236}">
                <a16:creationId xmlns:a16="http://schemas.microsoft.com/office/drawing/2014/main" id="{D80D4D65-A9E5-4379-8AAF-84A3D12BEE30}"/>
              </a:ext>
            </a:extLst>
          </p:cNvPr>
          <p:cNvSpPr>
            <a:spLocks xmlns:a="http://schemas.openxmlformats.org/drawingml/2006/main" noGrp="1"/>
          </p:cNvSpPr>
          <p:nvPr/>
        </p:nvSpPr>
        <p:spPr>
          <a:xfrm xmlns:a="http://schemas.openxmlformats.org/drawingml/2006/main">
            <a:off x="685800" y="5572125"/>
            <a:ext cx="10715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672"/>
                </a:solidFill>
                <a:latin typeface="Arial"/>
                <a:ea typeface="Arial"/>
                <a:cs typeface="Arial"/>
              </a:defRPr>
            </a:defPPr>
          </a:lstStyle>
          <a:p xmlns:a="http://schemas.openxmlformats.org/drawingml/2006/main">
            <a:pPr algn="l">
              <a:buNone/>
              <a:defRPr sz="2025" b="0">
                <a:solidFill>
                  <a:srgbClr val="536672"/>
                </a:solidFill>
                <a:latin typeface="Arial"/>
                <a:ea typeface="Arial"/>
                <a:cs typeface="Arial"/>
              </a:defRPr>
            </a:pPr>
            <a:r>
              <a:rPr sz="2025" b="0">
                <a:solidFill>
                  <a:srgbClr val="536672"/>
                </a:solidFill>
                <a:latin typeface="Arial"/>
                <a:ea typeface="Arial"/>
                <a:cs typeface="Arial"/>
              </a:rPr>
              <a:t>Same ten seeds. Independent clean-clone replication and the reviewed decision lock remain pending.</a:t>
            </a:r>
          </a:p>
        </p:txBody>
      </p:sp>
    </p:spTree>
    <p:extLst>
      <p:ext uri="{BB962C8B-B14F-4D97-AF65-F5344CB8AC3E}">
        <p14:creationId xmlns:p14="http://schemas.microsoft.com/office/powerpoint/2010/main" val="1367308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nterpretation and limits">
            <a:extLst xmlns:a="http://schemas.openxmlformats.org/drawingml/2006/main">
              <a:ext uri="{FF2B5EF4-FFF2-40B4-BE49-F238E27FC236}">
                <a16:creationId xmlns:a16="http://schemas.microsoft.com/office/drawing/2014/main" id="{1553AC8D-F8B4-4707-BC9A-F6C819D3A1C9}"/>
              </a:ext>
            </a:extLst>
          </p:cNvPr>
          <p:cNvSpPr>
            <a:spLocks xmlns:a="http://schemas.openxmlformats.org/drawingml/2006/main" noGrp="1"/>
          </p:cNvSpPr>
          <p:nvPr/>
        </p:nvSpPr>
        <p:spPr>
          <a:xfrm xmlns:a="http://schemas.openxmlformats.org/drawingml/2006/main">
            <a:off x="609600" y="4000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D38"/>
                </a:solidFill>
                <a:latin typeface="Arial"/>
                <a:ea typeface="Arial"/>
                <a:cs typeface="Arial"/>
              </a:defRPr>
            </a:defPPr>
          </a:lstStyle>
          <a:p xmlns:a="http://schemas.openxmlformats.org/drawingml/2006/main">
            <a:pPr algn="l">
              <a:buNone/>
              <a:defRPr sz="3300" b="1">
                <a:solidFill>
                  <a:srgbClr val="142D38"/>
                </a:solidFill>
                <a:latin typeface="Arial"/>
                <a:ea typeface="Arial"/>
                <a:cs typeface="Arial"/>
              </a:defRPr>
            </a:pPr>
            <a:r>
              <a:rPr sz="3300" b="1">
                <a:solidFill>
                  <a:srgbClr val="142D38"/>
                </a:solidFill>
                <a:latin typeface="Arial"/>
                <a:ea typeface="Arial"/>
                <a:cs typeface="Arial"/>
              </a:rPr>
              <a:t>Interpretation and limits</a:t>
            </a:r>
          </a:p>
        </p:txBody>
      </p:sp>
      <p:sp>
        <p:nvSpPr>
          <p:cNvPr id="2" name="A-SNN Evidence-1">
            <a:extLst xmlns:a="http://schemas.openxmlformats.org/drawingml/2006/main">
              <a:ext uri="{FF2B5EF4-FFF2-40B4-BE49-F238E27FC236}">
                <a16:creationId xmlns:a16="http://schemas.microsoft.com/office/drawing/2014/main" id="{2B182F81-948D-4E79-B797-3525A70A8C3F}"/>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672"/>
                </a:solidFill>
                <a:latin typeface="Arial"/>
                <a:ea typeface="Arial"/>
                <a:cs typeface="Arial"/>
              </a:defRPr>
            </a:defPPr>
          </a:lstStyle>
          <a:p xmlns:a="http://schemas.openxmlformats.org/drawingml/2006/main">
            <a:pPr algn="l">
              <a:buNone/>
              <a:defRPr sz="1350" b="0">
                <a:solidFill>
                  <a:srgbClr val="536672"/>
                </a:solidFill>
                <a:latin typeface="Arial"/>
                <a:ea typeface="Arial"/>
                <a:cs typeface="Arial"/>
              </a:defRPr>
            </a:pPr>
            <a:r>
              <a:rPr sz="1350" b="0">
                <a:solidFill>
                  <a:srgbClr val="536672"/>
                </a:solidFill>
                <a:latin typeface="Arial"/>
                <a:ea typeface="Arial"/>
                <a:cs typeface="Arial"/>
              </a:rPr>
              <a:t>A-SNN Evidence-1</a:t>
            </a:r>
          </a:p>
        </p:txBody>
      </p:sp>
      <p:sp>
        <p:nvSpPr>
          <p:cNvPr id="3" name="11">
            <a:extLst xmlns:a="http://schemas.openxmlformats.org/drawingml/2006/main">
              <a:ext uri="{FF2B5EF4-FFF2-40B4-BE49-F238E27FC236}">
                <a16:creationId xmlns:a16="http://schemas.microsoft.com/office/drawing/2014/main" id="{F5366C9E-5BD6-48BD-B709-A8BFEF9122EF}"/>
              </a:ext>
            </a:extLst>
          </p:cNvPr>
          <p:cNvSpPr>
            <a:spLocks xmlns:a="http://schemas.openxmlformats.org/drawingml/2006/main" noGrp="1"/>
          </p:cNvSpPr>
          <p:nvPr/>
        </p:nvSpPr>
        <p:spPr>
          <a:xfrm xmlns:a="http://schemas.openxmlformats.org/drawingml/2006/main">
            <a:off x="11049000" y="64008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672"/>
                </a:solidFill>
                <a:latin typeface="Arial"/>
                <a:ea typeface="Arial"/>
                <a:cs typeface="Arial"/>
              </a:defRPr>
            </a:defPPr>
          </a:lstStyle>
          <a:p xmlns:a="http://schemas.openxmlformats.org/drawingml/2006/main">
            <a:pPr algn="r">
              <a:buNone/>
              <a:defRPr sz="1350" b="0">
                <a:solidFill>
                  <a:srgbClr val="536672"/>
                </a:solidFill>
                <a:latin typeface="Arial"/>
                <a:ea typeface="Arial"/>
                <a:cs typeface="Arial"/>
              </a:defRPr>
            </a:pPr>
            <a:r>
              <a:rPr sz="1350" b="0">
                <a:solidFill>
                  <a:srgbClr val="536672"/>
                </a:solidFill>
                <a:latin typeface="Arial"/>
                <a:ea typeface="Arial"/>
                <a:cs typeface="Arial"/>
              </a:rPr>
              <a:t>11</a:t>
            </a:r>
          </a:p>
        </p:txBody>
      </p:sp>
      <p:sp>
        <p:nvSpPr>
          <p:cNvPr id="4" name="Supported finding">
            <a:extLst xmlns:a="http://schemas.openxmlformats.org/drawingml/2006/main">
              <a:ext uri="{FF2B5EF4-FFF2-40B4-BE49-F238E27FC236}">
                <a16:creationId xmlns:a16="http://schemas.microsoft.com/office/drawing/2014/main" id="{063B7E27-65DF-4B46-AB29-BD93BAA4CFC2}"/>
              </a:ext>
            </a:extLst>
          </p:cNvPr>
          <p:cNvSpPr>
            <a:spLocks xmlns:a="http://schemas.openxmlformats.org/drawingml/2006/main" noGrp="1"/>
          </p:cNvSpPr>
          <p:nvPr/>
        </p:nvSpPr>
        <p:spPr>
          <a:xfrm xmlns:a="http://schemas.openxmlformats.org/drawingml/2006/main">
            <a:off x="685800" y="16668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87C83"/>
                </a:solidFill>
                <a:latin typeface="Arial"/>
                <a:ea typeface="Arial"/>
                <a:cs typeface="Arial"/>
              </a:defRPr>
            </a:defPPr>
          </a:lstStyle>
          <a:p xmlns:a="http://schemas.openxmlformats.org/drawingml/2006/main">
            <a:pPr algn="l">
              <a:buNone/>
              <a:defRPr sz="2325" b="1">
                <a:solidFill>
                  <a:srgbClr val="087C83"/>
                </a:solidFill>
                <a:latin typeface="Arial"/>
                <a:ea typeface="Arial"/>
                <a:cs typeface="Arial"/>
              </a:defRPr>
            </a:pPr>
            <a:r>
              <a:rPr sz="2325" b="1">
                <a:solidFill>
                  <a:srgbClr val="087C83"/>
                </a:solidFill>
                <a:latin typeface="Arial"/>
                <a:ea typeface="Arial"/>
                <a:cs typeface="Arial"/>
              </a:rPr>
              <a:t>Supported finding</a:t>
            </a:r>
          </a:p>
        </p:txBody>
      </p:sp>
      <p:sp>
        <p:nvSpPr>
          <p:cNvPr id="5" name="The selected classifier depends on its sample-specific resid">
            <a:extLst xmlns:a="http://schemas.openxmlformats.org/drawingml/2006/main">
              <a:ext uri="{FF2B5EF4-FFF2-40B4-BE49-F238E27FC236}">
                <a16:creationId xmlns:a16="http://schemas.microsoft.com/office/drawing/2014/main" id="{DE53207A-75AE-4F0D-B583-8109D869295D}"/>
              </a:ext>
            </a:extLst>
          </p:cNvPr>
          <p:cNvSpPr>
            <a:spLocks xmlns:a="http://schemas.openxmlformats.org/drawingml/2006/main" noGrp="1"/>
          </p:cNvSpPr>
          <p:nvPr/>
        </p:nvSpPr>
        <p:spPr>
          <a:xfrm xmlns:a="http://schemas.openxmlformats.org/drawingml/2006/main">
            <a:off x="685800" y="22574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42D38"/>
                </a:solidFill>
                <a:latin typeface="Arial"/>
                <a:ea typeface="Arial"/>
                <a:cs typeface="Arial"/>
              </a:defRPr>
            </a:defPPr>
          </a:lstStyle>
          <a:p xmlns:a="http://schemas.openxmlformats.org/drawingml/2006/main">
            <a:pPr algn="l">
              <a:buNone/>
              <a:defRPr sz="2625" b="1">
                <a:solidFill>
                  <a:srgbClr val="142D38"/>
                </a:solidFill>
                <a:latin typeface="Arial"/>
                <a:ea typeface="Arial"/>
                <a:cs typeface="Arial"/>
              </a:defRPr>
            </a:pPr>
            <a:r>
              <a:rPr sz="2625" b="1">
                <a:solidFill>
                  <a:srgbClr val="142D38"/>
                </a:solidFill>
                <a:latin typeface="Arial"/>
                <a:ea typeface="Arial"/>
                <a:cs typeface="Arial"/>
              </a:rPr>
              <a:t>The selected classifier uses its original sample-state pairing.</a:t>
            </a:r>
          </a:p>
        </p:txBody>
      </p:sp>
      <p:sp>
        <p:nvSpPr>
          <p:cNvPr id="6" name="Remaining limits">
            <a:extLst xmlns:a="http://schemas.openxmlformats.org/drawingml/2006/main">
              <a:ext uri="{FF2B5EF4-FFF2-40B4-BE49-F238E27FC236}">
                <a16:creationId xmlns:a16="http://schemas.microsoft.com/office/drawing/2014/main" id="{84957BDA-D97B-4E91-8602-6EAD7EDD48D1}"/>
              </a:ext>
            </a:extLst>
          </p:cNvPr>
          <p:cNvSpPr>
            <a:spLocks xmlns:a="http://schemas.openxmlformats.org/drawingml/2006/main" noGrp="1"/>
          </p:cNvSpPr>
          <p:nvPr/>
        </p:nvSpPr>
        <p:spPr>
          <a:xfrm xmlns:a="http://schemas.openxmlformats.org/drawingml/2006/main">
            <a:off x="685800" y="33337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42D38"/>
                </a:solidFill>
                <a:latin typeface="Arial"/>
                <a:ea typeface="Arial"/>
                <a:cs typeface="Arial"/>
              </a:defRPr>
            </a:defPPr>
          </a:lstStyle>
          <a:p xmlns:a="http://schemas.openxmlformats.org/drawingml/2006/main">
            <a:pPr algn="l">
              <a:buNone/>
              <a:defRPr sz="2325" b="1">
                <a:solidFill>
                  <a:srgbClr val="142D38"/>
                </a:solidFill>
                <a:latin typeface="Arial"/>
                <a:ea typeface="Arial"/>
                <a:cs typeface="Arial"/>
              </a:defRPr>
            </a:pPr>
            <a:r>
              <a:rPr sz="2325" b="1">
                <a:solidFill>
                  <a:srgbClr val="142D38"/>
                </a:solidFill>
                <a:latin typeface="Arial"/>
                <a:ea typeface="Arial"/>
                <a:cs typeface="Arial"/>
              </a:rPr>
              <a:t>Remaining limits</a:t>
            </a:r>
          </a:p>
        </p:txBody>
      </p:sp>
      <p:sp>
        <p:nvSpPr>
          <p:cNvPr id="7" name="State exchange also breaks compatibility between learned bra">
            <a:extLst xmlns:a="http://schemas.openxmlformats.org/drawingml/2006/main">
              <a:ext uri="{FF2B5EF4-FFF2-40B4-BE49-F238E27FC236}">
                <a16:creationId xmlns:a16="http://schemas.microsoft.com/office/drawing/2014/main" id="{2093F248-DDA1-47AD-8954-6EEB704D0324}"/>
              </a:ext>
            </a:extLst>
          </p:cNvPr>
          <p:cNvSpPr>
            <a:spLocks xmlns:a="http://schemas.openxmlformats.org/drawingml/2006/main" noGrp="1"/>
          </p:cNvSpPr>
          <p:nvPr/>
        </p:nvSpPr>
        <p:spPr>
          <a:xfrm xmlns:a="http://schemas.openxmlformats.org/drawingml/2006/main">
            <a:off x="685800" y="38862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D38"/>
                </a:solidFill>
                <a:latin typeface="Arial"/>
                <a:ea typeface="Arial"/>
                <a:cs typeface="Arial"/>
              </a:defRPr>
            </a:defPPr>
          </a:lstStyle>
          <a:p xmlns:a="http://schemas.openxmlformats.org/drawingml/2006/main">
            <a:pPr algn="l">
              <a:buNone/>
              <a:defRPr sz="2025" b="0">
                <a:solidFill>
                  <a:srgbClr val="142D38"/>
                </a:solidFill>
                <a:latin typeface="Arial"/>
                <a:ea typeface="Arial"/>
                <a:cs typeface="Arial"/>
              </a:defRPr>
            </a:pPr>
            <a:r>
              <a:rPr sz="2025" b="0">
                <a:solidFill>
                  <a:srgbClr val="142D38"/>
                </a:solidFill>
                <a:latin typeface="Arial"/>
                <a:ea typeface="Arial"/>
                <a:cs typeface="Arial"/>
              </a:rPr>
              <a:t>Global shuffles mix classes and break branch compatibility.</a:t>
            </a:r>
          </a:p>
        </p:txBody>
      </p:sp>
      <p:sp>
        <p:nvSpPr>
          <p:cNvPr id="8" name="The common recipe does not establish optimal dense baselines">
            <a:extLst xmlns:a="http://schemas.openxmlformats.org/drawingml/2006/main">
              <a:ext uri="{FF2B5EF4-FFF2-40B4-BE49-F238E27FC236}">
                <a16:creationId xmlns:a16="http://schemas.microsoft.com/office/drawing/2014/main" id="{7FCEE09C-7364-4776-A85C-79F71102B0C4}"/>
              </a:ext>
            </a:extLst>
          </p:cNvPr>
          <p:cNvSpPr>
            <a:spLocks xmlns:a="http://schemas.openxmlformats.org/drawingml/2006/main" noGrp="1"/>
          </p:cNvSpPr>
          <p:nvPr/>
        </p:nvSpPr>
        <p:spPr>
          <a:xfrm xmlns:a="http://schemas.openxmlformats.org/drawingml/2006/main">
            <a:off x="685800" y="44577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D38"/>
                </a:solidFill>
                <a:latin typeface="Arial"/>
                <a:ea typeface="Arial"/>
                <a:cs typeface="Arial"/>
              </a:defRPr>
            </a:defPPr>
          </a:lstStyle>
          <a:p xmlns:a="http://schemas.openxmlformats.org/drawingml/2006/main">
            <a:pPr algn="l">
              <a:buNone/>
              <a:defRPr sz="2025" b="0">
                <a:solidFill>
                  <a:srgbClr val="142D38"/>
                </a:solidFill>
                <a:latin typeface="Arial"/>
                <a:ea typeface="Arial"/>
                <a:cs typeface="Arial"/>
              </a:defRPr>
            </a:pPr>
            <a:r>
              <a:rPr sz="2025" b="0">
                <a:solidFill>
                  <a:srgbClr val="142D38"/>
                </a:solidFill>
                <a:latin typeface="Arial"/>
                <a:ea typeface="Arial"/>
                <a:cs typeface="Arial"/>
              </a:rPr>
              <a:t>Earlier benchmark tests informed architecture choices.</a:t>
            </a:r>
          </a:p>
        </p:txBody>
      </p:sp>
      <p:sp>
        <p:nvSpPr>
          <p:cNvPr id="9" name="Timing-specific, biological and energy-efficiency claims rem">
            <a:extLst xmlns:a="http://schemas.openxmlformats.org/drawingml/2006/main">
              <a:ext uri="{FF2B5EF4-FFF2-40B4-BE49-F238E27FC236}">
                <a16:creationId xmlns:a16="http://schemas.microsoft.com/office/drawing/2014/main" id="{C7068B0D-D3F5-4C35-BEDC-816BA17D1712}"/>
              </a:ext>
            </a:extLst>
          </p:cNvPr>
          <p:cNvSpPr>
            <a:spLocks xmlns:a="http://schemas.openxmlformats.org/drawingml/2006/main" noGrp="1"/>
          </p:cNvSpPr>
          <p:nvPr/>
        </p:nvSpPr>
        <p:spPr>
          <a:xfrm xmlns:a="http://schemas.openxmlformats.org/drawingml/2006/main">
            <a:off x="685800" y="50292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D38"/>
                </a:solidFill>
                <a:latin typeface="Arial"/>
                <a:ea typeface="Arial"/>
                <a:cs typeface="Arial"/>
              </a:defRPr>
            </a:defPPr>
          </a:lstStyle>
          <a:p xmlns:a="http://schemas.openxmlformats.org/drawingml/2006/main">
            <a:pPr algn="l">
              <a:buNone/>
              <a:defRPr sz="2025" b="0">
                <a:solidFill>
                  <a:srgbClr val="142D38"/>
                </a:solidFill>
                <a:latin typeface="Arial"/>
                <a:ea typeface="Arial"/>
                <a:cs typeface="Arial"/>
              </a:defRPr>
            </a:pPr>
            <a:r>
              <a:rPr sz="2025" b="0">
                <a:solidFill>
                  <a:srgbClr val="142D38"/>
                </a:solidFill>
                <a:latin typeface="Arial"/>
                <a:ea typeface="Arial"/>
                <a:cs typeface="Arial"/>
              </a:rPr>
              <a:t>The common recipe does not establish optimal baselines.</a:t>
            </a:r>
          </a:p>
        </p:txBody>
      </p:sp>
      <p:sp>
        <p:nvSpPr>
          <p:cNvPr id="11" name="">
            <a:extLst xmlns:a="http://schemas.openxmlformats.org/drawingml/2006/main">
              <a:ext uri="{FF2B5EF4-FFF2-40B4-BE49-F238E27FC236}">
                <a16:creationId xmlns:a16="http://schemas.microsoft.com/office/drawing/2014/main" id="{36EEEBD5-E708-4FF9-AB44-784E38AFCBCD}"/>
              </a:ext>
            </a:extLst>
          </p:cNvPr>
          <p:cNvSpPr>
            <a:spLocks xmlns:a="http://schemas.openxmlformats.org/drawingml/2006/main" noGrp="1"/>
          </p:cNvSpPr>
          <p:nvPr/>
        </p:nvSpPr>
        <p:spPr>
          <a:xfrm xmlns:a="http://schemas.openxmlformats.org/drawingml/2006/main">
            <a:off x="685800" y="56007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a:solidFill>
                  <a:srgbClr val="142D38"/>
                </a:solidFill>
                <a:latin typeface="Arial"/>
                <a:ea typeface="Arial"/>
                <a:cs typeface="Arial"/>
              </a:defRPr>
            </a:defPPr>
          </a:lstStyle>
          <a:p xmlns:a="http://schemas.openxmlformats.org/drawingml/2006/main">
            <a:pPr>
              <a:defRPr sz="2025">
                <a:solidFill>
                  <a:srgbClr val="142D38"/>
                </a:solidFill>
                <a:latin typeface="Arial"/>
                <a:ea typeface="Arial"/>
                <a:cs typeface="Arial"/>
              </a:defRPr>
            </a:pPr>
            <a:r>
              <a:rPr sz="2025">
                <a:solidFill>
                  <a:srgbClr val="142D38"/>
                </a:solidFill>
                <a:latin typeface="Arial"/>
                <a:ea typeface="Arial"/>
                <a:cs typeface="Arial"/>
              </a:rPr>
              <a:t>Spike-specific, biological and energy claims remain untested.</a:t>
            </a:r>
          </a:p>
        </p:txBody>
      </p:sp>
    </p:spTree>
    <p:extLst>
      <p:ext uri="{BB962C8B-B14F-4D97-AF65-F5344CB8AC3E}">
        <p14:creationId xmlns:p14="http://schemas.microsoft.com/office/powerpoint/2010/main" val="77951209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Next research steps">
            <a:extLst xmlns:a="http://schemas.openxmlformats.org/drawingml/2006/main">
              <a:ext uri="{FF2B5EF4-FFF2-40B4-BE49-F238E27FC236}">
                <a16:creationId xmlns:a16="http://schemas.microsoft.com/office/drawing/2014/main" id="{8385FCF6-76FA-47F4-92E4-A1CE175D3837}"/>
              </a:ext>
            </a:extLst>
          </p:cNvPr>
          <p:cNvSpPr>
            <a:spLocks xmlns:a="http://schemas.openxmlformats.org/drawingml/2006/main" noGrp="1"/>
          </p:cNvSpPr>
          <p:nvPr/>
        </p:nvSpPr>
        <p:spPr>
          <a:xfrm xmlns:a="http://schemas.openxmlformats.org/drawingml/2006/main">
            <a:off x="609600" y="4000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D38"/>
                </a:solidFill>
                <a:latin typeface="Arial"/>
                <a:ea typeface="Arial"/>
                <a:cs typeface="Arial"/>
              </a:defRPr>
            </a:defPPr>
          </a:lstStyle>
          <a:p xmlns:a="http://schemas.openxmlformats.org/drawingml/2006/main">
            <a:pPr algn="l">
              <a:buNone/>
              <a:defRPr sz="3300" b="1">
                <a:solidFill>
                  <a:srgbClr val="142D38"/>
                </a:solidFill>
                <a:latin typeface="Arial"/>
                <a:ea typeface="Arial"/>
                <a:cs typeface="Arial"/>
              </a:defRPr>
            </a:pPr>
            <a:r>
              <a:rPr sz="3300" b="1">
                <a:solidFill>
                  <a:srgbClr val="142D38"/>
                </a:solidFill>
                <a:latin typeface="Arial"/>
                <a:ea typeface="Arial"/>
                <a:cs typeface="Arial"/>
              </a:rPr>
              <a:t>Next research steps</a:t>
            </a:r>
          </a:p>
        </p:txBody>
      </p:sp>
      <p:sp>
        <p:nvSpPr>
          <p:cNvPr id="2" name="A-SNN Evidence-1">
            <a:extLst xmlns:a="http://schemas.openxmlformats.org/drawingml/2006/main">
              <a:ext uri="{FF2B5EF4-FFF2-40B4-BE49-F238E27FC236}">
                <a16:creationId xmlns:a16="http://schemas.microsoft.com/office/drawing/2014/main" id="{D8B234FB-B217-495B-903E-44DBD3DA897B}"/>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672"/>
                </a:solidFill>
                <a:latin typeface="Arial"/>
                <a:ea typeface="Arial"/>
                <a:cs typeface="Arial"/>
              </a:defRPr>
            </a:defPPr>
          </a:lstStyle>
          <a:p xmlns:a="http://schemas.openxmlformats.org/drawingml/2006/main">
            <a:pPr algn="l">
              <a:buNone/>
              <a:defRPr sz="1350" b="0">
                <a:solidFill>
                  <a:srgbClr val="536672"/>
                </a:solidFill>
                <a:latin typeface="Arial"/>
                <a:ea typeface="Arial"/>
                <a:cs typeface="Arial"/>
              </a:defRPr>
            </a:pPr>
            <a:r>
              <a:rPr sz="1350" b="0">
                <a:solidFill>
                  <a:srgbClr val="536672"/>
                </a:solidFill>
                <a:latin typeface="Arial"/>
                <a:ea typeface="Arial"/>
                <a:cs typeface="Arial"/>
              </a:rPr>
              <a:t>A-SNN Evidence-1</a:t>
            </a:r>
          </a:p>
        </p:txBody>
      </p:sp>
      <p:sp>
        <p:nvSpPr>
          <p:cNvPr id="3" name="12">
            <a:extLst xmlns:a="http://schemas.openxmlformats.org/drawingml/2006/main">
              <a:ext uri="{FF2B5EF4-FFF2-40B4-BE49-F238E27FC236}">
                <a16:creationId xmlns:a16="http://schemas.microsoft.com/office/drawing/2014/main" id="{B702E30C-B447-4CCD-9FEC-616B922B900B}"/>
              </a:ext>
            </a:extLst>
          </p:cNvPr>
          <p:cNvSpPr>
            <a:spLocks xmlns:a="http://schemas.openxmlformats.org/drawingml/2006/main" noGrp="1"/>
          </p:cNvSpPr>
          <p:nvPr/>
        </p:nvSpPr>
        <p:spPr>
          <a:xfrm xmlns:a="http://schemas.openxmlformats.org/drawingml/2006/main">
            <a:off x="11049000" y="64008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672"/>
                </a:solidFill>
                <a:latin typeface="Arial"/>
                <a:ea typeface="Arial"/>
                <a:cs typeface="Arial"/>
              </a:defRPr>
            </a:defPPr>
          </a:lstStyle>
          <a:p xmlns:a="http://schemas.openxmlformats.org/drawingml/2006/main">
            <a:pPr algn="r">
              <a:buNone/>
              <a:defRPr sz="1350" b="0">
                <a:solidFill>
                  <a:srgbClr val="536672"/>
                </a:solidFill>
                <a:latin typeface="Arial"/>
                <a:ea typeface="Arial"/>
                <a:cs typeface="Arial"/>
              </a:defRPr>
            </a:pPr>
            <a:r>
              <a:rPr sz="1350" b="0">
                <a:solidFill>
                  <a:srgbClr val="536672"/>
                </a:solidFill>
                <a:latin typeface="Arial"/>
                <a:ea typeface="Arial"/>
                <a:cs typeface="Arial"/>
              </a:rPr>
              <a:t>12</a:t>
            </a:r>
          </a:p>
        </p:txBody>
      </p:sp>
      <p:sp>
        <p:nvSpPr>
          <p:cNvPr id="4" name="1. Reviewed Evidence-1 decision and an exact-source reproduc">
            <a:extLst xmlns:a="http://schemas.openxmlformats.org/drawingml/2006/main">
              <a:ext uri="{FF2B5EF4-FFF2-40B4-BE49-F238E27FC236}">
                <a16:creationId xmlns:a16="http://schemas.microsoft.com/office/drawing/2014/main" id="{221F8685-F4C0-4A5F-9594-0786720D5129}"/>
              </a:ext>
            </a:extLst>
          </p:cNvPr>
          <p:cNvSpPr>
            <a:spLocks xmlns:a="http://schemas.openxmlformats.org/drawingml/2006/main" noGrp="1"/>
          </p:cNvSpPr>
          <p:nvPr/>
        </p:nvSpPr>
        <p:spPr>
          <a:xfrm xmlns:a="http://schemas.openxmlformats.org/drawingml/2006/main">
            <a:off x="685800" y="1714500"/>
            <a:ext cx="1076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42D38"/>
                </a:solidFill>
                <a:latin typeface="Arial"/>
                <a:ea typeface="Arial"/>
                <a:cs typeface="Arial"/>
              </a:defRPr>
            </a:defPPr>
          </a:lstStyle>
          <a:p xmlns:a="http://schemas.openxmlformats.org/drawingml/2006/main">
            <a:pPr algn="l">
              <a:buNone/>
              <a:defRPr sz="2325" b="0">
                <a:solidFill>
                  <a:srgbClr val="142D38"/>
                </a:solidFill>
                <a:latin typeface="Arial"/>
                <a:ea typeface="Arial"/>
                <a:cs typeface="Arial"/>
              </a:defRPr>
            </a:pPr>
            <a:r>
              <a:rPr sz="2325" b="0">
                <a:solidFill>
                  <a:srgbClr val="142D38"/>
                </a:solidFill>
                <a:latin typeface="Arial"/>
                <a:ea typeface="Arial"/>
                <a:cs typeface="Arial"/>
              </a:rPr>
              <a:t>1. Reviewed Evidence-1 decision and an exact-source reproducibility release</a:t>
            </a:r>
          </a:p>
        </p:txBody>
      </p:sp>
      <p:sp>
        <p:nvSpPr>
          <p:cNvPr id="5" name="2. Validation-only compiler diagnosis using the frozen check">
            <a:extLst xmlns:a="http://schemas.openxmlformats.org/drawingml/2006/main">
              <a:ext uri="{FF2B5EF4-FFF2-40B4-BE49-F238E27FC236}">
                <a16:creationId xmlns:a16="http://schemas.microsoft.com/office/drawing/2014/main" id="{49427EBC-8119-4D8E-B213-F8EAD04569B4}"/>
              </a:ext>
            </a:extLst>
          </p:cNvPr>
          <p:cNvSpPr>
            <a:spLocks xmlns:a="http://schemas.openxmlformats.org/drawingml/2006/main" noGrp="1"/>
          </p:cNvSpPr>
          <p:nvPr/>
        </p:nvSpPr>
        <p:spPr>
          <a:xfrm xmlns:a="http://schemas.openxmlformats.org/drawingml/2006/main">
            <a:off x="685800" y="2819400"/>
            <a:ext cx="1076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42D38"/>
                </a:solidFill>
                <a:latin typeface="Arial"/>
                <a:ea typeface="Arial"/>
                <a:cs typeface="Arial"/>
              </a:defRPr>
            </a:defPPr>
          </a:lstStyle>
          <a:p xmlns:a="http://schemas.openxmlformats.org/drawingml/2006/main">
            <a:pPr algn="l">
              <a:buNone/>
              <a:defRPr sz="2325" b="0">
                <a:solidFill>
                  <a:srgbClr val="142D38"/>
                </a:solidFill>
                <a:latin typeface="Arial"/>
                <a:ea typeface="Arial"/>
                <a:cs typeface="Arial"/>
              </a:defRPr>
            </a:pPr>
            <a:r>
              <a:rPr sz="2325" b="0">
                <a:solidFill>
                  <a:srgbClr val="142D38"/>
                </a:solidFill>
                <a:latin typeface="Arial"/>
                <a:ea typeface="Arial"/>
                <a:cs typeface="Arial"/>
              </a:rPr>
              <a:t>2. Validation-only compiler diagnosis using the frozen checkpoints</a:t>
            </a:r>
          </a:p>
        </p:txBody>
      </p:sp>
      <p:sp>
        <p:nvSpPr>
          <p:cNvPr id="6" name="3. After the lock, preregister timing and rate-preserving co">
            <a:extLst xmlns:a="http://schemas.openxmlformats.org/drawingml/2006/main">
              <a:ext uri="{FF2B5EF4-FFF2-40B4-BE49-F238E27FC236}">
                <a16:creationId xmlns:a16="http://schemas.microsoft.com/office/drawing/2014/main" id="{4B4D1F6A-F86F-41D3-85BF-8C8DF59EC4E1}"/>
              </a:ext>
            </a:extLst>
          </p:cNvPr>
          <p:cNvSpPr>
            <a:spLocks xmlns:a="http://schemas.openxmlformats.org/drawingml/2006/main" noGrp="1"/>
          </p:cNvSpPr>
          <p:nvPr/>
        </p:nvSpPr>
        <p:spPr>
          <a:xfrm xmlns:a="http://schemas.openxmlformats.org/drawingml/2006/main">
            <a:off x="685800" y="3924300"/>
            <a:ext cx="1076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42D38"/>
                </a:solidFill>
                <a:latin typeface="Arial"/>
                <a:ea typeface="Arial"/>
                <a:cs typeface="Arial"/>
              </a:defRPr>
            </a:defPPr>
          </a:lstStyle>
          <a:p xmlns:a="http://schemas.openxmlformats.org/drawingml/2006/main">
            <a:pPr algn="l">
              <a:buNone/>
              <a:defRPr sz="2325" b="0">
                <a:solidFill>
                  <a:srgbClr val="142D38"/>
                </a:solidFill>
                <a:latin typeface="Arial"/>
                <a:ea typeface="Arial"/>
                <a:cs typeface="Arial"/>
              </a:defRPr>
            </a:pPr>
            <a:r>
              <a:rPr sz="2325" b="0">
                <a:solidFill>
                  <a:srgbClr val="142D38"/>
                </a:solidFill>
                <a:latin typeface="Arial"/>
                <a:ea typeface="Arial"/>
                <a:cs typeface="Arial"/>
              </a:rPr>
              <a:t>3. After the lock, preregister timing and rate-preserving controls</a:t>
            </a:r>
          </a:p>
        </p:txBody>
      </p:sp>
      <p:sp>
        <p:nvSpPr>
          <p:cNvPr id="7" name="New learning mechanisms and fly-connectome experiments remai">
            <a:extLst xmlns:a="http://schemas.openxmlformats.org/drawingml/2006/main">
              <a:ext uri="{FF2B5EF4-FFF2-40B4-BE49-F238E27FC236}">
                <a16:creationId xmlns:a16="http://schemas.microsoft.com/office/drawing/2014/main" id="{977356BE-2ACF-4A72-822D-3FA3EB3FE63C}"/>
              </a:ext>
            </a:extLst>
          </p:cNvPr>
          <p:cNvSpPr>
            <a:spLocks xmlns:a="http://schemas.openxmlformats.org/drawingml/2006/main" noGrp="1"/>
          </p:cNvSpPr>
          <p:nvPr/>
        </p:nvSpPr>
        <p:spPr>
          <a:xfrm xmlns:a="http://schemas.openxmlformats.org/drawingml/2006/main">
            <a:off x="685800" y="55245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672"/>
                </a:solidFill>
                <a:latin typeface="Arial"/>
                <a:ea typeface="Arial"/>
                <a:cs typeface="Arial"/>
              </a:defRPr>
            </a:defPPr>
          </a:lstStyle>
          <a:p xmlns:a="http://schemas.openxmlformats.org/drawingml/2006/main">
            <a:pPr algn="l">
              <a:buNone/>
              <a:defRPr sz="2025" b="0">
                <a:solidFill>
                  <a:srgbClr val="536672"/>
                </a:solidFill>
                <a:latin typeface="Arial"/>
                <a:ea typeface="Arial"/>
                <a:cs typeface="Arial"/>
              </a:defRPr>
            </a:pPr>
            <a:r>
              <a:rPr sz="2025" b="0">
                <a:solidFill>
                  <a:srgbClr val="536672"/>
                </a:solidFill>
                <a:latin typeface="Arial"/>
                <a:ea typeface="Arial"/>
                <a:cs typeface="Arial"/>
              </a:rPr>
              <a:t>New learning mechanisms and fly-connectome experiments remain separate future work.</a:t>
            </a:r>
          </a:p>
        </p:txBody>
      </p:sp>
    </p:spTree>
    <p:extLst>
      <p:ext uri="{BB962C8B-B14F-4D97-AF65-F5344CB8AC3E}">
        <p14:creationId xmlns:p14="http://schemas.microsoft.com/office/powerpoint/2010/main" val="177884098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onclusion">
            <a:extLst xmlns:a="http://schemas.openxmlformats.org/drawingml/2006/main">
              <a:ext uri="{FF2B5EF4-FFF2-40B4-BE49-F238E27FC236}">
                <a16:creationId xmlns:a16="http://schemas.microsoft.com/office/drawing/2014/main" id="{5D1A0D76-0C43-4C6A-A0B3-DD43BD15705A}"/>
              </a:ext>
            </a:extLst>
          </p:cNvPr>
          <p:cNvSpPr>
            <a:spLocks xmlns:a="http://schemas.openxmlformats.org/drawingml/2006/main" noGrp="1"/>
          </p:cNvSpPr>
          <p:nvPr/>
        </p:nvSpPr>
        <p:spPr>
          <a:xfrm xmlns:a="http://schemas.openxmlformats.org/drawingml/2006/main">
            <a:off x="609600" y="4000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D38"/>
                </a:solidFill>
                <a:latin typeface="Arial"/>
                <a:ea typeface="Arial"/>
                <a:cs typeface="Arial"/>
              </a:defRPr>
            </a:defPPr>
          </a:lstStyle>
          <a:p xmlns:a="http://schemas.openxmlformats.org/drawingml/2006/main">
            <a:pPr algn="l">
              <a:buNone/>
              <a:defRPr sz="3300" b="1">
                <a:solidFill>
                  <a:srgbClr val="142D38"/>
                </a:solidFill>
                <a:latin typeface="Arial"/>
                <a:ea typeface="Arial"/>
                <a:cs typeface="Arial"/>
              </a:defRPr>
            </a:pPr>
            <a:r>
              <a:rPr sz="3300" b="1">
                <a:solidFill>
                  <a:srgbClr val="142D38"/>
                </a:solidFill>
                <a:latin typeface="Arial"/>
                <a:ea typeface="Arial"/>
                <a:cs typeface="Arial"/>
              </a:rPr>
              <a:t>Conclusion</a:t>
            </a:r>
          </a:p>
        </p:txBody>
      </p:sp>
      <p:sp>
        <p:nvSpPr>
          <p:cNvPr id="2" name="A-SNN Evidence-1">
            <a:extLst xmlns:a="http://schemas.openxmlformats.org/drawingml/2006/main">
              <a:ext uri="{FF2B5EF4-FFF2-40B4-BE49-F238E27FC236}">
                <a16:creationId xmlns:a16="http://schemas.microsoft.com/office/drawing/2014/main" id="{46022CED-47D2-4350-B3B4-E6E11A7245A3}"/>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672"/>
                </a:solidFill>
                <a:latin typeface="Arial"/>
                <a:ea typeface="Arial"/>
                <a:cs typeface="Arial"/>
              </a:defRPr>
            </a:defPPr>
          </a:lstStyle>
          <a:p xmlns:a="http://schemas.openxmlformats.org/drawingml/2006/main">
            <a:pPr algn="l">
              <a:buNone/>
              <a:defRPr sz="1350" b="0">
                <a:solidFill>
                  <a:srgbClr val="536672"/>
                </a:solidFill>
                <a:latin typeface="Arial"/>
                <a:ea typeface="Arial"/>
                <a:cs typeface="Arial"/>
              </a:defRPr>
            </a:pPr>
            <a:r>
              <a:rPr sz="1350" b="0">
                <a:solidFill>
                  <a:srgbClr val="536672"/>
                </a:solidFill>
                <a:latin typeface="Arial"/>
                <a:ea typeface="Arial"/>
                <a:cs typeface="Arial"/>
              </a:rPr>
              <a:t>A-SNN Evidence-1</a:t>
            </a:r>
          </a:p>
        </p:txBody>
      </p:sp>
      <p:sp>
        <p:nvSpPr>
          <p:cNvPr id="3" name="13">
            <a:extLst xmlns:a="http://schemas.openxmlformats.org/drawingml/2006/main">
              <a:ext uri="{FF2B5EF4-FFF2-40B4-BE49-F238E27FC236}">
                <a16:creationId xmlns:a16="http://schemas.microsoft.com/office/drawing/2014/main" id="{67462EF7-87D5-4E47-A6B3-5988284035CA}"/>
              </a:ext>
            </a:extLst>
          </p:cNvPr>
          <p:cNvSpPr>
            <a:spLocks xmlns:a="http://schemas.openxmlformats.org/drawingml/2006/main" noGrp="1"/>
          </p:cNvSpPr>
          <p:nvPr/>
        </p:nvSpPr>
        <p:spPr>
          <a:xfrm xmlns:a="http://schemas.openxmlformats.org/drawingml/2006/main">
            <a:off x="11049000" y="64008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672"/>
                </a:solidFill>
                <a:latin typeface="Arial"/>
                <a:ea typeface="Arial"/>
                <a:cs typeface="Arial"/>
              </a:defRPr>
            </a:defPPr>
          </a:lstStyle>
          <a:p xmlns:a="http://schemas.openxmlformats.org/drawingml/2006/main">
            <a:pPr algn="r">
              <a:buNone/>
              <a:defRPr sz="1350" b="0">
                <a:solidFill>
                  <a:srgbClr val="536672"/>
                </a:solidFill>
                <a:latin typeface="Arial"/>
                <a:ea typeface="Arial"/>
                <a:cs typeface="Arial"/>
              </a:defRPr>
            </a:pPr>
            <a:r>
              <a:rPr sz="1350" b="0">
                <a:solidFill>
                  <a:srgbClr val="536672"/>
                </a:solidFill>
                <a:latin typeface="Arial"/>
                <a:ea typeface="Arial"/>
                <a:cs typeface="Arial"/>
              </a:rPr>
              <a:t>13</a:t>
            </a:r>
          </a:p>
        </p:txBody>
      </p:sp>
      <p:sp>
        <p:nvSpPr>
          <p:cNvPr id="4" name="Sample-specific residual state contributes to prediction.">
            <a:extLst xmlns:a="http://schemas.openxmlformats.org/drawingml/2006/main">
              <a:ext uri="{FF2B5EF4-FFF2-40B4-BE49-F238E27FC236}">
                <a16:creationId xmlns:a16="http://schemas.microsoft.com/office/drawing/2014/main" id="{22EE1FED-D17B-4458-89A9-08177445BDDA}"/>
              </a:ext>
            </a:extLst>
          </p:cNvPr>
          <p:cNvSpPr>
            <a:spLocks xmlns:a="http://schemas.openxmlformats.org/drawingml/2006/main" noGrp="1"/>
          </p:cNvSpPr>
          <p:nvPr/>
        </p:nvSpPr>
        <p:spPr>
          <a:xfrm xmlns:a="http://schemas.openxmlformats.org/drawingml/2006/main">
            <a:off x="685800" y="1790700"/>
            <a:ext cx="10477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87C83"/>
                </a:solidFill>
                <a:latin typeface="Arial"/>
                <a:ea typeface="Arial"/>
                <a:cs typeface="Arial"/>
              </a:defRPr>
            </a:defPPr>
          </a:lstStyle>
          <a:p xmlns:a="http://schemas.openxmlformats.org/drawingml/2006/main">
            <a:pPr algn="l">
              <a:buNone/>
              <a:defRPr sz="3150" b="1">
                <a:solidFill>
                  <a:srgbClr val="087C83"/>
                </a:solidFill>
                <a:latin typeface="Arial"/>
                <a:ea typeface="Arial"/>
                <a:cs typeface="Arial"/>
              </a:defRPr>
            </a:pPr>
            <a:r>
              <a:rPr sz="3150" b="1">
                <a:solidFill>
                  <a:srgbClr val="087C83"/>
                </a:solidFill>
                <a:latin typeface="Arial"/>
                <a:ea typeface="Arial"/>
                <a:cs typeface="Arial"/>
              </a:rPr>
              <a:t>The original sample-state pairing contributes to prediction.</a:t>
            </a:r>
          </a:p>
        </p:txBody>
      </p:sp>
      <p:sp>
        <p:nvSpPr>
          <p:cNvPr id="5" name="Competitive accuracy and fully validated compiled execution ">
            <a:extLst xmlns:a="http://schemas.openxmlformats.org/drawingml/2006/main">
              <a:ext uri="{FF2B5EF4-FFF2-40B4-BE49-F238E27FC236}">
                <a16:creationId xmlns:a16="http://schemas.microsoft.com/office/drawing/2014/main" id="{57B961FC-1BAC-4636-9F35-0FA1556EA0BA}"/>
              </a:ext>
            </a:extLst>
          </p:cNvPr>
          <p:cNvSpPr>
            <a:spLocks xmlns:a="http://schemas.openxmlformats.org/drawingml/2006/main" noGrp="1"/>
          </p:cNvSpPr>
          <p:nvPr/>
        </p:nvSpPr>
        <p:spPr>
          <a:xfrm xmlns:a="http://schemas.openxmlformats.org/drawingml/2006/main">
            <a:off x="685800" y="3381375"/>
            <a:ext cx="10477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142D38"/>
                </a:solidFill>
                <a:latin typeface="Arial"/>
                <a:ea typeface="Arial"/>
                <a:cs typeface="Arial"/>
              </a:defRPr>
            </a:defPPr>
          </a:lstStyle>
          <a:p xmlns:a="http://schemas.openxmlformats.org/drawingml/2006/main">
            <a:pPr algn="l">
              <a:buNone/>
              <a:defRPr sz="2700" b="0">
                <a:solidFill>
                  <a:srgbClr val="142D38"/>
                </a:solidFill>
                <a:latin typeface="Arial"/>
                <a:ea typeface="Arial"/>
                <a:cs typeface="Arial"/>
              </a:defRPr>
            </a:pPr>
            <a:r>
              <a:rPr sz="2700" b="0">
                <a:solidFill>
                  <a:srgbClr val="142D38"/>
                </a:solidFill>
                <a:latin typeface="Arial"/>
                <a:ea typeface="Arial"/>
                <a:cs typeface="Arial"/>
              </a:rPr>
              <a:t>Competitive accuracy and fully validated compiled execution remain unconfirmed under the registered rules.</a:t>
            </a:r>
          </a:p>
        </p:txBody>
      </p:sp>
      <p:sp>
        <p:nvSpPr>
          <p:cNvPr id="6" name="Questions">
            <a:extLst xmlns:a="http://schemas.openxmlformats.org/drawingml/2006/main">
              <a:ext uri="{FF2B5EF4-FFF2-40B4-BE49-F238E27FC236}">
                <a16:creationId xmlns:a16="http://schemas.microsoft.com/office/drawing/2014/main" id="{266967D9-3E14-4FDF-A09C-E766643DDFD5}"/>
              </a:ext>
            </a:extLst>
          </p:cNvPr>
          <p:cNvSpPr>
            <a:spLocks xmlns:a="http://schemas.openxmlformats.org/drawingml/2006/main" noGrp="1"/>
          </p:cNvSpPr>
          <p:nvPr/>
        </p:nvSpPr>
        <p:spPr>
          <a:xfrm xmlns:a="http://schemas.openxmlformats.org/drawingml/2006/main">
            <a:off x="685800" y="552450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536672"/>
                </a:solidFill>
                <a:latin typeface="Arial"/>
                <a:ea typeface="Arial"/>
                <a:cs typeface="Arial"/>
              </a:defRPr>
            </a:defPPr>
          </a:lstStyle>
          <a:p xmlns:a="http://schemas.openxmlformats.org/drawingml/2006/main">
            <a:pPr algn="l">
              <a:buNone/>
              <a:defRPr sz="2625" b="0">
                <a:solidFill>
                  <a:srgbClr val="536672"/>
                </a:solidFill>
                <a:latin typeface="Arial"/>
                <a:ea typeface="Arial"/>
                <a:cs typeface="Arial"/>
              </a:defRPr>
            </a:pPr>
            <a:r>
              <a:rPr sz="2625" b="0">
                <a:solidFill>
                  <a:srgbClr val="536672"/>
                </a:solidFill>
                <a:latin typeface="Arial"/>
                <a:ea typeface="Arial"/>
                <a:cs typeface="Arial"/>
              </a:rPr>
              <a:t>Questions</a:t>
            </a:r>
          </a:p>
        </p:txBody>
      </p:sp>
    </p:spTree>
    <p:extLst>
      <p:ext uri="{BB962C8B-B14F-4D97-AF65-F5344CB8AC3E}">
        <p14:creationId xmlns:p14="http://schemas.microsoft.com/office/powerpoint/2010/main" val="17816438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lected references">
            <a:extLst xmlns:a="http://schemas.openxmlformats.org/drawingml/2006/main">
              <a:ext uri="{FF2B5EF4-FFF2-40B4-BE49-F238E27FC236}">
                <a16:creationId xmlns:a16="http://schemas.microsoft.com/office/drawing/2014/main" id="{B7D18D6F-7492-4C16-AEA0-26EECFF922DB}"/>
              </a:ext>
            </a:extLst>
          </p:cNvPr>
          <p:cNvSpPr>
            <a:spLocks xmlns:a="http://schemas.openxmlformats.org/drawingml/2006/main" noGrp="1"/>
          </p:cNvSpPr>
          <p:nvPr/>
        </p:nvSpPr>
        <p:spPr>
          <a:xfrm xmlns:a="http://schemas.openxmlformats.org/drawingml/2006/main">
            <a:off x="609600" y="4000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D38"/>
                </a:solidFill>
                <a:latin typeface="Arial"/>
                <a:ea typeface="Arial"/>
                <a:cs typeface="Arial"/>
              </a:defRPr>
            </a:defPPr>
          </a:lstStyle>
          <a:p xmlns:a="http://schemas.openxmlformats.org/drawingml/2006/main">
            <a:pPr algn="l">
              <a:buNone/>
              <a:defRPr sz="3300" b="1">
                <a:solidFill>
                  <a:srgbClr val="142D38"/>
                </a:solidFill>
                <a:latin typeface="Arial"/>
                <a:ea typeface="Arial"/>
                <a:cs typeface="Arial"/>
              </a:defRPr>
            </a:pPr>
            <a:r>
              <a:rPr sz="3300" b="1">
                <a:solidFill>
                  <a:srgbClr val="142D38"/>
                </a:solidFill>
                <a:latin typeface="Arial"/>
                <a:ea typeface="Arial"/>
                <a:cs typeface="Arial"/>
              </a:rPr>
              <a:t>Selected references</a:t>
            </a:r>
          </a:p>
        </p:txBody>
      </p:sp>
      <p:sp>
        <p:nvSpPr>
          <p:cNvPr id="2" name="Backup">
            <a:extLst xmlns:a="http://schemas.openxmlformats.org/drawingml/2006/main">
              <a:ext uri="{FF2B5EF4-FFF2-40B4-BE49-F238E27FC236}">
                <a16:creationId xmlns:a16="http://schemas.microsoft.com/office/drawing/2014/main" id="{83FE0391-D6D7-4FEB-90BF-696D61044A4D}"/>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672"/>
                </a:solidFill>
                <a:latin typeface="Arial"/>
                <a:ea typeface="Arial"/>
                <a:cs typeface="Arial"/>
              </a:defRPr>
            </a:defPPr>
          </a:lstStyle>
          <a:p xmlns:a="http://schemas.openxmlformats.org/drawingml/2006/main">
            <a:pPr algn="l">
              <a:buNone/>
              <a:defRPr sz="1350" b="0">
                <a:solidFill>
                  <a:srgbClr val="536672"/>
                </a:solidFill>
                <a:latin typeface="Arial"/>
                <a:ea typeface="Arial"/>
                <a:cs typeface="Arial"/>
              </a:defRPr>
            </a:pPr>
            <a:r>
              <a:rPr sz="1350" b="0">
                <a:solidFill>
                  <a:srgbClr val="536672"/>
                </a:solidFill>
                <a:latin typeface="Arial"/>
                <a:ea typeface="Arial"/>
                <a:cs typeface="Arial"/>
              </a:rPr>
              <a:t>Backup</a:t>
            </a:r>
          </a:p>
        </p:txBody>
      </p:sp>
      <p:sp>
        <p:nvSpPr>
          <p:cNvPr id="3" name="14">
            <a:extLst xmlns:a="http://schemas.openxmlformats.org/drawingml/2006/main">
              <a:ext uri="{FF2B5EF4-FFF2-40B4-BE49-F238E27FC236}">
                <a16:creationId xmlns:a16="http://schemas.microsoft.com/office/drawing/2014/main" id="{2E410796-BA2C-4A1A-9A52-875E829757ED}"/>
              </a:ext>
            </a:extLst>
          </p:cNvPr>
          <p:cNvSpPr>
            <a:spLocks xmlns:a="http://schemas.openxmlformats.org/drawingml/2006/main" noGrp="1"/>
          </p:cNvSpPr>
          <p:nvPr/>
        </p:nvSpPr>
        <p:spPr>
          <a:xfrm xmlns:a="http://schemas.openxmlformats.org/drawingml/2006/main">
            <a:off x="11049000" y="64008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672"/>
                </a:solidFill>
                <a:latin typeface="Arial"/>
                <a:ea typeface="Arial"/>
                <a:cs typeface="Arial"/>
              </a:defRPr>
            </a:defPPr>
          </a:lstStyle>
          <a:p xmlns:a="http://schemas.openxmlformats.org/drawingml/2006/main">
            <a:pPr algn="r">
              <a:buNone/>
              <a:defRPr sz="1350" b="0">
                <a:solidFill>
                  <a:srgbClr val="536672"/>
                </a:solidFill>
                <a:latin typeface="Arial"/>
                <a:ea typeface="Arial"/>
                <a:cs typeface="Arial"/>
              </a:defRPr>
            </a:pPr>
            <a:r>
              <a:rPr sz="1350" b="0">
                <a:solidFill>
                  <a:srgbClr val="536672"/>
                </a:solidFill>
                <a:latin typeface="Arial"/>
                <a:ea typeface="Arial"/>
                <a:cs typeface="Arial"/>
              </a:rPr>
              <a:t>14</a:t>
            </a:r>
          </a:p>
        </p:txBody>
      </p:sp>
      <p:sp>
        <p:nvSpPr>
          <p:cNvPr id="4" name="Cramer et al. Heidelberg spiking datasets. IEEE TNNLS. doi:1">
            <a:extLst xmlns:a="http://schemas.openxmlformats.org/drawingml/2006/main">
              <a:ext uri="{FF2B5EF4-FFF2-40B4-BE49-F238E27FC236}">
                <a16:creationId xmlns:a16="http://schemas.microsoft.com/office/drawing/2014/main" id="{13A9A92F-A131-4723-9937-FE2EDF65B89C}"/>
              </a:ext>
            </a:extLst>
          </p:cNvPr>
          <p:cNvSpPr>
            <a:spLocks xmlns:a="http://schemas.openxmlformats.org/drawingml/2006/main" noGrp="1"/>
          </p:cNvSpPr>
          <p:nvPr/>
        </p:nvSpPr>
        <p:spPr>
          <a:xfrm xmlns:a="http://schemas.openxmlformats.org/drawingml/2006/main">
            <a:off x="685800" y="1552575"/>
            <a:ext cx="10763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38"/>
                </a:solidFill>
                <a:latin typeface="Arial"/>
                <a:ea typeface="Arial"/>
                <a:cs typeface="Arial"/>
              </a:defRPr>
            </a:defPPr>
          </a:lstStyle>
          <a:p xmlns:a="http://schemas.openxmlformats.org/drawingml/2006/main">
            <a:pPr algn="l">
              <a:buNone/>
              <a:defRPr sz="1875" b="0">
                <a:solidFill>
                  <a:srgbClr val="142D38"/>
                </a:solidFill>
                <a:latin typeface="Arial"/>
                <a:ea typeface="Arial"/>
                <a:cs typeface="Arial"/>
              </a:defRPr>
            </a:pPr>
            <a:r>
              <a:rPr sz="1875" b="0">
                <a:solidFill>
                  <a:srgbClr val="142D38"/>
                </a:solidFill>
                <a:latin typeface="Arial"/>
                <a:ea typeface="Arial"/>
                <a:cs typeface="Arial"/>
              </a:rPr>
              <a:t>Cramer et al. Heidelberg spiking datasets. IEEE TNNLS. doi:10.1109/TNNLS.2020.3044364</a:t>
            </a:r>
          </a:p>
        </p:txBody>
      </p:sp>
      <p:sp>
        <p:nvSpPr>
          <p:cNvPr id="5" name="Neftci, Mostafa and Zenke. Surrogate Gradient Learning in SN">
            <a:extLst xmlns:a="http://schemas.openxmlformats.org/drawingml/2006/main">
              <a:ext uri="{FF2B5EF4-FFF2-40B4-BE49-F238E27FC236}">
                <a16:creationId xmlns:a16="http://schemas.microsoft.com/office/drawing/2014/main" id="{AEC3F855-7CCF-46FC-82E3-656ACB8B4548}"/>
              </a:ext>
            </a:extLst>
          </p:cNvPr>
          <p:cNvSpPr>
            <a:spLocks xmlns:a="http://schemas.openxmlformats.org/drawingml/2006/main" noGrp="1"/>
          </p:cNvSpPr>
          <p:nvPr/>
        </p:nvSpPr>
        <p:spPr>
          <a:xfrm xmlns:a="http://schemas.openxmlformats.org/drawingml/2006/main">
            <a:off x="685800" y="2438400"/>
            <a:ext cx="10763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38"/>
                </a:solidFill>
                <a:latin typeface="Arial"/>
                <a:ea typeface="Arial"/>
                <a:cs typeface="Arial"/>
              </a:defRPr>
            </a:defPPr>
          </a:lstStyle>
          <a:p xmlns:a="http://schemas.openxmlformats.org/drawingml/2006/main">
            <a:pPr algn="l">
              <a:buNone/>
              <a:defRPr sz="1875" b="0">
                <a:solidFill>
                  <a:srgbClr val="142D38"/>
                </a:solidFill>
                <a:latin typeface="Arial"/>
                <a:ea typeface="Arial"/>
                <a:cs typeface="Arial"/>
              </a:defRPr>
            </a:pPr>
            <a:r>
              <a:rPr sz="1875" b="0">
                <a:solidFill>
                  <a:srgbClr val="142D38"/>
                </a:solidFill>
                <a:latin typeface="Arial"/>
                <a:ea typeface="Arial"/>
                <a:cs typeface="Arial"/>
              </a:rPr>
              <a:t>Neftci, Mostafa and Zenke. Surrogate Gradient Learning in SNNs. IEEE Signal Processing Magazine, 2019.</a:t>
            </a:r>
          </a:p>
        </p:txBody>
      </p:sp>
      <p:sp>
        <p:nvSpPr>
          <p:cNvPr id="6" name="Bai, Kolter and Koltun. Convolutional and recurrent sequence">
            <a:extLst xmlns:a="http://schemas.openxmlformats.org/drawingml/2006/main">
              <a:ext uri="{FF2B5EF4-FFF2-40B4-BE49-F238E27FC236}">
                <a16:creationId xmlns:a16="http://schemas.microsoft.com/office/drawing/2014/main" id="{195631FA-992E-4FFD-9DD7-2E3715C35969}"/>
              </a:ext>
            </a:extLst>
          </p:cNvPr>
          <p:cNvSpPr>
            <a:spLocks xmlns:a="http://schemas.openxmlformats.org/drawingml/2006/main" noGrp="1"/>
          </p:cNvSpPr>
          <p:nvPr/>
        </p:nvSpPr>
        <p:spPr>
          <a:xfrm xmlns:a="http://schemas.openxmlformats.org/drawingml/2006/main">
            <a:off x="685800" y="3324225"/>
            <a:ext cx="10763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38"/>
                </a:solidFill>
                <a:latin typeface="Arial"/>
                <a:ea typeface="Arial"/>
                <a:cs typeface="Arial"/>
              </a:defRPr>
            </a:defPPr>
          </a:lstStyle>
          <a:p xmlns:a="http://schemas.openxmlformats.org/drawingml/2006/main">
            <a:pPr algn="l">
              <a:buNone/>
              <a:defRPr sz="1875" b="0">
                <a:solidFill>
                  <a:srgbClr val="142D38"/>
                </a:solidFill>
                <a:latin typeface="Arial"/>
                <a:ea typeface="Arial"/>
                <a:cs typeface="Arial"/>
              </a:defRPr>
            </a:pPr>
            <a:r>
              <a:rPr sz="1875" b="0">
                <a:solidFill>
                  <a:srgbClr val="142D38"/>
                </a:solidFill>
                <a:latin typeface="Arial"/>
                <a:ea typeface="Arial"/>
                <a:cs typeface="Arial"/>
              </a:rPr>
              <a:t>Bai, Kolter and Koltun. Convolutional and recurrent sequence modeling. arXiv:1803.01271, 2018.</a:t>
            </a:r>
          </a:p>
        </p:txBody>
      </p:sp>
      <p:sp>
        <p:nvSpPr>
          <p:cNvPr id="7" name="Cho et al. RNN Encoder–Decoder and gated recurrent units. EM">
            <a:extLst xmlns:a="http://schemas.openxmlformats.org/drawingml/2006/main">
              <a:ext uri="{FF2B5EF4-FFF2-40B4-BE49-F238E27FC236}">
                <a16:creationId xmlns:a16="http://schemas.microsoft.com/office/drawing/2014/main" id="{487A627B-3D7C-4334-9912-3940A73E1A47}"/>
              </a:ext>
            </a:extLst>
          </p:cNvPr>
          <p:cNvSpPr>
            <a:spLocks xmlns:a="http://schemas.openxmlformats.org/drawingml/2006/main" noGrp="1"/>
          </p:cNvSpPr>
          <p:nvPr/>
        </p:nvSpPr>
        <p:spPr>
          <a:xfrm xmlns:a="http://schemas.openxmlformats.org/drawingml/2006/main">
            <a:off x="685800" y="4210050"/>
            <a:ext cx="10763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38"/>
                </a:solidFill>
                <a:latin typeface="Arial"/>
                <a:ea typeface="Arial"/>
                <a:cs typeface="Arial"/>
              </a:defRPr>
            </a:defPPr>
          </a:lstStyle>
          <a:p xmlns:a="http://schemas.openxmlformats.org/drawingml/2006/main">
            <a:pPr algn="l">
              <a:buNone/>
              <a:defRPr sz="1875" b="0">
                <a:solidFill>
                  <a:srgbClr val="142D38"/>
                </a:solidFill>
                <a:latin typeface="Arial"/>
                <a:ea typeface="Arial"/>
                <a:cs typeface="Arial"/>
              </a:defRPr>
            </a:pPr>
            <a:r>
              <a:rPr sz="1875" b="0">
                <a:solidFill>
                  <a:srgbClr val="142D38"/>
                </a:solidFill>
                <a:latin typeface="Arial"/>
                <a:ea typeface="Arial"/>
                <a:cs typeface="Arial"/>
              </a:rPr>
              <a:t>Cho et al. RNN Encoder–Decoder and gated recurrent units. EMNLP, 2014.</a:t>
            </a:r>
          </a:p>
        </p:txBody>
      </p:sp>
      <p:sp>
        <p:nvSpPr>
          <p:cNvPr id="8" name="Loshchilov and Hutter. Decoupled Weight Decay Regularization">
            <a:extLst xmlns:a="http://schemas.openxmlformats.org/drawingml/2006/main">
              <a:ext uri="{FF2B5EF4-FFF2-40B4-BE49-F238E27FC236}">
                <a16:creationId xmlns:a16="http://schemas.microsoft.com/office/drawing/2014/main" id="{0EDF0B14-C666-4995-997E-F3FDB9C3A713}"/>
              </a:ext>
            </a:extLst>
          </p:cNvPr>
          <p:cNvSpPr>
            <a:spLocks xmlns:a="http://schemas.openxmlformats.org/drawingml/2006/main" noGrp="1"/>
          </p:cNvSpPr>
          <p:nvPr/>
        </p:nvSpPr>
        <p:spPr>
          <a:xfrm xmlns:a="http://schemas.openxmlformats.org/drawingml/2006/main">
            <a:off x="685800" y="5095875"/>
            <a:ext cx="10763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38"/>
                </a:solidFill>
                <a:latin typeface="Arial"/>
                <a:ea typeface="Arial"/>
                <a:cs typeface="Arial"/>
              </a:defRPr>
            </a:defPPr>
          </a:lstStyle>
          <a:p xmlns:a="http://schemas.openxmlformats.org/drawingml/2006/main">
            <a:pPr algn="l">
              <a:buNone/>
              <a:defRPr sz="1875" b="0">
                <a:solidFill>
                  <a:srgbClr val="142D38"/>
                </a:solidFill>
                <a:latin typeface="Arial"/>
                <a:ea typeface="Arial"/>
                <a:cs typeface="Arial"/>
              </a:defRPr>
            </a:pPr>
            <a:r>
              <a:rPr sz="1875" b="0">
                <a:solidFill>
                  <a:srgbClr val="142D38"/>
                </a:solidFill>
                <a:latin typeface="Arial"/>
                <a:ea typeface="Arial"/>
                <a:cs typeface="Arial"/>
              </a:rPr>
              <a:t>Loshchilov and Hutter. Decoupled Weight Decay Regularization. ICLR, 2019.</a:t>
            </a:r>
          </a:p>
        </p:txBody>
      </p:sp>
    </p:spTree>
    <p:extLst>
      <p:ext uri="{BB962C8B-B14F-4D97-AF65-F5344CB8AC3E}">
        <p14:creationId xmlns:p14="http://schemas.microsoft.com/office/powerpoint/2010/main" val="4009491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Backup: model size and selection">
            <a:extLst xmlns:a="http://schemas.openxmlformats.org/drawingml/2006/main">
              <a:ext uri="{FF2B5EF4-FFF2-40B4-BE49-F238E27FC236}">
                <a16:creationId xmlns:a16="http://schemas.microsoft.com/office/drawing/2014/main" id="{E2D8B8AB-D522-45D5-AA3D-C700C49C7595}"/>
              </a:ext>
            </a:extLst>
          </p:cNvPr>
          <p:cNvSpPr>
            <a:spLocks xmlns:a="http://schemas.openxmlformats.org/drawingml/2006/main" noGrp="1"/>
          </p:cNvSpPr>
          <p:nvPr/>
        </p:nvSpPr>
        <p:spPr>
          <a:xfrm xmlns:a="http://schemas.openxmlformats.org/drawingml/2006/main">
            <a:off x="609600" y="4000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D38"/>
                </a:solidFill>
                <a:latin typeface="Arial"/>
                <a:ea typeface="Arial"/>
                <a:cs typeface="Arial"/>
              </a:defRPr>
            </a:defPPr>
          </a:lstStyle>
          <a:p xmlns:a="http://schemas.openxmlformats.org/drawingml/2006/main">
            <a:pPr algn="l">
              <a:buNone/>
              <a:defRPr sz="3300" b="1">
                <a:solidFill>
                  <a:srgbClr val="142D38"/>
                </a:solidFill>
                <a:latin typeface="Arial"/>
                <a:ea typeface="Arial"/>
                <a:cs typeface="Arial"/>
              </a:defRPr>
            </a:pPr>
            <a:r>
              <a:rPr sz="3300" b="1">
                <a:solidFill>
                  <a:srgbClr val="142D38"/>
                </a:solidFill>
                <a:latin typeface="Arial"/>
                <a:ea typeface="Arial"/>
                <a:cs typeface="Arial"/>
              </a:rPr>
              <a:t>Backup: model size and selection</a:t>
            </a:r>
          </a:p>
        </p:txBody>
      </p:sp>
      <p:sp>
        <p:nvSpPr>
          <p:cNvPr id="2" name="Backup">
            <a:extLst xmlns:a="http://schemas.openxmlformats.org/drawingml/2006/main">
              <a:ext uri="{FF2B5EF4-FFF2-40B4-BE49-F238E27FC236}">
                <a16:creationId xmlns:a16="http://schemas.microsoft.com/office/drawing/2014/main" id="{C95C6217-9582-45D0-9E1C-12391C782CDF}"/>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672"/>
                </a:solidFill>
                <a:latin typeface="Arial"/>
                <a:ea typeface="Arial"/>
                <a:cs typeface="Arial"/>
              </a:defRPr>
            </a:defPPr>
          </a:lstStyle>
          <a:p xmlns:a="http://schemas.openxmlformats.org/drawingml/2006/main">
            <a:pPr algn="l">
              <a:buNone/>
              <a:defRPr sz="1350" b="0">
                <a:solidFill>
                  <a:srgbClr val="536672"/>
                </a:solidFill>
                <a:latin typeface="Arial"/>
                <a:ea typeface="Arial"/>
                <a:cs typeface="Arial"/>
              </a:defRPr>
            </a:pPr>
            <a:r>
              <a:rPr sz="1350" b="0">
                <a:solidFill>
                  <a:srgbClr val="536672"/>
                </a:solidFill>
                <a:latin typeface="Arial"/>
                <a:ea typeface="Arial"/>
                <a:cs typeface="Arial"/>
              </a:rPr>
              <a:t>Backup</a:t>
            </a:r>
          </a:p>
        </p:txBody>
      </p:sp>
      <p:sp>
        <p:nvSpPr>
          <p:cNvPr id="3" name="15">
            <a:extLst xmlns:a="http://schemas.openxmlformats.org/drawingml/2006/main">
              <a:ext uri="{FF2B5EF4-FFF2-40B4-BE49-F238E27FC236}">
                <a16:creationId xmlns:a16="http://schemas.microsoft.com/office/drawing/2014/main" id="{0CFC391C-4992-4625-845D-2B870960DAC2}"/>
              </a:ext>
            </a:extLst>
          </p:cNvPr>
          <p:cNvSpPr>
            <a:spLocks xmlns:a="http://schemas.openxmlformats.org/drawingml/2006/main" noGrp="1"/>
          </p:cNvSpPr>
          <p:nvPr/>
        </p:nvSpPr>
        <p:spPr>
          <a:xfrm xmlns:a="http://schemas.openxmlformats.org/drawingml/2006/main">
            <a:off x="11049000" y="64008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672"/>
                </a:solidFill>
                <a:latin typeface="Arial"/>
                <a:ea typeface="Arial"/>
                <a:cs typeface="Arial"/>
              </a:defRPr>
            </a:defPPr>
          </a:lstStyle>
          <a:p xmlns:a="http://schemas.openxmlformats.org/drawingml/2006/main">
            <a:pPr algn="r">
              <a:buNone/>
              <a:defRPr sz="1350" b="0">
                <a:solidFill>
                  <a:srgbClr val="536672"/>
                </a:solidFill>
                <a:latin typeface="Arial"/>
                <a:ea typeface="Arial"/>
                <a:cs typeface="Arial"/>
              </a:defRPr>
            </a:pPr>
            <a:r>
              <a:rPr sz="1350" b="0">
                <a:solidFill>
                  <a:srgbClr val="536672"/>
                </a:solidFill>
                <a:latin typeface="Arial"/>
                <a:ea typeface="Arial"/>
                <a:cs typeface="Arial"/>
              </a:rPr>
              <a:t>15</a:t>
            </a:r>
          </a:p>
        </p:txBody>
      </p:sp>
      <p:graphicFrame>
        <p:nvGraphicFramePr>
          <p:cNvPr id="4" name="">
            <a:extLst xmlns:a="http://schemas.openxmlformats.org/drawingml/2006/main">
              <a:ext uri="{FF2B5EF4-FFF2-40B4-BE49-F238E27FC236}">
                <a16:creationId xmlns:a16="http://schemas.microsoft.com/office/drawing/2014/main" id="{64D22A48-A37C-4575-BFAF-4209B3096583}"/>
              </a:ext>
            </a:extLst>
          </p:cNvPr>
          <p:cNvGraphicFramePr/>
          <p:nvPr/>
        </p:nvGraphicFramePr>
        <p:xfrm>
          <a:off xmlns:a="http://schemas.openxmlformats.org/drawingml/2006/main" x="609600" y="1600200"/>
          <a:ext xmlns:a="http://schemas.openxmlformats.org/drawingml/2006/main" cx="10972800" cy="3162300"/>
        </p:xfrm>
        <a:graphic xmlns:a="http://schemas.openxmlformats.org/drawingml/2006/main">
          <a:graphicData uri="http://schemas.openxmlformats.org/drawingml/2006/table">
            <a:tbl>
              <a:tblPr/>
              <a:tblGrid>
                <a:gridCol w="4381500"/>
                <a:gridCol w="3295650"/>
                <a:gridCol w="3295650"/>
              </a:tblGrid>
              <a:tr h="632460">
                <a:tc>
                  <a:txBody>
                    <a:bodyPr lIns="114300" tIns="114300" rIns="114300" bIns="114300"/>
                    <a:lstStyle/>
                    <a:p>
                      <a:r>
                        <a:rPr sz="2175" b="1">
                          <a:solidFill>
                            <a:srgbClr val="FFFFFF"/>
                          </a:solidFill>
                          <a:latin typeface="Arial"/>
                          <a:ea typeface="Arial"/>
                          <a:cs typeface="Arial"/>
                        </a:rPr>
                        <a:t>Model</a:t>
                      </a:r>
                    </a:p>
                  </a:txBody>
                  <a:tcPr marL="91440" marR="91440" marT="45720" marB="45720" anchor="ctr">
                    <a:lnL w="9525">
                      <a:solidFill>
                        <a:srgbClr val="D9E2E4"/>
                      </a:solidFill>
                      <a:prstDash val="solid"/>
                    </a:lnL>
                    <a:lnR w="9525">
                      <a:solidFill>
                        <a:srgbClr val="D9E2E4"/>
                      </a:solidFill>
                      <a:prstDash val="solid"/>
                    </a:lnR>
                    <a:lnT w="9525">
                      <a:solidFill>
                        <a:srgbClr val="D9E2E4"/>
                      </a:solidFill>
                      <a:prstDash val="solid"/>
                    </a:lnT>
                    <a:lnB w="9525">
                      <a:solidFill>
                        <a:srgbClr val="D9E2E4"/>
                      </a:solidFill>
                      <a:prstDash val="solid"/>
                    </a:lnB>
                    <a:solidFill>
                      <a:srgbClr val="142D38"/>
                    </a:solidFill>
                  </a:tcPr>
                </a:tc>
                <a:tc>
                  <a:txBody>
                    <a:bodyPr lIns="114300" tIns="114300" rIns="114300" bIns="114300"/>
                    <a:lstStyle/>
                    <a:p>
                      <a:r>
                        <a:rPr sz="2175" b="1">
                          <a:solidFill>
                            <a:srgbClr val="FFFFFF"/>
                          </a:solidFill>
                          <a:latin typeface="Arial"/>
                          <a:ea typeface="Arial"/>
                          <a:cs typeface="Arial"/>
                        </a:rPr>
                        <a:t>SHD parameters</a:t>
                      </a:r>
                    </a:p>
                  </a:txBody>
                  <a:tcPr marL="91440" marR="91440" marT="45720" marB="45720" anchor="ctr">
                    <a:lnR w="9525">
                      <a:solidFill>
                        <a:srgbClr val="D9E2E4"/>
                      </a:solidFill>
                      <a:prstDash val="solid"/>
                    </a:lnR>
                    <a:lnT w="9525">
                      <a:solidFill>
                        <a:srgbClr val="D9E2E4"/>
                      </a:solidFill>
                      <a:prstDash val="solid"/>
                    </a:lnT>
                    <a:lnB w="9525">
                      <a:solidFill>
                        <a:srgbClr val="D9E2E4"/>
                      </a:solidFill>
                      <a:prstDash val="solid"/>
                    </a:lnB>
                    <a:solidFill>
                      <a:srgbClr val="142D38"/>
                    </a:solidFill>
                  </a:tcPr>
                </a:tc>
                <a:tc>
                  <a:txBody>
                    <a:bodyPr lIns="114300" tIns="114300" rIns="114300" bIns="114300"/>
                    <a:lstStyle/>
                    <a:p>
                      <a:r>
                        <a:rPr sz="2175" b="1">
                          <a:solidFill>
                            <a:srgbClr val="FFFFFF"/>
                          </a:solidFill>
                          <a:latin typeface="Arial"/>
                          <a:ea typeface="Arial"/>
                          <a:cs typeface="Arial"/>
                        </a:rPr>
                        <a:t>SSC parameters</a:t>
                      </a:r>
                    </a:p>
                  </a:txBody>
                  <a:tcPr marL="91440" marR="91440" marT="45720" marB="45720" anchor="ctr">
                    <a:lnR w="9525">
                      <a:solidFill>
                        <a:srgbClr val="D9E2E4"/>
                      </a:solidFill>
                      <a:prstDash val="solid"/>
                    </a:lnR>
                    <a:lnT w="9525">
                      <a:solidFill>
                        <a:srgbClr val="D9E2E4"/>
                      </a:solidFill>
                      <a:prstDash val="solid"/>
                    </a:lnT>
                    <a:lnB w="9525">
                      <a:solidFill>
                        <a:srgbClr val="D9E2E4"/>
                      </a:solidFill>
                      <a:prstDash val="solid"/>
                    </a:lnB>
                    <a:solidFill>
                      <a:srgbClr val="142D38"/>
                    </a:solidFill>
                  </a:tcPr>
                </a:tc>
              </a:tr>
              <a:tr h="632460">
                <a:tc>
                  <a:txBody>
                    <a:bodyPr lIns="114300" tIns="114300" rIns="114300" bIns="114300"/>
                    <a:lstStyle/>
                    <a:p>
                      <a:r>
                        <a:rPr sz="2175" b="0">
                          <a:solidFill>
                            <a:srgbClr val="142D38"/>
                          </a:solidFill>
                          <a:latin typeface="Arial"/>
                          <a:ea typeface="Arial"/>
                          <a:cs typeface="Arial"/>
                        </a:rPr>
                        <a:t>Residual LIF</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2175" b="0">
                          <a:solidFill>
                            <a:srgbClr val="142D38"/>
                          </a:solidFill>
                          <a:latin typeface="Arial"/>
                          <a:ea typeface="Arial"/>
                          <a:cs typeface="Arial"/>
                        </a:rPr>
                        <a:t>131,956</a:t>
                      </a:r>
                    </a:p>
                  </a:txBody>
                  <a:tcPr marL="91440" marR="91440" marT="45720" marB="45720" anchor="ctr">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2175" b="0">
                          <a:solidFill>
                            <a:srgbClr val="142D38"/>
                          </a:solidFill>
                          <a:latin typeface="Arial"/>
                          <a:ea typeface="Arial"/>
                          <a:cs typeface="Arial"/>
                        </a:rPr>
                        <a:t>133,087</a:t>
                      </a:r>
                    </a:p>
                  </a:txBody>
                  <a:tcPr marL="91440" marR="91440" marT="45720" marB="45720" anchor="ctr">
                    <a:lnR w="9525">
                      <a:solidFill>
                        <a:srgbClr val="D9E2E4"/>
                      </a:solidFill>
                      <a:prstDash val="solid"/>
                    </a:lnR>
                    <a:lnB w="9525">
                      <a:solidFill>
                        <a:srgbClr val="D9E2E4"/>
                      </a:solidFill>
                      <a:prstDash val="solid"/>
                    </a:lnB>
                    <a:solidFill>
                      <a:srgbClr val="FFFFFF"/>
                    </a:solidFill>
                  </a:tcPr>
                </a:tc>
              </a:tr>
              <a:tr h="632460">
                <a:tc>
                  <a:txBody>
                    <a:bodyPr lIns="114300" tIns="114300" rIns="114300" bIns="114300"/>
                    <a:lstStyle/>
                    <a:p>
                      <a:r>
                        <a:rPr sz="2175" b="0">
                          <a:solidFill>
                            <a:srgbClr val="142D38"/>
                          </a:solidFill>
                          <a:latin typeface="Arial"/>
                          <a:ea typeface="Arial"/>
                          <a:cs typeface="Arial"/>
                        </a:rPr>
                        <a:t>Conv1D</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2175" b="0">
                          <a:solidFill>
                            <a:srgbClr val="142D38"/>
                          </a:solidFill>
                          <a:latin typeface="Arial"/>
                          <a:ea typeface="Arial"/>
                          <a:cs typeface="Arial"/>
                        </a:rPr>
                        <a:t>133,055</a:t>
                      </a:r>
                    </a:p>
                  </a:txBody>
                  <a:tcPr marL="91440" marR="91440" marT="45720" marB="45720" anchor="ctr">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2175" b="0">
                          <a:solidFill>
                            <a:srgbClr val="142D38"/>
                          </a:solidFill>
                          <a:latin typeface="Arial"/>
                          <a:ea typeface="Arial"/>
                          <a:cs typeface="Arial"/>
                        </a:rPr>
                        <a:t>132,893</a:t>
                      </a:r>
                    </a:p>
                  </a:txBody>
                  <a:tcPr marL="91440" marR="91440" marT="45720" marB="45720" anchor="ctr">
                    <a:lnR w="9525">
                      <a:solidFill>
                        <a:srgbClr val="D9E2E4"/>
                      </a:solidFill>
                      <a:prstDash val="solid"/>
                    </a:lnR>
                    <a:lnB w="9525">
                      <a:solidFill>
                        <a:srgbClr val="D9E2E4"/>
                      </a:solidFill>
                      <a:prstDash val="solid"/>
                    </a:lnB>
                    <a:solidFill>
                      <a:srgbClr val="F3F7F7"/>
                    </a:solidFill>
                  </a:tcPr>
                </a:tc>
              </a:tr>
              <a:tr h="632460">
                <a:tc>
                  <a:txBody>
                    <a:bodyPr lIns="114300" tIns="114300" rIns="114300" bIns="114300"/>
                    <a:lstStyle/>
                    <a:p>
                      <a:r>
                        <a:rPr sz="2175" b="0">
                          <a:solidFill>
                            <a:srgbClr val="142D38"/>
                          </a:solidFill>
                          <a:latin typeface="Arial"/>
                          <a:ea typeface="Arial"/>
                          <a:cs typeface="Arial"/>
                        </a:rPr>
                        <a:t>TCN</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2175" b="0">
                          <a:solidFill>
                            <a:srgbClr val="142D38"/>
                          </a:solidFill>
                          <a:latin typeface="Arial"/>
                          <a:ea typeface="Arial"/>
                          <a:cs typeface="Arial"/>
                        </a:rPr>
                        <a:t>132,756</a:t>
                      </a:r>
                    </a:p>
                  </a:txBody>
                  <a:tcPr marL="91440" marR="91440" marT="45720" marB="45720" anchor="ctr">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2175" b="0">
                          <a:solidFill>
                            <a:srgbClr val="142D38"/>
                          </a:solidFill>
                          <a:latin typeface="Arial"/>
                          <a:ea typeface="Arial"/>
                          <a:cs typeface="Arial"/>
                        </a:rPr>
                        <a:t>131,971</a:t>
                      </a:r>
                    </a:p>
                  </a:txBody>
                  <a:tcPr marL="91440" marR="91440" marT="45720" marB="45720" anchor="ctr">
                    <a:lnR w="9525">
                      <a:solidFill>
                        <a:srgbClr val="D9E2E4"/>
                      </a:solidFill>
                      <a:prstDash val="solid"/>
                    </a:lnR>
                    <a:lnB w="9525">
                      <a:solidFill>
                        <a:srgbClr val="D9E2E4"/>
                      </a:solidFill>
                      <a:prstDash val="solid"/>
                    </a:lnB>
                    <a:solidFill>
                      <a:srgbClr val="FFFFFF"/>
                    </a:solidFill>
                  </a:tcPr>
                </a:tc>
              </a:tr>
              <a:tr h="632460">
                <a:tc>
                  <a:txBody>
                    <a:bodyPr lIns="114300" tIns="114300" rIns="114300" bIns="114300"/>
                    <a:lstStyle/>
                    <a:p>
                      <a:r>
                        <a:rPr sz="2175" b="0">
                          <a:solidFill>
                            <a:srgbClr val="142D38"/>
                          </a:solidFill>
                          <a:latin typeface="Arial"/>
                          <a:ea typeface="Arial"/>
                          <a:cs typeface="Arial"/>
                        </a:rPr>
                        <a:t>GRU</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2175" b="0">
                          <a:solidFill>
                            <a:srgbClr val="142D38"/>
                          </a:solidFill>
                          <a:latin typeface="Arial"/>
                          <a:ea typeface="Arial"/>
                          <a:cs typeface="Arial"/>
                        </a:rPr>
                        <a:t>133,420</a:t>
                      </a:r>
                    </a:p>
                  </a:txBody>
                  <a:tcPr marL="91440" marR="91440" marT="45720" marB="45720" anchor="ctr">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2175" b="0">
                          <a:solidFill>
                            <a:srgbClr val="142D38"/>
                          </a:solidFill>
                          <a:latin typeface="Arial"/>
                          <a:ea typeface="Arial"/>
                          <a:cs typeface="Arial"/>
                        </a:rPr>
                        <a:t>131,819</a:t>
                      </a:r>
                    </a:p>
                  </a:txBody>
                  <a:tcPr marL="91440" marR="91440" marT="45720" marB="45720" anchor="ctr">
                    <a:lnR w="9525">
                      <a:solidFill>
                        <a:srgbClr val="D9E2E4"/>
                      </a:solidFill>
                      <a:prstDash val="solid"/>
                    </a:lnR>
                    <a:lnB w="9525">
                      <a:solidFill>
                        <a:srgbClr val="D9E2E4"/>
                      </a:solidFill>
                      <a:prstDash val="solid"/>
                    </a:lnB>
                    <a:solidFill>
                      <a:srgbClr val="F3F7F7"/>
                    </a:solidFill>
                  </a:tcPr>
                </a:tc>
              </a:tr>
            </a:tbl>
          </a:graphicData>
        </a:graphic>
      </p:graphicFrame>
      <p:sp>
        <p:nvSpPr>
          <p:cNvPr id="5" name="Earliest highest-validation checkpoint, followed by one fina">
            <a:extLst xmlns:a="http://schemas.openxmlformats.org/drawingml/2006/main">
              <a:ext uri="{FF2B5EF4-FFF2-40B4-BE49-F238E27FC236}">
                <a16:creationId xmlns:a16="http://schemas.microsoft.com/office/drawing/2014/main" id="{6B9FF6FB-78D8-4CDE-9C06-3DCCB16847F6}"/>
              </a:ext>
            </a:extLst>
          </p:cNvPr>
          <p:cNvSpPr>
            <a:spLocks xmlns:a="http://schemas.openxmlformats.org/drawingml/2006/main" noGrp="1"/>
          </p:cNvSpPr>
          <p:nvPr/>
        </p:nvSpPr>
        <p:spPr>
          <a:xfrm xmlns:a="http://schemas.openxmlformats.org/drawingml/2006/main">
            <a:off x="685800" y="5238750"/>
            <a:ext cx="1076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C83"/>
                </a:solidFill>
                <a:latin typeface="Arial"/>
                <a:ea typeface="Arial"/>
                <a:cs typeface="Arial"/>
              </a:defRPr>
            </a:defPPr>
          </a:lstStyle>
          <a:p xmlns:a="http://schemas.openxmlformats.org/drawingml/2006/main">
            <a:pPr algn="l">
              <a:buNone/>
              <a:defRPr sz="2100" b="1">
                <a:solidFill>
                  <a:srgbClr val="087C83"/>
                </a:solidFill>
                <a:latin typeface="Arial"/>
                <a:ea typeface="Arial"/>
                <a:cs typeface="Arial"/>
              </a:defRPr>
            </a:pPr>
            <a:r>
              <a:rPr sz="2100" b="1">
                <a:solidFill>
                  <a:srgbClr val="087C83"/>
                </a:solidFill>
                <a:latin typeface="Arial"/>
                <a:ea typeface="Arial"/>
                <a:cs typeface="Arial"/>
              </a:rPr>
              <a:t>Earliest highest-validation checkpoint, followed by one final test evaluation</a:t>
            </a:r>
          </a:p>
        </p:txBody>
      </p:sp>
    </p:spTree>
    <p:extLst>
      <p:ext uri="{BB962C8B-B14F-4D97-AF65-F5344CB8AC3E}">
        <p14:creationId xmlns:p14="http://schemas.microsoft.com/office/powerpoint/2010/main" val="137492830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Backup: paired state-effect intervals">
            <a:extLst xmlns:a="http://schemas.openxmlformats.org/drawingml/2006/main">
              <a:ext uri="{FF2B5EF4-FFF2-40B4-BE49-F238E27FC236}">
                <a16:creationId xmlns:a16="http://schemas.microsoft.com/office/drawing/2014/main" id="{0F7A801C-15A8-4880-90FB-7DCB1BD5A1E4}"/>
              </a:ext>
            </a:extLst>
          </p:cNvPr>
          <p:cNvSpPr>
            <a:spLocks xmlns:a="http://schemas.openxmlformats.org/drawingml/2006/main" noGrp="1"/>
          </p:cNvSpPr>
          <p:nvPr/>
        </p:nvSpPr>
        <p:spPr>
          <a:xfrm xmlns:a="http://schemas.openxmlformats.org/drawingml/2006/main">
            <a:off x="609600" y="4000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D38"/>
                </a:solidFill>
                <a:latin typeface="Arial"/>
                <a:ea typeface="Arial"/>
                <a:cs typeface="Arial"/>
              </a:defRPr>
            </a:defPPr>
          </a:lstStyle>
          <a:p xmlns:a="http://schemas.openxmlformats.org/drawingml/2006/main">
            <a:pPr algn="l">
              <a:buNone/>
              <a:defRPr sz="3300" b="1">
                <a:solidFill>
                  <a:srgbClr val="142D38"/>
                </a:solidFill>
                <a:latin typeface="Arial"/>
                <a:ea typeface="Arial"/>
                <a:cs typeface="Arial"/>
              </a:defRPr>
            </a:pPr>
            <a:r>
              <a:rPr sz="3300" b="1">
                <a:solidFill>
                  <a:srgbClr val="142D38"/>
                </a:solidFill>
                <a:latin typeface="Arial"/>
                <a:ea typeface="Arial"/>
                <a:cs typeface="Arial"/>
              </a:rPr>
              <a:t>Backup: paired state-effect intervals</a:t>
            </a:r>
          </a:p>
        </p:txBody>
      </p:sp>
      <p:sp>
        <p:nvSpPr>
          <p:cNvPr id="2" name="Backup">
            <a:extLst xmlns:a="http://schemas.openxmlformats.org/drawingml/2006/main">
              <a:ext uri="{FF2B5EF4-FFF2-40B4-BE49-F238E27FC236}">
                <a16:creationId xmlns:a16="http://schemas.microsoft.com/office/drawing/2014/main" id="{72EB773B-5E93-45BF-92E0-A788DEAB3AC5}"/>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672"/>
                </a:solidFill>
                <a:latin typeface="Arial"/>
                <a:ea typeface="Arial"/>
                <a:cs typeface="Arial"/>
              </a:defRPr>
            </a:defPPr>
          </a:lstStyle>
          <a:p xmlns:a="http://schemas.openxmlformats.org/drawingml/2006/main">
            <a:pPr algn="l">
              <a:buNone/>
              <a:defRPr sz="1350" b="0">
                <a:solidFill>
                  <a:srgbClr val="536672"/>
                </a:solidFill>
                <a:latin typeface="Arial"/>
                <a:ea typeface="Arial"/>
                <a:cs typeface="Arial"/>
              </a:defRPr>
            </a:pPr>
            <a:r>
              <a:rPr sz="1350" b="0">
                <a:solidFill>
                  <a:srgbClr val="536672"/>
                </a:solidFill>
                <a:latin typeface="Arial"/>
                <a:ea typeface="Arial"/>
                <a:cs typeface="Arial"/>
              </a:rPr>
              <a:t>Backup</a:t>
            </a:r>
          </a:p>
        </p:txBody>
      </p:sp>
      <p:sp>
        <p:nvSpPr>
          <p:cNvPr id="3" name="16">
            <a:extLst xmlns:a="http://schemas.openxmlformats.org/drawingml/2006/main">
              <a:ext uri="{FF2B5EF4-FFF2-40B4-BE49-F238E27FC236}">
                <a16:creationId xmlns:a16="http://schemas.microsoft.com/office/drawing/2014/main" id="{94AFD9A8-47A8-41C0-9828-66395E75C498}"/>
              </a:ext>
            </a:extLst>
          </p:cNvPr>
          <p:cNvSpPr>
            <a:spLocks xmlns:a="http://schemas.openxmlformats.org/drawingml/2006/main" noGrp="1"/>
          </p:cNvSpPr>
          <p:nvPr/>
        </p:nvSpPr>
        <p:spPr>
          <a:xfrm xmlns:a="http://schemas.openxmlformats.org/drawingml/2006/main">
            <a:off x="11049000" y="64008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672"/>
                </a:solidFill>
                <a:latin typeface="Arial"/>
                <a:ea typeface="Arial"/>
                <a:cs typeface="Arial"/>
              </a:defRPr>
            </a:defPPr>
          </a:lstStyle>
          <a:p xmlns:a="http://schemas.openxmlformats.org/drawingml/2006/main">
            <a:pPr algn="r">
              <a:buNone/>
              <a:defRPr sz="1350" b="0">
                <a:solidFill>
                  <a:srgbClr val="536672"/>
                </a:solidFill>
                <a:latin typeface="Arial"/>
                <a:ea typeface="Arial"/>
                <a:cs typeface="Arial"/>
              </a:defRPr>
            </a:pPr>
            <a:r>
              <a:rPr sz="1350" b="0">
                <a:solidFill>
                  <a:srgbClr val="536672"/>
                </a:solidFill>
                <a:latin typeface="Arial"/>
                <a:ea typeface="Arial"/>
                <a:cs typeface="Arial"/>
              </a:rPr>
              <a:t>16</a:t>
            </a:r>
          </a:p>
        </p:txBody>
      </p:sp>
      <p:graphicFrame>
        <p:nvGraphicFramePr>
          <p:cNvPr id="4" name="">
            <a:extLst xmlns:a="http://schemas.openxmlformats.org/drawingml/2006/main">
              <a:ext uri="{FF2B5EF4-FFF2-40B4-BE49-F238E27FC236}">
                <a16:creationId xmlns:a16="http://schemas.microsoft.com/office/drawing/2014/main" id="{DB292B81-C54F-42A4-BA49-B40A3691BB27}"/>
              </a:ext>
            </a:extLst>
          </p:cNvPr>
          <p:cNvGraphicFramePr/>
          <p:nvPr/>
        </p:nvGraphicFramePr>
        <p:xfrm>
          <a:off xmlns:a="http://schemas.openxmlformats.org/drawingml/2006/main" x="609600" y="1752600"/>
          <a:ext xmlns:a="http://schemas.openxmlformats.org/drawingml/2006/main" cx="10972800" cy="3143250"/>
        </p:xfrm>
        <a:graphic xmlns:a="http://schemas.openxmlformats.org/drawingml/2006/main">
          <a:graphicData uri="http://schemas.openxmlformats.org/drawingml/2006/table">
            <a:tbl>
              <a:tblPr/>
              <a:tblGrid>
                <a:gridCol w="4524375"/>
                <a:gridCol w="2333625"/>
                <a:gridCol w="4114800"/>
              </a:tblGrid>
              <a:tr h="628650">
                <a:tc>
                  <a:txBody>
                    <a:bodyPr lIns="114300" tIns="114300" rIns="114300" bIns="114300"/>
                    <a:lstStyle/>
                    <a:p>
                      <a:r>
                        <a:rPr sz="2100" b="1">
                          <a:solidFill>
                            <a:srgbClr val="FFFFFF"/>
                          </a:solidFill>
                          <a:latin typeface="Arial"/>
                          <a:ea typeface="Arial"/>
                          <a:cs typeface="Arial"/>
                        </a:rPr>
                        <a:t>Dataset and intervention</a:t>
                      </a:r>
                    </a:p>
                  </a:txBody>
                  <a:tcPr marL="91440" marR="91440" marT="45720" marB="45720" anchor="ctr">
                    <a:lnL w="9525">
                      <a:solidFill>
                        <a:srgbClr val="D9E2E4"/>
                      </a:solidFill>
                      <a:prstDash val="solid"/>
                    </a:lnL>
                    <a:lnR w="9525">
                      <a:solidFill>
                        <a:srgbClr val="D9E2E4"/>
                      </a:solidFill>
                      <a:prstDash val="solid"/>
                    </a:lnR>
                    <a:lnT w="9525">
                      <a:solidFill>
                        <a:srgbClr val="D9E2E4"/>
                      </a:solidFill>
                      <a:prstDash val="solid"/>
                    </a:lnT>
                    <a:lnB w="9525">
                      <a:solidFill>
                        <a:srgbClr val="D9E2E4"/>
                      </a:solidFill>
                      <a:prstDash val="solid"/>
                    </a:lnB>
                    <a:solidFill>
                      <a:srgbClr val="142D38"/>
                    </a:solidFill>
                  </a:tcPr>
                </a:tc>
                <a:tc>
                  <a:txBody>
                    <a:bodyPr lIns="114300" tIns="114300" rIns="114300" bIns="114300"/>
                    <a:lstStyle/>
                    <a:p>
                      <a:r>
                        <a:rPr sz="2100" b="1">
                          <a:solidFill>
                            <a:srgbClr val="FFFFFF"/>
                          </a:solidFill>
                          <a:latin typeface="Arial"/>
                          <a:ea typeface="Arial"/>
                          <a:cs typeface="Arial"/>
                        </a:rPr>
                        <a:t>Mean drop (pp)</a:t>
                      </a:r>
                    </a:p>
                  </a:txBody>
                  <a:tcPr marL="91440" marR="91440" marT="45720" marB="45720" anchor="ctr">
                    <a:lnR w="9525">
                      <a:solidFill>
                        <a:srgbClr val="D9E2E4"/>
                      </a:solidFill>
                      <a:prstDash val="solid"/>
                    </a:lnR>
                    <a:lnT w="9525">
                      <a:solidFill>
                        <a:srgbClr val="D9E2E4"/>
                      </a:solidFill>
                      <a:prstDash val="solid"/>
                    </a:lnT>
                    <a:lnB w="9525">
                      <a:solidFill>
                        <a:srgbClr val="D9E2E4"/>
                      </a:solidFill>
                      <a:prstDash val="solid"/>
                    </a:lnB>
                    <a:solidFill>
                      <a:srgbClr val="142D38"/>
                    </a:solidFill>
                  </a:tcPr>
                </a:tc>
                <a:tc>
                  <a:txBody>
                    <a:bodyPr lIns="114300" tIns="114300" rIns="114300" bIns="114300"/>
                    <a:lstStyle/>
                    <a:p>
                      <a:r>
                        <a:rPr sz="2100" b="1">
                          <a:solidFill>
                            <a:srgbClr val="FFFFFF"/>
                          </a:solidFill>
                          <a:latin typeface="Arial"/>
                          <a:ea typeface="Arial"/>
                          <a:cs typeface="Arial"/>
                        </a:rPr>
                        <a:t>Paired 95% interval (pp)</a:t>
                      </a:r>
                    </a:p>
                  </a:txBody>
                  <a:tcPr marL="91440" marR="91440" marT="45720" marB="45720" anchor="ctr">
                    <a:lnR w="9525">
                      <a:solidFill>
                        <a:srgbClr val="D9E2E4"/>
                      </a:solidFill>
                      <a:prstDash val="solid"/>
                    </a:lnR>
                    <a:lnT w="9525">
                      <a:solidFill>
                        <a:srgbClr val="D9E2E4"/>
                      </a:solidFill>
                      <a:prstDash val="solid"/>
                    </a:lnT>
                    <a:lnB w="9525">
                      <a:solidFill>
                        <a:srgbClr val="D9E2E4"/>
                      </a:solidFill>
                      <a:prstDash val="solid"/>
                    </a:lnB>
                    <a:solidFill>
                      <a:srgbClr val="142D38"/>
                    </a:solidFill>
                  </a:tcPr>
                </a:tc>
              </a:tr>
              <a:tr h="628650">
                <a:tc>
                  <a:txBody>
                    <a:bodyPr lIns="114300" tIns="114300" rIns="114300" bIns="114300"/>
                    <a:lstStyle/>
                    <a:p>
                      <a:r>
                        <a:rPr sz="2100" b="0">
                          <a:solidFill>
                            <a:srgbClr val="142D38"/>
                          </a:solidFill>
                          <a:latin typeface="Arial"/>
                          <a:ea typeface="Arial"/>
                          <a:cs typeface="Arial"/>
                        </a:rPr>
                        <a:t>SHD, zero state</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2100" b="0">
                          <a:solidFill>
                            <a:srgbClr val="142D38"/>
                          </a:solidFill>
                          <a:latin typeface="Arial"/>
                          <a:ea typeface="Arial"/>
                          <a:cs typeface="Arial"/>
                        </a:rPr>
                        <a:t>9.43</a:t>
                      </a:r>
                    </a:p>
                  </a:txBody>
                  <a:tcPr marL="91440" marR="91440" marT="45720" marB="45720" anchor="ctr">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2100" b="0">
                          <a:solidFill>
                            <a:srgbClr val="142D38"/>
                          </a:solidFill>
                          <a:latin typeface="Arial"/>
                          <a:ea typeface="Arial"/>
                          <a:cs typeface="Arial"/>
                        </a:rPr>
                        <a:t>[7.36, 11.51]</a:t>
                      </a:r>
                    </a:p>
                  </a:txBody>
                  <a:tcPr marL="91440" marR="91440" marT="45720" marB="45720" anchor="ctr">
                    <a:lnR w="9525">
                      <a:solidFill>
                        <a:srgbClr val="D9E2E4"/>
                      </a:solidFill>
                      <a:prstDash val="solid"/>
                    </a:lnR>
                    <a:lnB w="9525">
                      <a:solidFill>
                        <a:srgbClr val="D9E2E4"/>
                      </a:solidFill>
                      <a:prstDash val="solid"/>
                    </a:lnB>
                    <a:solidFill>
                      <a:srgbClr val="FFFFFF"/>
                    </a:solidFill>
                  </a:tcPr>
                </a:tc>
              </a:tr>
              <a:tr h="628650">
                <a:tc>
                  <a:txBody>
                    <a:bodyPr lIns="114300" tIns="114300" rIns="114300" bIns="114300"/>
                    <a:lstStyle/>
                    <a:p>
                      <a:r>
                        <a:rPr sz="2100" b="0">
                          <a:solidFill>
                            <a:srgbClr val="142D38"/>
                          </a:solidFill>
                          <a:latin typeface="Arial"/>
                          <a:ea typeface="Arial"/>
                          <a:cs typeface="Arial"/>
                        </a:rPr>
                        <a:t>SHD, shuffled state</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2100" b="0">
                          <a:solidFill>
                            <a:srgbClr val="142D38"/>
                          </a:solidFill>
                          <a:latin typeface="Arial"/>
                          <a:ea typeface="Arial"/>
                          <a:cs typeface="Arial"/>
                        </a:rPr>
                        <a:t>4.04</a:t>
                      </a:r>
                    </a:p>
                  </a:txBody>
                  <a:tcPr marL="91440" marR="91440" marT="45720" marB="45720" anchor="ctr">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2100" b="0">
                          <a:solidFill>
                            <a:srgbClr val="142D38"/>
                          </a:solidFill>
                          <a:latin typeface="Arial"/>
                          <a:ea typeface="Arial"/>
                          <a:cs typeface="Arial"/>
                        </a:rPr>
                        <a:t>[3.19, 4.89]</a:t>
                      </a:r>
                    </a:p>
                  </a:txBody>
                  <a:tcPr marL="91440" marR="91440" marT="45720" marB="45720" anchor="ctr">
                    <a:lnR w="9525">
                      <a:solidFill>
                        <a:srgbClr val="D9E2E4"/>
                      </a:solidFill>
                      <a:prstDash val="solid"/>
                    </a:lnR>
                    <a:lnB w="9525">
                      <a:solidFill>
                        <a:srgbClr val="D9E2E4"/>
                      </a:solidFill>
                      <a:prstDash val="solid"/>
                    </a:lnB>
                    <a:solidFill>
                      <a:srgbClr val="F3F7F7"/>
                    </a:solidFill>
                  </a:tcPr>
                </a:tc>
              </a:tr>
              <a:tr h="628650">
                <a:tc>
                  <a:txBody>
                    <a:bodyPr lIns="114300" tIns="114300" rIns="114300" bIns="114300"/>
                    <a:lstStyle/>
                    <a:p>
                      <a:r>
                        <a:rPr sz="2100" b="0">
                          <a:solidFill>
                            <a:srgbClr val="142D38"/>
                          </a:solidFill>
                          <a:latin typeface="Arial"/>
                          <a:ea typeface="Arial"/>
                          <a:cs typeface="Arial"/>
                        </a:rPr>
                        <a:t>SSC, zero state</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2100" b="0">
                          <a:solidFill>
                            <a:srgbClr val="142D38"/>
                          </a:solidFill>
                          <a:latin typeface="Arial"/>
                          <a:ea typeface="Arial"/>
                          <a:cs typeface="Arial"/>
                        </a:rPr>
                        <a:t>13.64</a:t>
                      </a:r>
                    </a:p>
                  </a:txBody>
                  <a:tcPr marL="91440" marR="91440" marT="45720" marB="45720" anchor="ctr">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2100" b="0">
                          <a:solidFill>
                            <a:srgbClr val="142D38"/>
                          </a:solidFill>
                          <a:latin typeface="Arial"/>
                          <a:ea typeface="Arial"/>
                          <a:cs typeface="Arial"/>
                        </a:rPr>
                        <a:t>[10.91, 16.37]</a:t>
                      </a:r>
                    </a:p>
                  </a:txBody>
                  <a:tcPr marL="91440" marR="91440" marT="45720" marB="45720" anchor="ctr">
                    <a:lnR w="9525">
                      <a:solidFill>
                        <a:srgbClr val="D9E2E4"/>
                      </a:solidFill>
                      <a:prstDash val="solid"/>
                    </a:lnR>
                    <a:lnB w="9525">
                      <a:solidFill>
                        <a:srgbClr val="D9E2E4"/>
                      </a:solidFill>
                      <a:prstDash val="solid"/>
                    </a:lnB>
                    <a:solidFill>
                      <a:srgbClr val="FFFFFF"/>
                    </a:solidFill>
                  </a:tcPr>
                </a:tc>
              </a:tr>
              <a:tr h="628650">
                <a:tc>
                  <a:txBody>
                    <a:bodyPr lIns="114300" tIns="114300" rIns="114300" bIns="114300"/>
                    <a:lstStyle/>
                    <a:p>
                      <a:r>
                        <a:rPr sz="2100" b="0">
                          <a:solidFill>
                            <a:srgbClr val="142D38"/>
                          </a:solidFill>
                          <a:latin typeface="Arial"/>
                          <a:ea typeface="Arial"/>
                          <a:cs typeface="Arial"/>
                        </a:rPr>
                        <a:t>SSC, shuffled state</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2100" b="0">
                          <a:solidFill>
                            <a:srgbClr val="142D38"/>
                          </a:solidFill>
                          <a:latin typeface="Arial"/>
                          <a:ea typeface="Arial"/>
                          <a:cs typeface="Arial"/>
                        </a:rPr>
                        <a:t>8.87</a:t>
                      </a:r>
                    </a:p>
                  </a:txBody>
                  <a:tcPr marL="91440" marR="91440" marT="45720" marB="45720" anchor="ctr">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2100" b="0">
                          <a:solidFill>
                            <a:srgbClr val="142D38"/>
                          </a:solidFill>
                          <a:latin typeface="Arial"/>
                          <a:ea typeface="Arial"/>
                          <a:cs typeface="Arial"/>
                        </a:rPr>
                        <a:t>[8.27, 9.46]</a:t>
                      </a:r>
                    </a:p>
                  </a:txBody>
                  <a:tcPr marL="91440" marR="91440" marT="45720" marB="45720" anchor="ctr">
                    <a:lnR w="9525">
                      <a:solidFill>
                        <a:srgbClr val="D9E2E4"/>
                      </a:solidFill>
                      <a:prstDash val="solid"/>
                    </a:lnR>
                    <a:lnB w="9525">
                      <a:solidFill>
                        <a:srgbClr val="D9E2E4"/>
                      </a:solidFill>
                      <a:prstDash val="solid"/>
                    </a:lnB>
                    <a:solidFill>
                      <a:srgbClr val="F3F7F7"/>
                    </a:solidFill>
                  </a:tcPr>
                </a:tc>
              </a:tr>
            </a:tbl>
          </a:graphicData>
        </a:graphic>
      </p:graphicFrame>
      <p:sp>
        <p:nvSpPr>
          <p:cNvPr id="5" name="All effects compare the full model to an intervention at the">
            <a:extLst xmlns:a="http://schemas.openxmlformats.org/drawingml/2006/main">
              <a:ext uri="{FF2B5EF4-FFF2-40B4-BE49-F238E27FC236}">
                <a16:creationId xmlns:a16="http://schemas.microsoft.com/office/drawing/2014/main" id="{E801DD0F-66A9-4CBF-BF28-A31EBCE44386}"/>
              </a:ext>
            </a:extLst>
          </p:cNvPr>
          <p:cNvSpPr>
            <a:spLocks xmlns:a="http://schemas.openxmlformats.org/drawingml/2006/main" noGrp="1"/>
          </p:cNvSpPr>
          <p:nvPr/>
        </p:nvSpPr>
        <p:spPr>
          <a:xfrm xmlns:a="http://schemas.openxmlformats.org/drawingml/2006/main">
            <a:off x="685800" y="53816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672"/>
                </a:solidFill>
                <a:latin typeface="Arial"/>
                <a:ea typeface="Arial"/>
                <a:cs typeface="Arial"/>
              </a:defRPr>
            </a:defPPr>
          </a:lstStyle>
          <a:p xmlns:a="http://schemas.openxmlformats.org/drawingml/2006/main">
            <a:pPr algn="l">
              <a:buNone/>
              <a:defRPr sz="2100" b="0">
                <a:solidFill>
                  <a:srgbClr val="536672"/>
                </a:solidFill>
                <a:latin typeface="Arial"/>
                <a:ea typeface="Arial"/>
                <a:cs typeface="Arial"/>
              </a:defRPr>
            </a:pPr>
            <a:r>
              <a:rPr sz="2100" b="0">
                <a:solidFill>
                  <a:srgbClr val="536672"/>
                </a:solidFill>
                <a:latin typeface="Arial"/>
                <a:ea typeface="Arial"/>
                <a:cs typeface="Arial"/>
              </a:rPr>
              <a:t>All effects compare the full model to an intervention at the same fixed checkpoint.</a:t>
            </a:r>
          </a:p>
        </p:txBody>
      </p:sp>
    </p:spTree>
    <p:extLst>
      <p:ext uri="{BB962C8B-B14F-4D97-AF65-F5344CB8AC3E}">
        <p14:creationId xmlns:p14="http://schemas.microsoft.com/office/powerpoint/2010/main" val="5962162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Backup: all paired baseline comparisons">
            <a:extLst xmlns:a="http://schemas.openxmlformats.org/drawingml/2006/main">
              <a:ext uri="{FF2B5EF4-FFF2-40B4-BE49-F238E27FC236}">
                <a16:creationId xmlns:a16="http://schemas.microsoft.com/office/drawing/2014/main" id="{DB9E7993-8D23-40BF-AF2B-44008AAA103A}"/>
              </a:ext>
            </a:extLst>
          </p:cNvPr>
          <p:cNvSpPr>
            <a:spLocks xmlns:a="http://schemas.openxmlformats.org/drawingml/2006/main" noGrp="1"/>
          </p:cNvSpPr>
          <p:nvPr/>
        </p:nvSpPr>
        <p:spPr>
          <a:xfrm xmlns:a="http://schemas.openxmlformats.org/drawingml/2006/main">
            <a:off x="609600" y="4000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D38"/>
                </a:solidFill>
                <a:latin typeface="Arial"/>
                <a:ea typeface="Arial"/>
                <a:cs typeface="Arial"/>
              </a:defRPr>
            </a:defPPr>
          </a:lstStyle>
          <a:p xmlns:a="http://schemas.openxmlformats.org/drawingml/2006/main">
            <a:pPr algn="l">
              <a:buNone/>
              <a:defRPr sz="3300" b="1">
                <a:solidFill>
                  <a:srgbClr val="142D38"/>
                </a:solidFill>
                <a:latin typeface="Arial"/>
                <a:ea typeface="Arial"/>
                <a:cs typeface="Arial"/>
              </a:defRPr>
            </a:pPr>
            <a:r>
              <a:rPr sz="3300" b="1">
                <a:solidFill>
                  <a:srgbClr val="142D38"/>
                </a:solidFill>
                <a:latin typeface="Arial"/>
                <a:ea typeface="Arial"/>
                <a:cs typeface="Arial"/>
              </a:rPr>
              <a:t>Backup: all paired baseline comparisons</a:t>
            </a:r>
          </a:p>
        </p:txBody>
      </p:sp>
      <p:sp>
        <p:nvSpPr>
          <p:cNvPr id="2" name="Backup">
            <a:extLst xmlns:a="http://schemas.openxmlformats.org/drawingml/2006/main">
              <a:ext uri="{FF2B5EF4-FFF2-40B4-BE49-F238E27FC236}">
                <a16:creationId xmlns:a16="http://schemas.microsoft.com/office/drawing/2014/main" id="{DE0FFF90-2079-43E3-892D-F5FA019E6BB4}"/>
              </a:ext>
            </a:extLst>
          </p:cNvPr>
          <p:cNvSpPr>
            <a:spLocks xmlns:a="http://schemas.openxmlformats.org/drawingml/2006/main" noGrp="1"/>
          </p:cNvSpPr>
          <p:nvPr/>
        </p:nvSpPr>
        <p:spPr>
          <a:xfrm xmlns:a="http://schemas.openxmlformats.org/drawingml/2006/main">
            <a:off x="609600" y="6400800"/>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672"/>
                </a:solidFill>
                <a:latin typeface="Arial"/>
                <a:ea typeface="Arial"/>
                <a:cs typeface="Arial"/>
              </a:defRPr>
            </a:defPPr>
          </a:lstStyle>
          <a:p xmlns:a="http://schemas.openxmlformats.org/drawingml/2006/main">
            <a:pPr algn="l">
              <a:buNone/>
              <a:defRPr sz="1350" b="0">
                <a:solidFill>
                  <a:srgbClr val="536672"/>
                </a:solidFill>
                <a:latin typeface="Arial"/>
                <a:ea typeface="Arial"/>
                <a:cs typeface="Arial"/>
              </a:defRPr>
            </a:pPr>
            <a:r>
              <a:rPr sz="1350" b="0">
                <a:solidFill>
                  <a:srgbClr val="536672"/>
                </a:solidFill>
                <a:latin typeface="Arial"/>
                <a:ea typeface="Arial"/>
                <a:cs typeface="Arial"/>
              </a:rPr>
              <a:t>Backup</a:t>
            </a:r>
          </a:p>
        </p:txBody>
      </p:sp>
      <p:sp>
        <p:nvSpPr>
          <p:cNvPr id="3" name="17">
            <a:extLst xmlns:a="http://schemas.openxmlformats.org/drawingml/2006/main">
              <a:ext uri="{FF2B5EF4-FFF2-40B4-BE49-F238E27FC236}">
                <a16:creationId xmlns:a16="http://schemas.microsoft.com/office/drawing/2014/main" id="{D9A3A517-82E1-47D8-9432-59A0F8ACDE6F}"/>
              </a:ext>
            </a:extLst>
          </p:cNvPr>
          <p:cNvSpPr>
            <a:spLocks xmlns:a="http://schemas.openxmlformats.org/drawingml/2006/main" noGrp="1"/>
          </p:cNvSpPr>
          <p:nvPr/>
        </p:nvSpPr>
        <p:spPr>
          <a:xfrm xmlns:a="http://schemas.openxmlformats.org/drawingml/2006/main">
            <a:off x="11049000" y="64008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672"/>
                </a:solidFill>
                <a:latin typeface="Arial"/>
                <a:ea typeface="Arial"/>
                <a:cs typeface="Arial"/>
              </a:defRPr>
            </a:defPPr>
          </a:lstStyle>
          <a:p xmlns:a="http://schemas.openxmlformats.org/drawingml/2006/main">
            <a:pPr algn="r">
              <a:buNone/>
              <a:defRPr sz="1350" b="0">
                <a:solidFill>
                  <a:srgbClr val="536672"/>
                </a:solidFill>
                <a:latin typeface="Arial"/>
                <a:ea typeface="Arial"/>
                <a:cs typeface="Arial"/>
              </a:defRPr>
            </a:pPr>
            <a:r>
              <a:rPr sz="1350" b="0">
                <a:solidFill>
                  <a:srgbClr val="536672"/>
                </a:solidFill>
                <a:latin typeface="Arial"/>
                <a:ea typeface="Arial"/>
                <a:cs typeface="Arial"/>
              </a:rPr>
              <a:t>17</a:t>
            </a:r>
          </a:p>
        </p:txBody>
      </p:sp>
      <p:graphicFrame>
        <p:nvGraphicFramePr>
          <p:cNvPr id="4" name="">
            <a:extLst xmlns:a="http://schemas.openxmlformats.org/drawingml/2006/main">
              <a:ext uri="{FF2B5EF4-FFF2-40B4-BE49-F238E27FC236}">
                <a16:creationId xmlns:a16="http://schemas.microsoft.com/office/drawing/2014/main" id="{4C15E988-35D1-4446-A824-0F20C6688217}"/>
              </a:ext>
            </a:extLst>
          </p:cNvPr>
          <p:cNvGraphicFramePr/>
          <p:nvPr/>
        </p:nvGraphicFramePr>
        <p:xfrm>
          <a:off xmlns:a="http://schemas.openxmlformats.org/drawingml/2006/main" x="609600" y="1543050"/>
          <a:ext xmlns:a="http://schemas.openxmlformats.org/drawingml/2006/main" cx="10972800" cy="4133850"/>
        </p:xfrm>
        <a:graphic xmlns:a="http://schemas.openxmlformats.org/drawingml/2006/main">
          <a:graphicData uri="http://schemas.openxmlformats.org/drawingml/2006/table">
            <a:tbl>
              <a:tblPr/>
              <a:tblGrid>
                <a:gridCol w="2762250"/>
                <a:gridCol w="2905125"/>
                <a:gridCol w="3524250"/>
                <a:gridCol w="1781175"/>
              </a:tblGrid>
              <a:tr h="590550">
                <a:tc>
                  <a:txBody>
                    <a:bodyPr lIns="114300" tIns="114300" rIns="114300" bIns="114300"/>
                    <a:lstStyle/>
                    <a:p>
                      <a:r>
                        <a:rPr sz="1950" b="1">
                          <a:solidFill>
                            <a:srgbClr val="FFFFFF"/>
                          </a:solidFill>
                          <a:latin typeface="Arial"/>
                          <a:ea typeface="Arial"/>
                          <a:cs typeface="Arial"/>
                        </a:rPr>
                        <a:t>Dataset / control</a:t>
                      </a:r>
                    </a:p>
                  </a:txBody>
                  <a:tcPr marL="91440" marR="91440" marT="45720" marB="45720" anchor="ctr">
                    <a:lnL w="9525">
                      <a:solidFill>
                        <a:srgbClr val="D9E2E4"/>
                      </a:solidFill>
                      <a:prstDash val="solid"/>
                    </a:lnL>
                    <a:lnR w="9525">
                      <a:solidFill>
                        <a:srgbClr val="D9E2E4"/>
                      </a:solidFill>
                      <a:prstDash val="solid"/>
                    </a:lnR>
                    <a:lnT w="9525">
                      <a:solidFill>
                        <a:srgbClr val="D9E2E4"/>
                      </a:solidFill>
                      <a:prstDash val="solid"/>
                    </a:lnT>
                    <a:lnB w="9525">
                      <a:solidFill>
                        <a:srgbClr val="D9E2E4"/>
                      </a:solidFill>
                      <a:prstDash val="solid"/>
                    </a:lnB>
                    <a:solidFill>
                      <a:srgbClr val="142D38"/>
                    </a:solidFill>
                  </a:tcPr>
                </a:tc>
                <a:tc>
                  <a:txBody>
                    <a:bodyPr lIns="114300" tIns="114300" rIns="114300" bIns="114300"/>
                    <a:lstStyle/>
                    <a:p>
                      <a:r>
                        <a:rPr sz="1950" b="1">
                          <a:solidFill>
                            <a:srgbClr val="FFFFFF"/>
                          </a:solidFill>
                          <a:latin typeface="Arial"/>
                          <a:ea typeface="Arial"/>
                          <a:cs typeface="Arial"/>
                        </a:rPr>
                        <a:t>Mean difference (pp)</a:t>
                      </a:r>
                    </a:p>
                  </a:txBody>
                  <a:tcPr marL="91440" marR="91440" marT="45720" marB="45720" anchor="ctr">
                    <a:lnR w="9525">
                      <a:solidFill>
                        <a:srgbClr val="D9E2E4"/>
                      </a:solidFill>
                      <a:prstDash val="solid"/>
                    </a:lnR>
                    <a:lnT w="9525">
                      <a:solidFill>
                        <a:srgbClr val="D9E2E4"/>
                      </a:solidFill>
                      <a:prstDash val="solid"/>
                    </a:lnT>
                    <a:lnB w="9525">
                      <a:solidFill>
                        <a:srgbClr val="D9E2E4"/>
                      </a:solidFill>
                      <a:prstDash val="solid"/>
                    </a:lnB>
                    <a:solidFill>
                      <a:srgbClr val="142D38"/>
                    </a:solidFill>
                  </a:tcPr>
                </a:tc>
                <a:tc>
                  <a:txBody>
                    <a:bodyPr lIns="114300" tIns="114300" rIns="114300" bIns="114300"/>
                    <a:lstStyle/>
                    <a:p>
                      <a:r>
                        <a:rPr sz="1950" b="1">
                          <a:solidFill>
                            <a:srgbClr val="FFFFFF"/>
                          </a:solidFill>
                          <a:latin typeface="Arial"/>
                          <a:ea typeface="Arial"/>
                          <a:cs typeface="Arial"/>
                        </a:rPr>
                        <a:t>Paired 95% CI (pp)</a:t>
                      </a:r>
                    </a:p>
                  </a:txBody>
                  <a:tcPr marL="91440" marR="91440" marT="45720" marB="45720" anchor="ctr">
                    <a:lnR w="9525">
                      <a:solidFill>
                        <a:srgbClr val="D9E2E4"/>
                      </a:solidFill>
                      <a:prstDash val="solid"/>
                    </a:lnR>
                    <a:lnT w="9525">
                      <a:solidFill>
                        <a:srgbClr val="D9E2E4"/>
                      </a:solidFill>
                      <a:prstDash val="solid"/>
                    </a:lnT>
                    <a:lnB w="9525">
                      <a:solidFill>
                        <a:srgbClr val="D9E2E4"/>
                      </a:solidFill>
                      <a:prstDash val="solid"/>
                    </a:lnB>
                    <a:solidFill>
                      <a:srgbClr val="142D38"/>
                    </a:solidFill>
                  </a:tcPr>
                </a:tc>
                <a:tc>
                  <a:txBody>
                    <a:bodyPr lIns="114300" tIns="114300" rIns="114300" bIns="114300"/>
                    <a:lstStyle/>
                    <a:p>
                      <a:r>
                        <a:rPr sz="1950" b="1">
                          <a:solidFill>
                            <a:srgbClr val="FFFFFF"/>
                          </a:solidFill>
                          <a:latin typeface="Arial"/>
                          <a:ea typeface="Arial"/>
                          <a:cs typeface="Arial"/>
                        </a:rPr>
                        <a:t>Rule</a:t>
                      </a:r>
                    </a:p>
                  </a:txBody>
                  <a:tcPr marL="91440" marR="91440" marT="45720" marB="45720" anchor="ctr">
                    <a:lnR w="9525">
                      <a:solidFill>
                        <a:srgbClr val="D9E2E4"/>
                      </a:solidFill>
                      <a:prstDash val="solid"/>
                    </a:lnR>
                    <a:lnT w="9525">
                      <a:solidFill>
                        <a:srgbClr val="D9E2E4"/>
                      </a:solidFill>
                      <a:prstDash val="solid"/>
                    </a:lnT>
                    <a:lnB w="9525">
                      <a:solidFill>
                        <a:srgbClr val="D9E2E4"/>
                      </a:solidFill>
                      <a:prstDash val="solid"/>
                    </a:lnB>
                    <a:solidFill>
                      <a:srgbClr val="142D38"/>
                    </a:solidFill>
                  </a:tcPr>
                </a:tc>
              </a:tr>
              <a:tr h="590550">
                <a:tc>
                  <a:txBody>
                    <a:bodyPr lIns="114300" tIns="114300" rIns="114300" bIns="114300"/>
                    <a:lstStyle/>
                    <a:p>
                      <a:r>
                        <a:rPr sz="1950" b="0">
                          <a:solidFill>
                            <a:srgbClr val="142D38"/>
                          </a:solidFill>
                          <a:latin typeface="Arial"/>
                          <a:ea typeface="Arial"/>
                          <a:cs typeface="Arial"/>
                        </a:rPr>
                        <a:t>SHD / Conv1D</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1950" b="0">
                          <a:solidFill>
                            <a:srgbClr val="142D38"/>
                          </a:solidFill>
                          <a:latin typeface="Arial"/>
                          <a:ea typeface="Arial"/>
                          <a:cs typeface="Arial"/>
                        </a:rPr>
                        <a:t>+0.82</a:t>
                      </a:r>
                    </a:p>
                  </a:txBody>
                  <a:tcPr marL="91440" marR="91440" marT="45720" marB="45720" anchor="ctr">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1950" b="0">
                          <a:solidFill>
                            <a:srgbClr val="142D38"/>
                          </a:solidFill>
                          <a:latin typeface="Arial"/>
                          <a:ea typeface="Arial"/>
                          <a:cs typeface="Arial"/>
                        </a:rPr>
                        <a:t>[-1.13, 2.78]</a:t>
                      </a:r>
                    </a:p>
                  </a:txBody>
                  <a:tcPr marL="91440" marR="91440" marT="45720" marB="45720" anchor="ctr">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1950" b="0">
                          <a:solidFill>
                            <a:srgbClr val="142D38"/>
                          </a:solidFill>
                          <a:latin typeface="Arial"/>
                          <a:ea typeface="Arial"/>
                          <a:cs typeface="Arial"/>
                        </a:rPr>
                        <a:t>Fail</a:t>
                      </a:r>
                    </a:p>
                  </a:txBody>
                  <a:tcPr marL="91440" marR="91440" marT="45720" marB="45720" anchor="ctr">
                    <a:lnR w="9525">
                      <a:solidFill>
                        <a:srgbClr val="D9E2E4"/>
                      </a:solidFill>
                      <a:prstDash val="solid"/>
                    </a:lnR>
                    <a:lnB w="9525">
                      <a:solidFill>
                        <a:srgbClr val="D9E2E4"/>
                      </a:solidFill>
                      <a:prstDash val="solid"/>
                    </a:lnB>
                    <a:solidFill>
                      <a:srgbClr val="FFFFFF"/>
                    </a:solidFill>
                  </a:tcPr>
                </a:tc>
              </a:tr>
              <a:tr h="590550">
                <a:tc>
                  <a:txBody>
                    <a:bodyPr lIns="114300" tIns="114300" rIns="114300" bIns="114300"/>
                    <a:lstStyle/>
                    <a:p>
                      <a:r>
                        <a:rPr sz="1950" b="0">
                          <a:solidFill>
                            <a:srgbClr val="142D38"/>
                          </a:solidFill>
                          <a:latin typeface="Arial"/>
                          <a:ea typeface="Arial"/>
                          <a:cs typeface="Arial"/>
                        </a:rPr>
                        <a:t>SHD / TCN</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1950" b="0">
                          <a:solidFill>
                            <a:srgbClr val="142D38"/>
                          </a:solidFill>
                          <a:latin typeface="Arial"/>
                          <a:ea typeface="Arial"/>
                          <a:cs typeface="Arial"/>
                        </a:rPr>
                        <a:t>+0.93</a:t>
                      </a:r>
                    </a:p>
                  </a:txBody>
                  <a:tcPr marL="91440" marR="91440" marT="45720" marB="45720" anchor="ctr">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1950" b="0">
                          <a:solidFill>
                            <a:srgbClr val="142D38"/>
                          </a:solidFill>
                          <a:latin typeface="Arial"/>
                          <a:ea typeface="Arial"/>
                          <a:cs typeface="Arial"/>
                        </a:rPr>
                        <a:t>[-0.40, 2.26]</a:t>
                      </a:r>
                    </a:p>
                  </a:txBody>
                  <a:tcPr marL="91440" marR="91440" marT="45720" marB="45720" anchor="ctr">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1950" b="0">
                          <a:solidFill>
                            <a:srgbClr val="142D38"/>
                          </a:solidFill>
                          <a:latin typeface="Arial"/>
                          <a:ea typeface="Arial"/>
                          <a:cs typeface="Arial"/>
                        </a:rPr>
                        <a:t>Pass</a:t>
                      </a:r>
                    </a:p>
                  </a:txBody>
                  <a:tcPr marL="91440" marR="91440" marT="45720" marB="45720" anchor="ctr">
                    <a:lnR w="9525">
                      <a:solidFill>
                        <a:srgbClr val="D9E2E4"/>
                      </a:solidFill>
                      <a:prstDash val="solid"/>
                    </a:lnR>
                    <a:lnB w="9525">
                      <a:solidFill>
                        <a:srgbClr val="D9E2E4"/>
                      </a:solidFill>
                      <a:prstDash val="solid"/>
                    </a:lnB>
                    <a:solidFill>
                      <a:srgbClr val="F3F7F7"/>
                    </a:solidFill>
                  </a:tcPr>
                </a:tc>
              </a:tr>
              <a:tr h="590550">
                <a:tc>
                  <a:txBody>
                    <a:bodyPr lIns="114300" tIns="114300" rIns="114300" bIns="114300"/>
                    <a:lstStyle/>
                    <a:p>
                      <a:r>
                        <a:rPr sz="1950" b="0">
                          <a:solidFill>
                            <a:srgbClr val="142D38"/>
                          </a:solidFill>
                          <a:latin typeface="Arial"/>
                          <a:ea typeface="Arial"/>
                          <a:cs typeface="Arial"/>
                        </a:rPr>
                        <a:t>SHD / GRU</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1950" b="0">
                          <a:solidFill>
                            <a:srgbClr val="142D38"/>
                          </a:solidFill>
                          <a:latin typeface="Arial"/>
                          <a:ea typeface="Arial"/>
                          <a:cs typeface="Arial"/>
                        </a:rPr>
                        <a:t>+43.65</a:t>
                      </a:r>
                    </a:p>
                  </a:txBody>
                  <a:tcPr marL="91440" marR="91440" marT="45720" marB="45720" anchor="ctr">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1950" b="0">
                          <a:solidFill>
                            <a:srgbClr val="142D38"/>
                          </a:solidFill>
                          <a:latin typeface="Arial"/>
                          <a:ea typeface="Arial"/>
                          <a:cs typeface="Arial"/>
                        </a:rPr>
                        <a:t>[40.71, 46.60]</a:t>
                      </a:r>
                    </a:p>
                  </a:txBody>
                  <a:tcPr marL="91440" marR="91440" marT="45720" marB="45720" anchor="ctr">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1950" b="0">
                          <a:solidFill>
                            <a:srgbClr val="142D38"/>
                          </a:solidFill>
                          <a:latin typeface="Arial"/>
                          <a:ea typeface="Arial"/>
                          <a:cs typeface="Arial"/>
                        </a:rPr>
                        <a:t>Pass</a:t>
                      </a:r>
                    </a:p>
                  </a:txBody>
                  <a:tcPr marL="91440" marR="91440" marT="45720" marB="45720" anchor="ctr">
                    <a:lnR w="9525">
                      <a:solidFill>
                        <a:srgbClr val="D9E2E4"/>
                      </a:solidFill>
                      <a:prstDash val="solid"/>
                    </a:lnR>
                    <a:lnB w="9525">
                      <a:solidFill>
                        <a:srgbClr val="D9E2E4"/>
                      </a:solidFill>
                      <a:prstDash val="solid"/>
                    </a:lnB>
                    <a:solidFill>
                      <a:srgbClr val="FFFFFF"/>
                    </a:solidFill>
                  </a:tcPr>
                </a:tc>
              </a:tr>
              <a:tr h="590550">
                <a:tc>
                  <a:txBody>
                    <a:bodyPr lIns="114300" tIns="114300" rIns="114300" bIns="114300"/>
                    <a:lstStyle/>
                    <a:p>
                      <a:r>
                        <a:rPr sz="1950" b="0">
                          <a:solidFill>
                            <a:srgbClr val="142D38"/>
                          </a:solidFill>
                          <a:latin typeface="Arial"/>
                          <a:ea typeface="Arial"/>
                          <a:cs typeface="Arial"/>
                        </a:rPr>
                        <a:t>SSC / Conv1D</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1950" b="0">
                          <a:solidFill>
                            <a:srgbClr val="142D38"/>
                          </a:solidFill>
                          <a:latin typeface="Arial"/>
                          <a:ea typeface="Arial"/>
                          <a:cs typeface="Arial"/>
                        </a:rPr>
                        <a:t>+6.71</a:t>
                      </a:r>
                    </a:p>
                  </a:txBody>
                  <a:tcPr marL="91440" marR="91440" marT="45720" marB="45720" anchor="ctr">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1950" b="0">
                          <a:solidFill>
                            <a:srgbClr val="142D38"/>
                          </a:solidFill>
                          <a:latin typeface="Arial"/>
                          <a:ea typeface="Arial"/>
                          <a:cs typeface="Arial"/>
                        </a:rPr>
                        <a:t>[5.01, 8.41]</a:t>
                      </a:r>
                    </a:p>
                  </a:txBody>
                  <a:tcPr marL="91440" marR="91440" marT="45720" marB="45720" anchor="ctr">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1950" b="0">
                          <a:solidFill>
                            <a:srgbClr val="142D38"/>
                          </a:solidFill>
                          <a:latin typeface="Arial"/>
                          <a:ea typeface="Arial"/>
                          <a:cs typeface="Arial"/>
                        </a:rPr>
                        <a:t>Pass</a:t>
                      </a:r>
                    </a:p>
                  </a:txBody>
                  <a:tcPr marL="91440" marR="91440" marT="45720" marB="45720" anchor="ctr">
                    <a:lnR w="9525">
                      <a:solidFill>
                        <a:srgbClr val="D9E2E4"/>
                      </a:solidFill>
                      <a:prstDash val="solid"/>
                    </a:lnR>
                    <a:lnB w="9525">
                      <a:solidFill>
                        <a:srgbClr val="D9E2E4"/>
                      </a:solidFill>
                      <a:prstDash val="solid"/>
                    </a:lnB>
                    <a:solidFill>
                      <a:srgbClr val="F3F7F7"/>
                    </a:solidFill>
                  </a:tcPr>
                </a:tc>
              </a:tr>
              <a:tr h="590550">
                <a:tc>
                  <a:txBody>
                    <a:bodyPr lIns="114300" tIns="114300" rIns="114300" bIns="114300"/>
                    <a:lstStyle/>
                    <a:p>
                      <a:r>
                        <a:rPr sz="1950" b="0">
                          <a:solidFill>
                            <a:srgbClr val="142D38"/>
                          </a:solidFill>
                          <a:latin typeface="Arial"/>
                          <a:ea typeface="Arial"/>
                          <a:cs typeface="Arial"/>
                        </a:rPr>
                        <a:t>SSC / TCN</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1950" b="0">
                          <a:solidFill>
                            <a:srgbClr val="142D38"/>
                          </a:solidFill>
                          <a:latin typeface="Arial"/>
                          <a:ea typeface="Arial"/>
                          <a:cs typeface="Arial"/>
                        </a:rPr>
                        <a:t>-1.96</a:t>
                      </a:r>
                    </a:p>
                  </a:txBody>
                  <a:tcPr marL="91440" marR="91440" marT="45720" marB="45720" anchor="ctr">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1950" b="0">
                          <a:solidFill>
                            <a:srgbClr val="142D38"/>
                          </a:solidFill>
                          <a:latin typeface="Arial"/>
                          <a:ea typeface="Arial"/>
                          <a:cs typeface="Arial"/>
                        </a:rPr>
                        <a:t>[-2.82, -1.10]</a:t>
                      </a:r>
                    </a:p>
                  </a:txBody>
                  <a:tcPr marL="91440" marR="91440" marT="45720" marB="45720" anchor="ctr">
                    <a:lnR w="9525">
                      <a:solidFill>
                        <a:srgbClr val="D9E2E4"/>
                      </a:solidFill>
                      <a:prstDash val="solid"/>
                    </a:lnR>
                    <a:lnB w="9525">
                      <a:solidFill>
                        <a:srgbClr val="D9E2E4"/>
                      </a:solidFill>
                      <a:prstDash val="solid"/>
                    </a:lnB>
                    <a:solidFill>
                      <a:srgbClr val="FFFFFF"/>
                    </a:solidFill>
                  </a:tcPr>
                </a:tc>
                <a:tc>
                  <a:txBody>
                    <a:bodyPr lIns="114300" tIns="114300" rIns="114300" bIns="114300"/>
                    <a:lstStyle/>
                    <a:p>
                      <a:r>
                        <a:rPr sz="1950" b="0">
                          <a:solidFill>
                            <a:srgbClr val="142D38"/>
                          </a:solidFill>
                          <a:latin typeface="Arial"/>
                          <a:ea typeface="Arial"/>
                          <a:cs typeface="Arial"/>
                        </a:rPr>
                        <a:t>Fail</a:t>
                      </a:r>
                    </a:p>
                  </a:txBody>
                  <a:tcPr marL="91440" marR="91440" marT="45720" marB="45720" anchor="ctr">
                    <a:lnR w="9525">
                      <a:solidFill>
                        <a:srgbClr val="D9E2E4"/>
                      </a:solidFill>
                      <a:prstDash val="solid"/>
                    </a:lnR>
                    <a:lnB w="9525">
                      <a:solidFill>
                        <a:srgbClr val="D9E2E4"/>
                      </a:solidFill>
                      <a:prstDash val="solid"/>
                    </a:lnB>
                    <a:solidFill>
                      <a:srgbClr val="FFFFFF"/>
                    </a:solidFill>
                  </a:tcPr>
                </a:tc>
              </a:tr>
              <a:tr h="590550">
                <a:tc>
                  <a:txBody>
                    <a:bodyPr lIns="114300" tIns="114300" rIns="114300" bIns="114300"/>
                    <a:lstStyle/>
                    <a:p>
                      <a:r>
                        <a:rPr sz="1950" b="0">
                          <a:solidFill>
                            <a:srgbClr val="142D38"/>
                          </a:solidFill>
                          <a:latin typeface="Arial"/>
                          <a:ea typeface="Arial"/>
                          <a:cs typeface="Arial"/>
                        </a:rPr>
                        <a:t>SSC / GRU</a:t>
                      </a:r>
                    </a:p>
                  </a:txBody>
                  <a:tcPr marL="91440" marR="91440" marT="45720" marB="45720" anchor="ctr">
                    <a:lnL w="9525">
                      <a:solidFill>
                        <a:srgbClr val="D9E2E4"/>
                      </a:solidFill>
                      <a:prstDash val="solid"/>
                    </a:lnL>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1950" b="0">
                          <a:solidFill>
                            <a:srgbClr val="142D38"/>
                          </a:solidFill>
                          <a:latin typeface="Arial"/>
                          <a:ea typeface="Arial"/>
                          <a:cs typeface="Arial"/>
                        </a:rPr>
                        <a:t>-0.96</a:t>
                      </a:r>
                    </a:p>
                  </a:txBody>
                  <a:tcPr marL="91440" marR="91440" marT="45720" marB="45720" anchor="ctr">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1950" b="0">
                          <a:solidFill>
                            <a:srgbClr val="142D38"/>
                          </a:solidFill>
                          <a:latin typeface="Arial"/>
                          <a:ea typeface="Arial"/>
                          <a:cs typeface="Arial"/>
                        </a:rPr>
                        <a:t>[-1.66, -0.26]</a:t>
                      </a:r>
                    </a:p>
                  </a:txBody>
                  <a:tcPr marL="91440" marR="91440" marT="45720" marB="45720" anchor="ctr">
                    <a:lnR w="9525">
                      <a:solidFill>
                        <a:srgbClr val="D9E2E4"/>
                      </a:solidFill>
                      <a:prstDash val="solid"/>
                    </a:lnR>
                    <a:lnB w="9525">
                      <a:solidFill>
                        <a:srgbClr val="D9E2E4"/>
                      </a:solidFill>
                      <a:prstDash val="solid"/>
                    </a:lnB>
                    <a:solidFill>
                      <a:srgbClr val="F3F7F7"/>
                    </a:solidFill>
                  </a:tcPr>
                </a:tc>
                <a:tc>
                  <a:txBody>
                    <a:bodyPr lIns="114300" tIns="114300" rIns="114300" bIns="114300"/>
                    <a:lstStyle/>
                    <a:p>
                      <a:r>
                        <a:rPr sz="1950" b="0">
                          <a:solidFill>
                            <a:srgbClr val="142D38"/>
                          </a:solidFill>
                          <a:latin typeface="Arial"/>
                          <a:ea typeface="Arial"/>
                          <a:cs typeface="Arial"/>
                        </a:rPr>
                        <a:t>Fail</a:t>
                      </a:r>
                    </a:p>
                  </a:txBody>
                  <a:tcPr marL="91440" marR="91440" marT="45720" marB="45720" anchor="ctr">
                    <a:lnR w="9525">
                      <a:solidFill>
                        <a:srgbClr val="D9E2E4"/>
                      </a:solidFill>
                      <a:prstDash val="solid"/>
                    </a:lnR>
                    <a:lnB w="9525">
                      <a:solidFill>
                        <a:srgbClr val="D9E2E4"/>
                      </a:solidFill>
                      <a:prstDash val="solid"/>
                    </a:lnB>
                    <a:solidFill>
                      <a:srgbClr val="F3F7F7"/>
                    </a:solidFill>
                  </a:tcPr>
                </a:tc>
              </a:tr>
            </a:tbl>
          </a:graphicData>
        </a:graphic>
      </p:graphicFrame>
      <p:sp>
        <p:nvSpPr>
          <p:cNvPr id="5" name="Gate requires every comparison on both datasets to pass.">
            <a:extLst xmlns:a="http://schemas.openxmlformats.org/drawingml/2006/main">
              <a:ext uri="{FF2B5EF4-FFF2-40B4-BE49-F238E27FC236}">
                <a16:creationId xmlns:a16="http://schemas.microsoft.com/office/drawing/2014/main" id="{9AC9543E-4371-4746-B15D-49A220A16377}"/>
              </a:ext>
            </a:extLst>
          </p:cNvPr>
          <p:cNvSpPr>
            <a:spLocks xmlns:a="http://schemas.openxmlformats.org/drawingml/2006/main" noGrp="1"/>
          </p:cNvSpPr>
          <p:nvPr/>
        </p:nvSpPr>
        <p:spPr>
          <a:xfrm xmlns:a="http://schemas.openxmlformats.org/drawingml/2006/main">
            <a:off x="6858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72"/>
                </a:solidFill>
                <a:latin typeface="Arial"/>
                <a:ea typeface="Arial"/>
                <a:cs typeface="Arial"/>
              </a:defRPr>
            </a:defPPr>
          </a:lstStyle>
          <a:p xmlns:a="http://schemas.openxmlformats.org/drawingml/2006/main">
            <a:pPr algn="l">
              <a:buNone/>
              <a:defRPr sz="1875" b="0">
                <a:solidFill>
                  <a:srgbClr val="536672"/>
                </a:solidFill>
                <a:latin typeface="Arial"/>
                <a:ea typeface="Arial"/>
                <a:cs typeface="Arial"/>
              </a:defRPr>
            </a:pPr>
            <a:r>
              <a:rPr sz="1875" b="0">
                <a:solidFill>
                  <a:srgbClr val="536672"/>
                </a:solidFill>
                <a:latin typeface="Arial"/>
                <a:ea typeface="Arial"/>
                <a:cs typeface="Arial"/>
              </a:rPr>
              <a:t>Gate requires every comparison on both datasets to pass.</a:t>
            </a:r>
          </a:p>
        </p:txBody>
      </p:sp>
    </p:spTree>
    <p:extLst>
      <p:ext uri="{BB962C8B-B14F-4D97-AF65-F5344CB8AC3E}">
        <p14:creationId xmlns:p14="http://schemas.microsoft.com/office/powerpoint/2010/main" val="9296812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2026-10-14T05:24:08.3750000Z</dcterms:created>
  <dcterms:modified xsi:type="dcterms:W3CDTF">2026-10-14T05:24:08.3750000Z</dcterms:modified>
</coreProperties>
</file>